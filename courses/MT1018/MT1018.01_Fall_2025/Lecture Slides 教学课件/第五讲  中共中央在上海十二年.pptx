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427" r:id="rId2"/>
    <p:sldId id="564" r:id="rId3"/>
    <p:sldId id="429" r:id="rId4"/>
    <p:sldId id="566" r:id="rId5"/>
    <p:sldId id="586" r:id="rId6"/>
    <p:sldId id="432" r:id="rId7"/>
    <p:sldId id="664" r:id="rId8"/>
    <p:sldId id="584" r:id="rId9"/>
    <p:sldId id="748" r:id="rId10"/>
    <p:sldId id="585" r:id="rId11"/>
    <p:sldId id="568" r:id="rId12"/>
    <p:sldId id="570" r:id="rId13"/>
    <p:sldId id="567" r:id="rId14"/>
    <p:sldId id="569" r:id="rId15"/>
    <p:sldId id="742" r:id="rId16"/>
    <p:sldId id="743" r:id="rId17"/>
    <p:sldId id="746" r:id="rId18"/>
    <p:sldId id="745" r:id="rId19"/>
    <p:sldId id="571" r:id="rId20"/>
    <p:sldId id="740" r:id="rId21"/>
    <p:sldId id="744" r:id="rId22"/>
    <p:sldId id="572" r:id="rId23"/>
    <p:sldId id="317" r:id="rId24"/>
    <p:sldId id="747" r:id="rId25"/>
    <p:sldId id="575" r:id="rId26"/>
    <p:sldId id="751" r:id="rId27"/>
    <p:sldId id="752" r:id="rId28"/>
    <p:sldId id="754" r:id="rId29"/>
    <p:sldId id="753" r:id="rId30"/>
    <p:sldId id="755" r:id="rId31"/>
    <p:sldId id="756" r:id="rId32"/>
    <p:sldId id="750" r:id="rId33"/>
    <p:sldId id="749" r:id="rId34"/>
    <p:sldId id="662" r:id="rId3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ell" initials="D" lastIdx="1" clrIdx="0"/>
  <p:cmAuthor id="7" name="hep" initials="h" lastIdx="5" clrIdx="6"/>
  <p:cmAuthor id="1" name="19140" initials="1" lastIdx="2" clrIdx="0"/>
  <p:cmAuthor id="8" name="覃" initials="覃" lastIdx="27" clrIdx="7"/>
  <p:cmAuthor id="2" name="slb" initials="s" lastIdx="19" clrIdx="1"/>
  <p:cmAuthor id="9" name="a" initials="a" lastIdx="1" clrIdx="8"/>
  <p:cmAuthor id="3" name="chuen" initials="chuen" lastIdx="4" clrIdx="2"/>
  <p:cmAuthor id="4" name="作者" initials="A" lastIdx="0" clrIdx="3"/>
  <p:cmAuthor id="5" name="86138" initials="8" lastIdx="1" clrIdx="4"/>
  <p:cmAuthor id="6" name="Administrator" initials="A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D1D58"/>
    <a:srgbClr val="FFCC99"/>
    <a:srgbClr val="FF9933"/>
    <a:srgbClr val="660066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25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dirty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dirty="0"/>
              <a:t>12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0000">
                <a:alpha val="100000"/>
              </a:srgbClr>
            </a:gs>
            <a:gs pos="45000">
              <a:srgbClr val="FF7A00">
                <a:alpha val="100000"/>
              </a:srgbClr>
            </a:gs>
            <a:gs pos="70000">
              <a:srgbClr val="FF0300">
                <a:alpha val="100000"/>
              </a:srgbClr>
            </a:gs>
            <a:gs pos="100000">
              <a:srgbClr val="4D0808">
                <a:alpha val="100000"/>
              </a:srgbClr>
            </a:gs>
            <a:gs pos="100000">
              <a:srgbClr val="4D0808">
                <a:alpha val="100000"/>
              </a:srgbClr>
            </a:gs>
            <a:gs pos="100000">
              <a:srgbClr val="4D0808">
                <a:alpha val="100000"/>
              </a:srgbClr>
            </a:gs>
            <a:gs pos="100000">
              <a:srgbClr val="4D0808">
                <a:alpha val="100000"/>
              </a:srgbClr>
            </a:gs>
          </a:gsLst>
          <a:lin ang="36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>
              <a:buFontTx/>
              <a:buNone/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buFontTx/>
              <a:buNone/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dist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/>
          </p:cNvSpPr>
          <p:nvPr>
            <p:ph type="title" idx="4294967295"/>
          </p:nvPr>
        </p:nvSpPr>
        <p:spPr>
          <a:xfrm>
            <a:off x="323850" y="981075"/>
            <a:ext cx="8445500" cy="1735138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4800" dirty="0">
                <a:solidFill>
                  <a:schemeClr val="bg1"/>
                </a:solidFill>
                <a:ea typeface="华文琥珀" panose="02010800040101010101" pitchFamily="2" charset="-122"/>
              </a:rPr>
              <a:t>中共中央在</a:t>
            </a:r>
            <a:r>
              <a:rPr lang="zh-CN" altLang="en-US" sz="4800" dirty="0" smtClean="0">
                <a:solidFill>
                  <a:schemeClr val="bg1"/>
                </a:solidFill>
                <a:ea typeface="华文琥珀" panose="02010800040101010101" pitchFamily="2" charset="-122"/>
              </a:rPr>
              <a:t>上海的十二年</a:t>
            </a:r>
            <a:endParaRPr lang="zh-CN" altLang="en-US" sz="4800" dirty="0">
              <a:solidFill>
                <a:schemeClr val="bg1"/>
              </a:solidFill>
              <a:ea typeface="华文琥珀" panose="02010800040101010101" pitchFamily="2" charset="-122"/>
            </a:endParaRPr>
          </a:p>
        </p:txBody>
      </p:sp>
      <p:sp>
        <p:nvSpPr>
          <p:cNvPr id="3074" name="Rectangle 3"/>
          <p:cNvSpPr>
            <a:spLocks noGrp="1"/>
          </p:cNvSpPr>
          <p:nvPr>
            <p:ph idx="4294967295"/>
          </p:nvPr>
        </p:nvSpPr>
        <p:spPr>
          <a:xfrm>
            <a:off x="611188" y="3068638"/>
            <a:ext cx="8229600" cy="3298825"/>
          </a:xfrm>
        </p:spPr>
        <p:txBody>
          <a:bodyPr vert="horz" wrap="square" lIns="91440" tIns="45720" rIns="91440" bIns="45720" anchor="t" anchorCtr="0"/>
          <a:lstStyle/>
          <a:p>
            <a:pPr algn="ctr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徐光寿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教授、博士生导师</a:t>
            </a:r>
          </a:p>
          <a:p>
            <a:pPr algn="ctr">
              <a:lnSpc>
                <a:spcPct val="90000"/>
              </a:lnSpc>
              <a:buNone/>
            </a:pP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上海市中共党史学会副会长</a:t>
            </a:r>
            <a:endParaRPr lang="en-US" altLang="zh-CN" b="1" dirty="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上海市委党史研究室特约研究员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  <a:buNone/>
            </a:pP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27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日第十稿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428625" y="1928813"/>
            <a:ext cx="8104188" cy="34150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第一节  中共在上海召开的三次党代会</a:t>
            </a:r>
            <a:endParaRPr lang="en-US" altLang="zh-CN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第二节  中共中央机关驻留上海的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</a:p>
          <a:p>
            <a:endParaRPr lang="zh-CN" altLang="en-US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第三节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早期共产党人上海的浪漫生活</a:t>
            </a:r>
            <a:endParaRPr lang="en-US" altLang="zh-CN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title" idx="4294967295"/>
          </p:nvPr>
        </p:nvSpPr>
        <p:spPr>
          <a:xfrm>
            <a:off x="448945" y="285750"/>
            <a:ext cx="8195310" cy="1143000"/>
          </a:xfrm>
        </p:spPr>
        <p:txBody>
          <a:bodyPr vert="horz" wrap="square" lIns="91440" tIns="45720" rIns="91440" bIns="45720" anchor="ctr" anchorCtr="0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</a:rPr>
              <a:t>第一节 中共在上海召开的三次党代会</a:t>
            </a:r>
          </a:p>
        </p:txBody>
      </p:sp>
      <p:sp>
        <p:nvSpPr>
          <p:cNvPr id="6146" name="Rectangle 3"/>
          <p:cNvSpPr>
            <a:spLocks noGrp="1"/>
          </p:cNvSpPr>
          <p:nvPr>
            <p:ph idx="4294967295"/>
          </p:nvPr>
        </p:nvSpPr>
        <p:spPr>
          <a:xfrm>
            <a:off x="500063" y="1857375"/>
            <a:ext cx="8435975" cy="42862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一、中共一大成立了中央局</a:t>
            </a:r>
          </a:p>
          <a:p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二、</a:t>
            </a:r>
            <a:r>
              <a:rPr lang="zh-CN" altLang="en-US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中共二大成立中央执行委员会</a:t>
            </a:r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三、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中共四大</a:t>
            </a:r>
            <a:r>
              <a:rPr lang="zh-CN" altLang="en-US" b="1" dirty="0" smtClean="0">
                <a:solidFill>
                  <a:schemeClr val="bg1"/>
                </a:solidFill>
                <a:sym typeface="+mn-ea"/>
              </a:rPr>
              <a:t>首次“顶天立地”</a:t>
            </a:r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结论：</a:t>
            </a:r>
            <a:r>
              <a:rPr lang="zh-CN" altLang="en-US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上海</a:t>
            </a:r>
            <a:r>
              <a:rPr lang="en-US" altLang="zh-CN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中国共产党的第一个圣地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773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第一节 中共在上海召开的三次党代会</a:t>
            </a:r>
            <a:endParaRPr lang="zh-CN" altLang="en-US" sz="36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195580" y="1600200"/>
            <a:ext cx="8711565" cy="452628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一、中共一大成立了中央局</a:t>
            </a:r>
          </a:p>
          <a:p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马林奉命来华推动中共一大召开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、中共上海发起组的秘密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筹备（书信、路费）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、中共一大在上海秘密召开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1921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23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，代表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个地方党组织的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13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名代表云集上海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法租界贝勒路树德里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号（又称望志路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106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号，即兴业路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76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号）。选举产生了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陈独秀、张国焘、李达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人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组成的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中央局，作为中央领导机关。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203200" y="260350"/>
            <a:ext cx="8594725" cy="99123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法租界贝勒路树德里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号的中共一大会址，</a:t>
            </a:r>
            <a:b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1961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年被列为国家首批重点文物保护单位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endParaRPr lang="zh-CN" altLang="en-US" dirty="0"/>
          </a:p>
        </p:txBody>
      </p:sp>
      <p:pic>
        <p:nvPicPr>
          <p:cNvPr id="13315" name="Picture 2" descr="http://img.hexun.com/2011-06-30/1310337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1389380"/>
            <a:ext cx="8214995" cy="51955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/>
          </p:cNvSpPr>
          <p:nvPr>
            <p:ph type="title" idx="4294967295"/>
          </p:nvPr>
        </p:nvSpPr>
        <p:spPr>
          <a:xfrm>
            <a:off x="323528" y="116632"/>
            <a:ext cx="8572500" cy="81216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二、</a:t>
            </a:r>
            <a:r>
              <a:rPr lang="zh-CN" altLang="zh-CN" sz="32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中共二大成立中央执行委员会</a:t>
            </a:r>
            <a:endParaRPr lang="zh-CN" altLang="zh-CN" sz="32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idx="4294967295"/>
          </p:nvPr>
        </p:nvSpPr>
        <p:spPr>
          <a:xfrm>
            <a:off x="0" y="980728"/>
            <a:ext cx="9001000" cy="5544616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、中共二大在上海秘密召开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1922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16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日至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日，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在上海公共租界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南成都路辅德里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625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号（今老成都北路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弄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30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号，属于公共租界与法租界的接壤部位，即所谓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“缝隙地带”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陈独秀主持召开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了中共二大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en-US" altLang="zh-CN" sz="24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zh-CN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与中共一大代表产生方式不同，</a:t>
            </a:r>
            <a:r>
              <a:rPr lang="zh-CN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二大代表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12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</a:t>
            </a:r>
            <a:r>
              <a:rPr lang="zh-CN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分为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个类型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中央代表陈独秀、张国焘和李达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人，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工、团组织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代表邓中夏、施存统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人，地方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代表上海杨明斋、北京高君宇、广东谭平山、山东王尽美、湖南蔡和森、湖北项英和河南李震瀛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人。</a:t>
            </a:r>
            <a:endParaRPr lang="en-US" altLang="zh-CN" sz="24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二大选举产生陈独秀、张国焘、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蔡和森、高君宇和邓中夏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人组成的中央执行委员会，通过了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份重要文件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，建树颇多。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xfrm>
            <a:off x="457200" y="188595"/>
            <a:ext cx="8229600" cy="83121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二、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中共二大成立中央执行委员会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257810" y="1325880"/>
            <a:ext cx="8612505" cy="525272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400" b="1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、中共二大的主要成就和历史地位</a:t>
            </a:r>
          </a:p>
          <a:p>
            <a:endParaRPr lang="zh-CN" altLang="zh-CN" sz="2400" b="1" dirty="0">
              <a:solidFill>
                <a:schemeClr val="bg1"/>
              </a:solidFill>
              <a:sym typeface="+mn-ea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二大取得了一系列重大成果，可归纳为六个“第一”：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第一次鲜明制定党的最高纲领与最低纲领；</a:t>
            </a:r>
            <a:endParaRPr lang="en-US" altLang="zh-CN" sz="24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第一次完整制定党的章程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，首次写入党的“纪律”；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第一次通过建立民主的联合战线的决定，最早提出关于统一战线的思想和主张；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第一次对中国社会政治经济状况作出详细分析；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第一次比较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完整提出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对工会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农民、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青年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妇女运动要求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；</a:t>
            </a:r>
            <a:endParaRPr lang="zh-CN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第一次提出和通过加入共产国际的决定。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中共“二大”是党的创建任务完成的界碑，使党定型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至此，</a:t>
            </a:r>
            <a:r>
              <a:rPr lang="zh-CN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中国共产党的创建大业宣告完成</a:t>
            </a:r>
            <a:r>
              <a:rPr lang="zh-CN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矩形 1"/>
          <p:cNvSpPr/>
          <p:nvPr/>
        </p:nvSpPr>
        <p:spPr>
          <a:xfrm>
            <a:off x="268605" y="123190"/>
            <a:ext cx="8561705" cy="909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上海南成都路辅德里</a:t>
            </a:r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625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号（今老成都北路</a:t>
            </a:r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弄</a:t>
            </a:r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30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号）</a:t>
            </a:r>
          </a:p>
          <a:p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2013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年被列为全国第七批重点文物保护单位</a:t>
            </a:r>
          </a:p>
        </p:txBody>
      </p:sp>
      <p:pic>
        <p:nvPicPr>
          <p:cNvPr id="1638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4585"/>
            <a:ext cx="8001000" cy="5324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0095" y="332740"/>
            <a:ext cx="7666355" cy="692150"/>
          </a:xfrm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三、中共四大</a:t>
            </a:r>
            <a:r>
              <a:rPr lang="zh-CN" altLang="en-US" sz="3200" b="1" dirty="0" smtClean="0">
                <a:solidFill>
                  <a:schemeClr val="bg1"/>
                </a:solidFill>
                <a:sym typeface="+mn-ea"/>
              </a:rPr>
              <a:t>首次“顶天立地”</a:t>
            </a:r>
            <a:endParaRPr lang="zh-CN" altLang="en-US" sz="32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35560" y="1134745"/>
            <a:ext cx="8926195" cy="5931535"/>
          </a:xfrm>
          <a:noFill/>
          <a:ln>
            <a:noFill/>
          </a:ln>
        </p:spPr>
        <p:txBody>
          <a:bodyPr anchor="t" anchorCtr="0"/>
          <a:lstStyle/>
          <a:p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</a:rPr>
              <a:t>党的四大在广吉里召开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1925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月，中共四大在上海虹口广吉里召开，但会址被炸毁于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1932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一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·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二八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淞沪战争。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1984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年，调查人员找到了已经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岁的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郑超麟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，他不仅记忆力超强，而且参加过中共四大，曾担任大会的记录和向导，带领代表们进出会场，因而对会场情况印象较为深刻。</a:t>
            </a: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1987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年上海市政府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106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号文件确认，广吉里即上海虹口区东宝兴路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254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弄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28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支弄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8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号。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1987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日，市人民政府公布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中共四大遗址为上海市革命纪念地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1995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年上海市文管委在遗址处勒石纪念。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2006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年在多伦路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215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号筹建中共四大史料陈列馆，同年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日正式对外开放。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2011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年择址四川北路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1468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号筹建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中共四大纪念馆，2012年9月7日正式开馆。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2" descr="http://pic14.huitu.com/res/20131122/456868_2013112213422705420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1625"/>
            <a:ext cx="7929563" cy="485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4" name="矩形 2"/>
          <p:cNvSpPr/>
          <p:nvPr/>
        </p:nvSpPr>
        <p:spPr>
          <a:xfrm>
            <a:off x="285750" y="428625"/>
            <a:ext cx="84296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今虹口区四川北路与衡水路交汇处</a:t>
            </a:r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申贝大厦斜对面</a:t>
            </a:r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zh-CN" altLang="en-US" sz="2800" b="1" dirty="0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矩形 1"/>
          <p:cNvSpPr/>
          <p:nvPr/>
        </p:nvSpPr>
        <p:spPr>
          <a:xfrm>
            <a:off x="500063" y="285750"/>
            <a:ext cx="814387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三、中共四大首次选举出中央总书记</a:t>
            </a:r>
            <a:endParaRPr lang="zh-CN" altLang="en-US" sz="32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0" name="矩形 2"/>
          <p:cNvSpPr/>
          <p:nvPr/>
        </p:nvSpPr>
        <p:spPr>
          <a:xfrm>
            <a:off x="321310" y="1124585"/>
            <a:ext cx="868489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、中共四大的主要贡献有两个方面：</a:t>
            </a:r>
            <a:endParaRPr lang="en-US" altLang="zh-CN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）革命理论方面。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不仅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首次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提出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产阶级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民主革命中</a:t>
            </a:r>
            <a:r>
              <a:rPr lang="zh-CN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领导权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问题，而且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提出建立</a:t>
            </a:r>
            <a:r>
              <a:rPr lang="zh-CN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工农联盟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的重要思想，还制定了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有计划地开展工农运动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的方针，对中国革命规律的认识又前进了一步。</a:t>
            </a:r>
            <a:endParaRPr lang="en-US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）党的建设方面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。一是组织建设，不仅将党的中央领导人称号确定为“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总书记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”，而且将党的基层组织确定为“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党支部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”，故称“顶天立地”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二是第二次修正党章，对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党的纪律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提出了新的要求。三是首次将团组织确定为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党的助手和后备军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en-US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历史地位：中共四大作出的各项正确决策，为大革命高潮的到来作了政治上、思想上和组织上的准备。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520" y="188633"/>
            <a:ext cx="8435280" cy="1143001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cap="none" spc="0" normalizeH="0" baseline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第二节  中共中央机关驻留上海的12年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00"/>
                </a:solidFill>
                <a:round/>
              </a:ln>
              <a:solidFill>
                <a:schemeClr val="bg1"/>
              </a:solidFill>
              <a:effectLst>
                <a:outerShdw dist="35921" dir="2700000" algn="ctr" rotWithShape="0">
                  <a:srgbClr val="808080">
                    <a:alpha val="75000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9150" cy="4829175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年的认定（实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个月）及必然性</a:t>
            </a:r>
          </a:p>
          <a:p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二、大革命时期中共中央在上海的艰苦斗争</a:t>
            </a:r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zh-CN" altLang="en-US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三、白色恐怖下中共中央在上海的艰苦斗争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285750" y="274955"/>
            <a:ext cx="8501380" cy="99568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第二节</a:t>
            </a:r>
            <a:r>
              <a:rPr lang="en-US" altLang="zh-CN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中共中央机关驻留</a:t>
            </a:r>
            <a:r>
              <a:rPr lang="zh-CN" altLang="en-US" sz="36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上海的</a:t>
            </a:r>
            <a:r>
              <a:rPr lang="en-US" altLang="zh-CN" sz="36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36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endParaRPr lang="zh-CN" altLang="en-US" dirty="0"/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132080" y="1600200"/>
            <a:ext cx="8917305" cy="490093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年的认定（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实为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个月）及其必然性</a:t>
            </a:r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28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年时间的准确认定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从中共一大（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1921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）成立中央局作为党的第一个中央领导机关，至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1933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年初中共中央最终离开上海迁往中央革命根据地，其间除了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短暂迁往北京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1922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-1923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月）、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广州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1923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-7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月）和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武汉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1927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-9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约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年的时间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中共中央机关一直驻留上海，长达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12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年之久。</a:t>
            </a:r>
          </a:p>
          <a:p>
            <a:endParaRPr lang="zh-CN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en-US" altLang="zh-CN" sz="28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357505" y="274955"/>
            <a:ext cx="8500745" cy="86106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第二节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中共中央机关驻留上海的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0" y="1398905"/>
            <a:ext cx="9144000" cy="521462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 smtClean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2、驻留上海：建党之初和大革命时期的必然选择</a:t>
            </a:r>
          </a:p>
          <a:p>
            <a:r>
              <a:rPr lang="zh-CN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中共中央</a:t>
            </a:r>
            <a:r>
              <a:rPr lang="zh-CN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最初驻留上海，都有其客观必然性。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主要体现在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地理位置与交通条件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产业基础与工人队伍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文化特质与民众</a:t>
            </a:r>
            <a:r>
              <a:rPr lang="zh-CN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心理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、内外交通与通讯条件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诸多因素的综合作用上。</a:t>
            </a:r>
            <a:endParaRPr lang="en-US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此外，中心城区大片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租界的长期存在及其“国中之国”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的实际地位，又为中共中央机关驻留上海提供了现实可能性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。所以，</a:t>
            </a:r>
            <a:r>
              <a:rPr lang="zh-CN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陈独秀坚持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中共中央留在上海。</a:t>
            </a:r>
            <a:endParaRPr lang="en-US" altLang="zh-CN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中国革命新道路开辟之后，中共中央机关离开</a:t>
            </a:r>
            <a:r>
              <a:rPr lang="zh-CN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上海迁往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中央</a:t>
            </a:r>
            <a:r>
              <a:rPr lang="zh-CN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苏区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，从城市转移到农村，也是新的</a:t>
            </a:r>
            <a:r>
              <a:rPr lang="zh-CN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必然选择</a:t>
            </a:r>
            <a:r>
              <a:rPr lang="zh-CN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520" y="188633"/>
            <a:ext cx="8435280" cy="1143001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cap="none" spc="0" normalizeH="0" baseline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第二节  中共中央机关驻留上海的12年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9150" cy="48291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二、大革命时期中共中央在上海的艰苦斗争</a:t>
            </a:r>
          </a:p>
          <a:p>
            <a:endParaRPr lang="en-US" altLang="zh-CN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创办《向导》周刊，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1922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月</a:t>
            </a:r>
            <a:endParaRPr lang="en-US" altLang="zh-CN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中共二大决定创办一份公开发行的党中央机关报。</a:t>
            </a:r>
            <a:endParaRPr lang="en-US" altLang="zh-CN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1922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日，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向导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周报在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上海老城厢与法租界的“缝隙地带”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（复兴中路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1047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弄兰发里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号）创办，陈独秀题写了报名，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蔡和森首任主编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从此，虽然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《向导》报社屡次迁徙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，主编也多有变化，但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直至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1927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月在武汉停刊，一直都是建党之初和大革命时期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中共中央机关刊物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460" y="188595"/>
            <a:ext cx="8435340" cy="908050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第二节  中共中央机关驻留上海的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78740" y="1202055"/>
            <a:ext cx="8919845" cy="556641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管控上海大学，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1922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月至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1927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月</a:t>
            </a:r>
            <a:endParaRPr lang="en-US" altLang="zh-CN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4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1922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月，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原东南高等专科师范学校改名上海大学，上海大学成立，于右任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校长，邵力子任副校长。共产党人陈独秀、李大钊派出了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陈望道、邓中夏、瞿秋白、蔡和森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等进入上海大学任教，并担任教务长、系主任等要职，还从各地选派大批进步青年进入上海大学学习，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实际控制了上海大学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上海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大学师生是五卅运动和上海工人三次武装起义的骨干力量，对大革命的到来起了重要作用，一时</a:t>
            </a:r>
            <a:r>
              <a:rPr lang="en-US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文有上大、武有黄埔</a:t>
            </a:r>
            <a:r>
              <a:rPr lang="en-US" altLang="zh-CN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，享有盛誉。</a:t>
            </a: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1927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月被南京国民政府下令解散。</a:t>
            </a:r>
            <a:endParaRPr lang="en-US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520" y="188633"/>
            <a:ext cx="8435280" cy="1143001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第二节  </a:t>
            </a:r>
            <a:r>
              <a:rPr kumimoji="0" lang="zh-CN" altLang="en-US" sz="3600" b="1" i="0" u="none" strike="noStrike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中共中央机关驻留上海的12年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58750" y="1268730"/>
            <a:ext cx="8855710" cy="544068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领导五卅运动，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1925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月</a:t>
            </a:r>
            <a:endParaRPr lang="zh-CN" altLang="en-US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五卅运动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1925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月在上海爆发，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是中共四大后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党领导的第一次全国规模的反帝爱国运动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，整个运动自始至终都是在中国共产党的领导下进行的。</a:t>
            </a: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五卅运动沉重打击了帝国主义，大大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提高了中国人民的觉悟，揭开了大革命高潮的序幕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中国共产党在领导五卅运动的斗争中受到很大锻炼，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培养造就了一大批干部，党组织也得到极大发展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，在斗争实践中总结了宝贵的经验，为以后党领导大规模的群众斗争奠定了基础。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460" y="188595"/>
            <a:ext cx="8435340" cy="974090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第二节  中共中央机关驻留上海的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07315" y="1340485"/>
            <a:ext cx="8935720" cy="5154295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领导上海工人第三次起义夺取上海政权，</a:t>
            </a:r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1927.3</a:t>
            </a:r>
            <a:endParaRPr lang="zh-CN" altLang="en-US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月爆发的上海工人第三次武装起义，由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中共中央和中共上海区委联合领导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，陈独秀领衔特别委员会亲临指挥，中央军委书记兼特别军委书记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周恩来担任总指挥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。经过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30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个小时的浴血奋战，占领了上海，取得起义的胜利。上海工商学各界举行市民代表会议，成立了共产党人实际控制的上海市民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政府。</a:t>
            </a:r>
          </a:p>
          <a:p>
            <a:endParaRPr lang="en-US" altLang="zh-CN" sz="24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这次起义是大革命时期中国工人阶级夺取政权的一次伟大尝试，是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中国工人阶级的一次伟大壮举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，是北伐战争时期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工人运动发展的最高峰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。由于党内右倾机会主义错误占统治地位，也由于共产国际的错误指挥，加之蒋介石背信弃义通过发动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四一二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反革命政变而夺取了对上海的控制。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214630" y="274955"/>
            <a:ext cx="8572500" cy="92456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第二节  中共中央机关驻留上海的</a:t>
            </a:r>
            <a:r>
              <a:rPr lang="en-US" altLang="zh-CN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12</a:t>
            </a: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年</a:t>
            </a:r>
            <a:endParaRPr lang="en-US" altLang="zh-CN" sz="36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457200" y="1280160"/>
            <a:ext cx="8512175" cy="484632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三、白色恐怖下中共中央在上海的艰苦斗争</a:t>
            </a:r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白色恐怖的严峻形势</a:t>
            </a:r>
            <a:endParaRPr lang="en-US" altLang="zh-CN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随着蒋介石在上海发动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四一二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反革命政变，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18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日南京政府发布了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第一个通缉令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，通缉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197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名共产党领袖和国民党左派，其中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遭悬赏通缉的有陈独秀（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万）、陈延年（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万）与周恩来（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2.5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万）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，上海陷入白色恐怖之中。</a:t>
            </a:r>
          </a:p>
          <a:p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在此前后，</a:t>
            </a:r>
            <a:r>
              <a:rPr lang="zh-CN" altLang="en-US" sz="24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一大批</a:t>
            </a:r>
            <a:r>
              <a:rPr lang="zh-CN" altLang="en-US" sz="2400" b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共产党人和革命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群众惨遭屠杀。相继牺牲在敌人屠刀之下的达</a:t>
            </a:r>
            <a:r>
              <a:rPr lang="en-US" altLang="zh-CN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31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万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之多。主要有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共产党员和革命群众被杀害的即达，有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陈延年、赵世炎、罗亦农、陈乔年、汪寿华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、夏明翰、郭亮等，多在上海）。党员人数迅速减少。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48995"/>
          </a:xfrm>
        </p:spPr>
        <p:txBody>
          <a:bodyPr/>
          <a:lstStyle/>
          <a:p>
            <a:pPr fontAlgn="base"/>
            <a:r>
              <a:rPr lang="zh-CN" altLang="en-US" sz="3600" b="1" strike="noStrike" noProof="1">
                <a:highlight>
                  <a:srgbClr val="FFFF00"/>
                </a:highlight>
              </a:rPr>
              <a:t>中共江苏省委首任书记陈延年</a:t>
            </a: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endParaRPr lang="zh-CN" altLang="en-US"/>
          </a:p>
        </p:txBody>
      </p:sp>
      <p:pic>
        <p:nvPicPr>
          <p:cNvPr id="24579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4925" y="1123950"/>
            <a:ext cx="9102725" cy="5695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460" y="188595"/>
            <a:ext cx="8435340" cy="946150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第二节  中共中央机关驻留上海的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363980"/>
            <a:ext cx="8439150" cy="506539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、白色恐怖下中共中央在上海的艰苦斗争</a:t>
            </a:r>
            <a:endParaRPr lang="zh-CN" altLang="en-US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建立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中央特科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，惩治党内叛徒</a:t>
            </a:r>
          </a:p>
          <a:p>
            <a:endParaRPr lang="en-US" altLang="zh-CN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1927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9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月底中共中央迁回上海。</a:t>
            </a:r>
          </a:p>
          <a:p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白色恐怖之下，党内叛变事件时有出现。为惩治叛徒，保护党中央，临时中央决定成立中央特科，由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周恩来负责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，坚决锄奸。下设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个科，即总务科、情报科、行动科（也称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红队</a:t>
            </a:r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）和无线电通讯科。骨干有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顾顺章、陈赓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，后有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陈云、潘汉年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等。</a:t>
            </a:r>
          </a:p>
          <a:p>
            <a:endParaRPr lang="zh-CN" altLang="en-US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矩形 1"/>
          <p:cNvSpPr/>
          <p:nvPr/>
        </p:nvSpPr>
        <p:spPr>
          <a:xfrm>
            <a:off x="656273" y="332423"/>
            <a:ext cx="799147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第二节</a:t>
            </a:r>
            <a:r>
              <a:rPr lang="en-US" altLang="zh-CN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中共中央机关驻留上海的</a:t>
            </a:r>
            <a:r>
              <a:rPr lang="en-US" altLang="zh-CN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</a:p>
        </p:txBody>
      </p:sp>
      <p:sp>
        <p:nvSpPr>
          <p:cNvPr id="28674" name="矩形 2"/>
          <p:cNvSpPr/>
          <p:nvPr/>
        </p:nvSpPr>
        <p:spPr>
          <a:xfrm>
            <a:off x="281305" y="1268730"/>
            <a:ext cx="855027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先后惩治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的大叛徒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有：</a:t>
            </a:r>
          </a:p>
          <a:p>
            <a:endParaRPr lang="zh-CN" altLang="en-US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惩治何家兴、贺稚华夫妇。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他俩出卖了五届中央政治局常委罗亦农，李维汉和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邓小平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代表党中央下令锄奸。陈赓亲率中央特科“红队”。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初试牛刀。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公开镇压叛徒白鑫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。白是中央军事部秘书，他出卖了中共中央政治局委员澎湃，中共中央政治局候补委员、中央军事部部长杨殷等重要军事干部。</a:t>
            </a:r>
          </a:p>
          <a:p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顾顺章叛变事件及对顾顺章惩治案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。顾顺章叛变后，为惩治叛徒，也惩治为他通风报信的亲属，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1931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月下旬，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中央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特科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在法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租界西郊制造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“爱棠村事件”，事件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中现场有</a:t>
            </a:r>
            <a:r>
              <a:rPr lang="en-US" altLang="zh-CN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9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口人被灭。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571625"/>
            <a:ext cx="8525510" cy="47148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3、中央领导机关左倾错误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----从瞿秋白到陈绍禹</a:t>
            </a: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）瞿秋白：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左倾盲动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主义（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个月）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）李立三：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左倾冒险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主义（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个月）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）陈绍禹、</a:t>
            </a: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秦邦宪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左倾</a:t>
            </a:r>
            <a:r>
              <a:rPr kumimoji="0" lang="zh-CN" altLang="en-US" sz="2800" b="1" i="0" u="none" strike="noStrike" kern="1200" cap="none" spc="0" normalizeH="0" baseline="0" noProof="1" smtClean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教条</a:t>
            </a:r>
            <a:r>
              <a: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主义（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年多）</a:t>
            </a: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第二节  中共中央机关驻留上海的</a:t>
            </a:r>
            <a:r>
              <a:rPr lang="en-US" altLang="zh-CN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12</a:t>
            </a:r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年</a:t>
            </a:r>
            <a:endParaRPr lang="en-US" altLang="zh-CN" sz="36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251460" y="188595"/>
            <a:ext cx="8435340" cy="855980"/>
          </a:xfrm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第二节  中共中央机关驻留上海的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12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年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222885" y="1124585"/>
            <a:ext cx="8683625" cy="562102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建立</a:t>
            </a:r>
            <a:r>
              <a:rPr lang="en-US" altLang="zh-CN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条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通往全国苏区</a:t>
            </a:r>
            <a:r>
              <a:rPr lang="zh-CN" altLang="en-US" sz="28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秘密交通线</a:t>
            </a:r>
            <a:endParaRPr lang="zh-CN" altLang="en-US" sz="28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400" b="1" dirty="0" smtClean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1929</a:t>
            </a:r>
            <a:r>
              <a:rPr lang="zh-CN" altLang="en-US" sz="24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底，在周恩来主持下，党中央集中打通了上海通往各大苏区的交通线，称为</a:t>
            </a:r>
            <a:r>
              <a:rPr lang="zh-CN" altLang="en-US" sz="24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中央红色交通线</a:t>
            </a:r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，分北、中、南三大交通线。</a:t>
            </a:r>
          </a:p>
          <a:p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北方线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条支线：上海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郑州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驻马店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鄂豫皖苏区；上海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河南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陕西省委；上海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北平以与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河北省委联系。</a:t>
            </a:r>
          </a:p>
          <a:p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长江线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条支线：上海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合肥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六安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鄂豫皖苏区；上海乘轮船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武汉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株洲，进入湘赣苏区；上海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重庆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成都以与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四川省委联系。</a:t>
            </a:r>
          </a:p>
          <a:p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南方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线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曾有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条支线，前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条陆续为敌破坏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，最后仅剩上海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汕头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大埔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永定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上杭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--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瑞金一线。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-36195" y="-27305"/>
            <a:ext cx="9180830" cy="688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873885"/>
            <a:ext cx="8525510" cy="32124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一、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中共领袖们的文人生活</a:t>
            </a: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早期共产党人</a:t>
            </a:r>
            <a:r>
              <a:rPr lang="zh-CN" altLang="en-US" sz="3200" b="1" dirty="0" smtClean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的家庭生活</a:t>
            </a: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308100"/>
            <a:ext cx="8525510" cy="50565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一、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中共领袖们的文人生活</a:t>
            </a: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、知识分子出生的中共早期领袖群体，媒体人身份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陈独秀：留日归来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北大出身，理论传播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群众宣传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张国焘：北大出身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工人运动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群众宣传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李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达：留日归来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理论传播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学术研究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蔡和森：留法归来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理论传播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学术研究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瞿秋白：留苏归来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理论传播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文学创作</a:t>
            </a: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451610"/>
            <a:ext cx="8525510" cy="36347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一、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中共领袖们的文人生活</a:t>
            </a: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32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、中共早期领袖群体的家庭生活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zh-CN" sz="2800" b="1" i="0" u="none" strike="noStrike" kern="1200" cap="none" spc="0" normalizeH="0" baseline="0" noProof="1" smtClean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定居中心城市</a:t>
            </a:r>
            <a:r>
              <a:rPr kumimoji="0" 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（上海、北京、广州、莫斯科）</a:t>
            </a: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）都有各自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家庭生活，相对稳定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已成家的陈独秀、高君曼夫妇；毛泽东、杨开慧夫妇；张国焘、杨子烈夫妇；李达、王会悟夫妇，蔡和森、向警予夫妇，以及彭述之、陈碧云夫妇等，都相对稳定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未成家的瞿秋白、李立三、罗亦农等，则相对活跃。</a:t>
            </a: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360170"/>
            <a:ext cx="8525510" cy="51651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早期共产党人的家庭生活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en-US" altLang="zh-CN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、文人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瞿秋白（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1899-1935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从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王剑虹到杨之华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。瞿秋白曾来浙江杨家与沈家，与沈剑龙、杨之华夫妇在《民国日报》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同日刊登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份启事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，一是沈剑龙与杨之华离婚启事，二是瞿秋白与杨之华结婚启事，三是瞿秋白与沈剑龙结为好友启事。婚后情深意笃，终身不渝，瞿秋白不仅将沈晓光改名瞿独伊，还对杨之华说：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我一定要把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‘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秋白之华</a:t>
            </a:r>
            <a:r>
              <a:rPr kumimoji="0" lang="en-US" altLang="zh-CN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’‘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秋之白华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’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‘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白华之秋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’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刻成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枚图章，以示你中有我，我中有你，无你无我，永不分离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，直至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1935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月瞿秋白在福建长汀为国民党所杀，英勇牺牲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</a:t>
            </a:r>
            <a:endParaRPr lang="en-US" altLang="zh-CN" sz="24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李立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，夫人李一纯，后追求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夫人李一纯的妹妹，最终与俄罗斯姑娘叶丽萨维塔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基什金娜（中文名李莎）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结合。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3215" y="1199515"/>
            <a:ext cx="8525510" cy="50946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中央常委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罗亦农（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1902-1928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罗亦农，来自上海外国语学社和莫斯科共产主义者劳动大学，为留苏学生领袖。追求留苏学生陈碧兰未成，转而追求在莫斯科学习的贺昌夫人诸有伦，同居一年多后，诸去莫斯科读书，在那里爱上了邵力子的儿子邵至刚。罗转而追求立志独身的湖北妇女协会负责人李哲时成功，直至牺牲。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en-US" altLang="zh-CN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4</a:t>
            </a:r>
            <a:r>
              <a:rPr kumimoji="0" lang="zh-CN" altLang="en-US" sz="28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、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中央委员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陈乔年（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1902-1928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）</a:t>
            </a: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陈乔年，先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留法后留苏，与刘仁静发妻史静仪结合，生下一子陈红五夭折，留下遗腹子苗玉（参加新四军用名），直至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1928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年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6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月牺牲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，刘仁静写下血书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表白爱情也未能挽回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。</a:t>
            </a:r>
            <a:endParaRPr kumimoji="0" lang="en-US" altLang="zh-CN" sz="2400" b="1" i="0" u="none" strike="noStrike" kern="1200" cap="none" spc="0" normalizeH="0" baseline="0" noProof="1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>
              <a:spcBef>
                <a:spcPct val="25000"/>
              </a:spcBef>
            </a:pPr>
            <a:r>
              <a:rPr lang="en-US" altLang="zh-CN" sz="2400" b="1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</a:t>
            </a:r>
            <a:r>
              <a:rPr lang="zh-CN" altLang="en-US" sz="2400" b="1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、</a:t>
            </a:r>
            <a:r>
              <a:rPr lang="zh-CN" altLang="en-US" sz="24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张太雷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1898-1927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），江苏常州人，有夫人有子女。投身革命后追求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上海大学教授施存统的夫人</a:t>
            </a:r>
            <a:r>
              <a:rPr lang="zh-CN" altLang="en-US" sz="24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王一知并育有一子。</a:t>
            </a:r>
            <a:endParaRPr kumimoji="0" lang="zh-CN" altLang="en-US" sz="24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3375" y="1360170"/>
            <a:ext cx="8525510" cy="49491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3200" b="1" i="0" u="none" strike="noStrike" kern="1200" cap="none" spc="0" normalizeH="0" baseline="0" noProof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二、</a:t>
            </a:r>
            <a:r>
              <a:rPr lang="zh-CN" altLang="en-US" sz="32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早期共产党人的家庭生活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800" b="1" i="0" u="none" strike="noStrike" kern="1200" cap="none" spc="0" normalizeH="0" baseline="0" noProof="1">
              <a:solidFill>
                <a:schemeClr val="bg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但高尚者不乏其人，如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陈延年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终身未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娶、感情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不乱，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周恩来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邓颖超相爱终身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堪称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模范，等等。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其实</a:t>
            </a:r>
            <a:r>
              <a:rPr kumimoji="0" lang="zh-CN" altLang="en-US" sz="2400" b="1" i="0" u="none" strike="noStrike" kern="1200" cap="none" spc="0" normalizeH="0" baseline="0" noProof="1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，浪漫是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那个时代上海青年的常态。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《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再别康桥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》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的作者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徐志摩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与张幼仪、林徽因、陆小曼的感情纠葛贯穿终身。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为追求林徽因，不惜与已有一子且怀孕在身的结发妻子张幼仪无情地离婚。给老师梁启超写信追求林徽因：得之，我幸；不得，我命。失败后疯狂地追求有夫之妇陆小曼，答应老父三条，在胡适主持的婚礼上被梁启超臭骂。</a:t>
            </a:r>
            <a:endParaRPr lang="en-US" altLang="zh-CN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还有</a:t>
            </a:r>
            <a:r>
              <a:rPr lang="zh-CN" altLang="en-US" sz="24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郭沫若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----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；萧军也曾言：爱便爱，不爱便走开。</a:t>
            </a:r>
            <a:endParaRPr kumimoji="0" lang="zh-CN" altLang="en-US" sz="24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buClrTx/>
              <a:buSzTx/>
            </a:pPr>
            <a:endParaRPr kumimoji="0" lang="zh-CN" altLang="en-US" sz="2400" b="1" i="0" u="none" strike="noStrike" kern="1200" cap="none" spc="0" normalizeH="0" baseline="0" noProof="1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23553" name="标题 1"/>
          <p:cNvSpPr>
            <a:spLocks noGrp="1"/>
          </p:cNvSpPr>
          <p:nvPr/>
        </p:nvSpPr>
        <p:spPr>
          <a:xfrm>
            <a:off x="214630" y="274955"/>
            <a:ext cx="8572500" cy="924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第三节  </a:t>
            </a:r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早期共产党人在上海的生活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57505" y="500380"/>
            <a:ext cx="8501380" cy="59670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1931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年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7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日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米夫控制下的中共六届四中全会在上海武定路修德坊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号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现武定路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930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弄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14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号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中央特科机关召开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出席会议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22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人，其中中央委员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14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人，候补委员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8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人，不到六大中央委员会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50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余人的半数。会期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天（一直开到深夜，共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15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个小时）。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严格来说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，这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不能算作中央全会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罗章龙、何孟雄等对此不满，组建非法临时中央，被开除党籍。至1931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年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月始确定中央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政治局常委会，成员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向忠发</a:t>
            </a:r>
            <a:r>
              <a:rPr lang="en-US" altLang="en-US" sz="2400" b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、周恩来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张国焘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，实权操于王明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张国焘去鄂豫皖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顾顺章叛变，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月向忠发被捕叛变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被杀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10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月王明离开上海去莫斯科，行前经共产国际同意由博古、张闻天、卢福坦、康生、陈云等组成临时中央政治局，前三人为常委，博古负总责。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12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月周恩来秘密前往中央苏区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1933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年初博古率临时中央迁往中央苏区，指定卢福坦等组成上海中央局，不久卢被捕并叛变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1969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年被康生、谢富治杀害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矩形 1"/>
          <p:cNvSpPr/>
          <p:nvPr/>
        </p:nvSpPr>
        <p:spPr>
          <a:xfrm>
            <a:off x="281940" y="601980"/>
            <a:ext cx="8576945" cy="5466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结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语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总之，中共中央驻留上海的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年，既是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斗争极为残酷、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血雨腥风的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，也是中共从幼年逐步走向成熟的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年。尤其在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1927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四·一二政变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年多以内，可谓白色恐怖、血雨腥风。最终在顾顺章叛变后被迫陆续迁往江西苏区。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中共中央驻留上海的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年，既是中国革命起步的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年，也是民主革命时期中共中央实际驻留时间最长的一处。与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延安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一样，上海堪称中国共产党的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红色圣地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矩形 1"/>
          <p:cNvSpPr/>
          <p:nvPr/>
        </p:nvSpPr>
        <p:spPr>
          <a:xfrm>
            <a:off x="281940" y="601980"/>
            <a:ext cx="8576945" cy="5466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宋体" panose="02010600030101010101" pitchFamily="2" charset="-122"/>
              </a:rPr>
              <a:t>思考题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800" b="1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、中共中央驻留上海期间领导了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哪些艰苦革命斗争</a:t>
            </a: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  <a:p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、如何全面认识上海在</a:t>
            </a:r>
            <a:r>
              <a:rPr lang="zh-CN" altLang="en-US" sz="2800" b="1" dirty="0" smtClean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新民主革命时期的历史地位</a:t>
            </a:r>
            <a:r>
              <a:rPr lang="zh-CN" altLang="en-US" sz="2800" b="1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3384</Words>
  <Application>Microsoft Office PowerPoint</Application>
  <PresentationFormat>全屏显示(4:3)</PresentationFormat>
  <Paragraphs>206</Paragraphs>
  <Slides>34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仿宋_GB2312</vt:lpstr>
      <vt:lpstr>华文琥珀</vt:lpstr>
      <vt:lpstr>楷体</vt:lpstr>
      <vt:lpstr>楷体_GB2312</vt:lpstr>
      <vt:lpstr>宋体</vt:lpstr>
      <vt:lpstr>Arial</vt:lpstr>
      <vt:lpstr>Calibri</vt:lpstr>
      <vt:lpstr>Office 主题</vt:lpstr>
      <vt:lpstr>中共中央在上海的十二年</vt:lpstr>
      <vt:lpstr>PowerPoint 演示文稿</vt:lpstr>
      <vt:lpstr>第一节 中共在上海召开的三次党代会</vt:lpstr>
      <vt:lpstr>第一节 中共在上海召开的三次党代会</vt:lpstr>
      <vt:lpstr>法租界贝勒路树德里3号的中共一大会址， 1961年被列为国家首批重点文物保护单位</vt:lpstr>
      <vt:lpstr>二、中共二大成立中央执行委员会</vt:lpstr>
      <vt:lpstr>二、中共二大成立中央执行委员会</vt:lpstr>
      <vt:lpstr>PowerPoint 演示文稿</vt:lpstr>
      <vt:lpstr>三、中共四大首次“顶天立地”</vt:lpstr>
      <vt:lpstr>PowerPoint 演示文稿</vt:lpstr>
      <vt:lpstr>PowerPoint 演示文稿</vt:lpstr>
      <vt:lpstr>第二节  中共中央机关驻留上海的12年</vt:lpstr>
      <vt:lpstr>第二节  中共中央机关驻留上海的12年</vt:lpstr>
      <vt:lpstr>第二节  中共中央机关驻留上海的12年</vt:lpstr>
      <vt:lpstr>第二节  中共中央机关驻留上海的12年</vt:lpstr>
      <vt:lpstr>第二节  中共中央机关驻留上海的12年</vt:lpstr>
      <vt:lpstr>第二节  中共中央机关驻留上海的12年</vt:lpstr>
      <vt:lpstr>第二节  中共中央机关驻留上海的12年</vt:lpstr>
      <vt:lpstr>第二节  中共中央机关驻留上海的12年</vt:lpstr>
      <vt:lpstr>中共江苏省委首任书记陈延年</vt:lpstr>
      <vt:lpstr>第二节  中共中央机关驻留上海的12年</vt:lpstr>
      <vt:lpstr>PowerPoint 演示文稿</vt:lpstr>
      <vt:lpstr>PowerPoint 演示文稿</vt:lpstr>
      <vt:lpstr>第二节  中共中央机关驻留上海的12年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于宪明</dc:creator>
  <cp:lastModifiedBy>user</cp:lastModifiedBy>
  <cp:revision>496</cp:revision>
  <dcterms:created xsi:type="dcterms:W3CDTF">2010-03-12T07:52:00Z</dcterms:created>
  <dcterms:modified xsi:type="dcterms:W3CDTF">2025-12-04T06:28:30Z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0B0927951412444C90947D31EEBC2425_12</vt:lpwstr>
  </property>
</Properties>
</file>