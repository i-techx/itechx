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7.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9" r:id="rId6"/>
    <p:sldMasterId id="2147483722" r:id="rId7"/>
    <p:sldMasterId id="2147483735" r:id="rId8"/>
  </p:sldMasterIdLst>
  <p:notesMasterIdLst>
    <p:notesMasterId r:id="rId48"/>
  </p:notesMasterIdLst>
  <p:sldIdLst>
    <p:sldId id="427" r:id="rId9"/>
    <p:sldId id="624" r:id="rId10"/>
    <p:sldId id="1097" r:id="rId11"/>
    <p:sldId id="258" r:id="rId12"/>
    <p:sldId id="677" r:id="rId13"/>
    <p:sldId id="652" r:id="rId14"/>
    <p:sldId id="432" r:id="rId15"/>
    <p:sldId id="501" r:id="rId16"/>
    <p:sldId id="1137" r:id="rId17"/>
    <p:sldId id="1156" r:id="rId18"/>
    <p:sldId id="1136" r:id="rId19"/>
    <p:sldId id="840" r:id="rId20"/>
    <p:sldId id="331" r:id="rId21"/>
    <p:sldId id="651" r:id="rId22"/>
    <p:sldId id="1121" r:id="rId23"/>
    <p:sldId id="1124" r:id="rId24"/>
    <p:sldId id="1122" r:id="rId25"/>
    <p:sldId id="653" r:id="rId26"/>
    <p:sldId id="1167" r:id="rId27"/>
    <p:sldId id="1166" r:id="rId28"/>
    <p:sldId id="1164" r:id="rId29"/>
    <p:sldId id="1165" r:id="rId30"/>
    <p:sldId id="1157" r:id="rId31"/>
    <p:sldId id="1158" r:id="rId32"/>
    <p:sldId id="1159" r:id="rId33"/>
    <p:sldId id="1160" r:id="rId34"/>
    <p:sldId id="1161" r:id="rId35"/>
    <p:sldId id="1114" r:id="rId36"/>
    <p:sldId id="741" r:id="rId37"/>
    <p:sldId id="1123" r:id="rId38"/>
    <p:sldId id="654" r:id="rId39"/>
    <p:sldId id="655" r:id="rId40"/>
    <p:sldId id="1138" r:id="rId41"/>
    <p:sldId id="1139" r:id="rId42"/>
    <p:sldId id="487" r:id="rId43"/>
    <p:sldId id="710" r:id="rId44"/>
    <p:sldId id="1163" r:id="rId45"/>
    <p:sldId id="759" r:id="rId46"/>
    <p:sldId id="400" r:id="rId47"/>
  </p:sldIdLst>
  <p:sldSz cx="9144000" cy="6858000" type="screen4x3"/>
  <p:notesSz cx="6858000" cy="9144000"/>
  <p:custDataLst>
    <p:tags r:id="rId49"/>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6"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ED1D58"/>
    <a:srgbClr val="FFCC99"/>
    <a:srgbClr val="FF9933"/>
    <a:srgbClr val="660066"/>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9" d="100"/>
          <a:sy n="109" d="100"/>
        </p:scale>
        <p:origin x="1674" y="96"/>
      </p:cViewPr>
      <p:guideLst>
        <p:guide orient="horz" pos="2136"/>
        <p:guide pos="287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1A95499-78A9-476B-BBA1-1CD2F3BC52A9}" type="slidenum">
              <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43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7</a:t>
            </a:fld>
            <a:endParaRPr lang="en-US"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a:solidFill>
              <a:srgbClr val="000000">
                <a:alpha val="100000"/>
              </a:srgbClr>
            </a:solidFill>
            <a:miter lim="800000"/>
          </a:ln>
        </p:spPr>
      </p:sp>
      <p:sp>
        <p:nvSpPr>
          <p:cNvPr id="35843"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58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t>31</a:t>
            </a:fld>
            <a:endParaRPr lang="en-US"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7393343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619337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932695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922747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655791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204327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289478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405889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7255130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6645946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412179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两栏内容">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pic>
        <p:nvPicPr>
          <p:cNvPr id="5123" name="图片 22"/>
          <p:cNvPicPr>
            <a:picLocks noChangeAspect="1"/>
          </p:cNvPicPr>
          <p:nvPr userDrawn="1"/>
        </p:nvPicPr>
        <p:blipFill>
          <a:blip r:embed="rId2"/>
          <a:stretch>
            <a:fillRect/>
          </a:stretch>
        </p:blipFill>
        <p:spPr>
          <a:xfrm>
            <a:off x="0" y="0"/>
            <a:ext cx="2286000" cy="1363663"/>
          </a:xfrm>
          <a:prstGeom prst="rect">
            <a:avLst/>
          </a:prstGeom>
          <a:noFill/>
          <a:ln w="9525">
            <a:noFill/>
          </a:ln>
        </p:spPr>
      </p:pic>
      <p:cxnSp>
        <p:nvCxnSpPr>
          <p:cNvPr id="9" name="直接连接符 8"/>
          <p:cNvCxnSpPr/>
          <p:nvPr/>
        </p:nvCxnSpPr>
        <p:spPr>
          <a:xfrm>
            <a:off x="0" y="1214438"/>
            <a:ext cx="9144000" cy="0"/>
          </a:xfrm>
          <a:prstGeom prst="line">
            <a:avLst/>
          </a:prstGeom>
          <a:ln w="19050">
            <a:solidFill>
              <a:srgbClr val="C00000"/>
            </a:solidFill>
            <a:prstDash val="solid"/>
          </a:ln>
          <a:effectLst>
            <a:outerShdw blurRad="50800"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sz="quarter" idx="10"/>
          </p:nvPr>
        </p:nvSpPr>
        <p:spPr>
          <a:xfrm>
            <a:off x="1149649" y="450398"/>
            <a:ext cx="2682881" cy="422047"/>
          </a:xfrm>
        </p:spPr>
        <p:txBody>
          <a:bodyPr>
            <a:noAutofit/>
          </a:bodyPr>
          <a:lstStyle>
            <a:lvl1pPr marL="0" indent="0">
              <a:buNone/>
              <a:defRPr sz="2100" b="1">
                <a:latin typeface="微软雅黑" panose="020B0503020204020204" pitchFamily="34" charset="-122"/>
                <a:ea typeface="微软雅黑" panose="020B0503020204020204" pitchFamily="34" charset="-122"/>
              </a:defRPr>
            </a:lvl1pPr>
          </a:lstStyle>
          <a:p>
            <a:pPr lvl="0" fontAlgn="base"/>
            <a:r>
              <a:rPr lang="zh-CN" altLang="en-US" strike="noStrike" noProof="1"/>
              <a:t>单击此处编辑母版文本样式</a:t>
            </a:r>
          </a:p>
        </p:txBody>
      </p:sp>
      <p:sp>
        <p:nvSpPr>
          <p:cNvPr id="10" name="日期占位符 1"/>
          <p:cNvSpPr>
            <a:spLocks noGrp="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1" name="页脚占位符 2"/>
          <p:cNvSpPr>
            <a:spLocks noGrp="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2" name="灯片编号占位符 3"/>
          <p:cNvSpPr>
            <a:spLocks noGrp="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4127929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508690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04705545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84772154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1694887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3209725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3334239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8850956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873048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1219531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18486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1972519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两栏内容">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pic>
        <p:nvPicPr>
          <p:cNvPr id="5123" name="图片 22"/>
          <p:cNvPicPr>
            <a:picLocks noChangeAspect="1"/>
          </p:cNvPicPr>
          <p:nvPr userDrawn="1"/>
        </p:nvPicPr>
        <p:blipFill>
          <a:blip r:embed="rId2"/>
          <a:stretch>
            <a:fillRect/>
          </a:stretch>
        </p:blipFill>
        <p:spPr>
          <a:xfrm>
            <a:off x="0" y="0"/>
            <a:ext cx="2286000" cy="1363663"/>
          </a:xfrm>
          <a:prstGeom prst="rect">
            <a:avLst/>
          </a:prstGeom>
          <a:noFill/>
          <a:ln w="9525">
            <a:noFill/>
          </a:ln>
        </p:spPr>
      </p:pic>
      <p:cxnSp>
        <p:nvCxnSpPr>
          <p:cNvPr id="9" name="直接连接符 8"/>
          <p:cNvCxnSpPr/>
          <p:nvPr/>
        </p:nvCxnSpPr>
        <p:spPr>
          <a:xfrm>
            <a:off x="0" y="1214438"/>
            <a:ext cx="9144000" cy="0"/>
          </a:xfrm>
          <a:prstGeom prst="line">
            <a:avLst/>
          </a:prstGeom>
          <a:ln w="19050">
            <a:solidFill>
              <a:srgbClr val="C00000"/>
            </a:solidFill>
            <a:prstDash val="solid"/>
          </a:ln>
          <a:effectLst>
            <a:outerShdw blurRad="50800"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sz="quarter" idx="10"/>
          </p:nvPr>
        </p:nvSpPr>
        <p:spPr>
          <a:xfrm>
            <a:off x="1149649" y="450398"/>
            <a:ext cx="2682881" cy="422047"/>
          </a:xfrm>
        </p:spPr>
        <p:txBody>
          <a:bodyPr>
            <a:noAutofit/>
          </a:bodyPr>
          <a:lstStyle>
            <a:lvl1pPr marL="0" indent="0">
              <a:buNone/>
              <a:defRPr sz="2100" b="1">
                <a:latin typeface="微软雅黑" panose="020B0503020204020204" pitchFamily="34" charset="-122"/>
                <a:ea typeface="微软雅黑" panose="020B0503020204020204" pitchFamily="34" charset="-122"/>
              </a:defRPr>
            </a:lvl1pPr>
          </a:lstStyle>
          <a:p>
            <a:pPr lvl="0" fontAlgn="base"/>
            <a:r>
              <a:rPr lang="zh-CN" altLang="en-US" strike="noStrike" noProof="1"/>
              <a:t>单击此处编辑母版文本样式</a:t>
            </a:r>
          </a:p>
        </p:txBody>
      </p:sp>
      <p:sp>
        <p:nvSpPr>
          <p:cNvPr id="10" name="日期占位符 1"/>
          <p:cNvSpPr>
            <a:spLocks noGrp="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1" name="页脚占位符 2"/>
          <p:cNvSpPr>
            <a:spLocks noGrp="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2" name="灯片编号占位符 3"/>
          <p:cNvSpPr>
            <a:spLocks noGrp="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7753300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21514795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346803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64262819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40326940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7176087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914168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3406997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3301404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0315620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7580727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15792052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两栏内容">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pic>
        <p:nvPicPr>
          <p:cNvPr id="5123" name="图片 22"/>
          <p:cNvPicPr>
            <a:picLocks noChangeAspect="1"/>
          </p:cNvPicPr>
          <p:nvPr userDrawn="1"/>
        </p:nvPicPr>
        <p:blipFill>
          <a:blip r:embed="rId2"/>
          <a:stretch>
            <a:fillRect/>
          </a:stretch>
        </p:blipFill>
        <p:spPr>
          <a:xfrm>
            <a:off x="0" y="0"/>
            <a:ext cx="2286000" cy="1363663"/>
          </a:xfrm>
          <a:prstGeom prst="rect">
            <a:avLst/>
          </a:prstGeom>
          <a:noFill/>
          <a:ln w="9525">
            <a:noFill/>
          </a:ln>
        </p:spPr>
      </p:pic>
      <p:cxnSp>
        <p:nvCxnSpPr>
          <p:cNvPr id="9" name="直接连接符 8"/>
          <p:cNvCxnSpPr/>
          <p:nvPr/>
        </p:nvCxnSpPr>
        <p:spPr>
          <a:xfrm>
            <a:off x="0" y="1214438"/>
            <a:ext cx="9144000" cy="0"/>
          </a:xfrm>
          <a:prstGeom prst="line">
            <a:avLst/>
          </a:prstGeom>
          <a:ln w="19050">
            <a:solidFill>
              <a:srgbClr val="C00000"/>
            </a:solidFill>
            <a:prstDash val="solid"/>
          </a:ln>
          <a:effectLst>
            <a:outerShdw blurRad="50800"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sz="quarter" idx="10"/>
          </p:nvPr>
        </p:nvSpPr>
        <p:spPr>
          <a:xfrm>
            <a:off x="1149649" y="450398"/>
            <a:ext cx="2682881" cy="422047"/>
          </a:xfrm>
        </p:spPr>
        <p:txBody>
          <a:bodyPr>
            <a:noAutofit/>
          </a:bodyPr>
          <a:lstStyle>
            <a:lvl1pPr marL="0" indent="0">
              <a:buNone/>
              <a:defRPr sz="2100" b="1">
                <a:latin typeface="微软雅黑" panose="020B0503020204020204" pitchFamily="34" charset="-122"/>
                <a:ea typeface="微软雅黑" panose="020B0503020204020204" pitchFamily="34" charset="-122"/>
              </a:defRPr>
            </a:lvl1pPr>
          </a:lstStyle>
          <a:p>
            <a:pPr lvl="0" fontAlgn="base"/>
            <a:r>
              <a:rPr lang="zh-CN" altLang="en-US" strike="noStrike" noProof="1"/>
              <a:t>单击此处编辑母版文本样式</a:t>
            </a:r>
          </a:p>
        </p:txBody>
      </p:sp>
      <p:sp>
        <p:nvSpPr>
          <p:cNvPr id="10" name="日期占位符 1"/>
          <p:cNvSpPr>
            <a:spLocks noGrp="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1" name="页脚占位符 2"/>
          <p:cNvSpPr>
            <a:spLocks noGrp="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2" name="灯片编号占位符 3"/>
          <p:cNvSpPr>
            <a:spLocks noGrp="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388205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40730970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2630543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994368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8435666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6292631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830153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99027360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88438395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626500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76419402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98743255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_两栏内容">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pic>
        <p:nvPicPr>
          <p:cNvPr id="5123" name="图片 22"/>
          <p:cNvPicPr>
            <a:picLocks noChangeAspect="1"/>
          </p:cNvPicPr>
          <p:nvPr userDrawn="1"/>
        </p:nvPicPr>
        <p:blipFill>
          <a:blip r:embed="rId2"/>
          <a:stretch>
            <a:fillRect/>
          </a:stretch>
        </p:blipFill>
        <p:spPr>
          <a:xfrm>
            <a:off x="0" y="0"/>
            <a:ext cx="2286000" cy="1363663"/>
          </a:xfrm>
          <a:prstGeom prst="rect">
            <a:avLst/>
          </a:prstGeom>
          <a:noFill/>
          <a:ln w="9525">
            <a:noFill/>
          </a:ln>
        </p:spPr>
      </p:pic>
      <p:cxnSp>
        <p:nvCxnSpPr>
          <p:cNvPr id="9" name="直接连接符 8"/>
          <p:cNvCxnSpPr/>
          <p:nvPr/>
        </p:nvCxnSpPr>
        <p:spPr>
          <a:xfrm>
            <a:off x="0" y="1214438"/>
            <a:ext cx="9144000" cy="0"/>
          </a:xfrm>
          <a:prstGeom prst="line">
            <a:avLst/>
          </a:prstGeom>
          <a:ln w="19050">
            <a:solidFill>
              <a:srgbClr val="C00000"/>
            </a:solidFill>
            <a:prstDash val="solid"/>
          </a:ln>
          <a:effectLst>
            <a:outerShdw blurRad="50800"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sz="quarter" idx="10"/>
          </p:nvPr>
        </p:nvSpPr>
        <p:spPr>
          <a:xfrm>
            <a:off x="1149649" y="450398"/>
            <a:ext cx="2682881" cy="422047"/>
          </a:xfrm>
        </p:spPr>
        <p:txBody>
          <a:bodyPr>
            <a:noAutofit/>
          </a:bodyPr>
          <a:lstStyle>
            <a:lvl1pPr marL="0" indent="0">
              <a:buNone/>
              <a:defRPr sz="2100" b="1">
                <a:latin typeface="微软雅黑" panose="020B0503020204020204" pitchFamily="34" charset="-122"/>
                <a:ea typeface="微软雅黑" panose="020B0503020204020204" pitchFamily="34" charset="-122"/>
              </a:defRPr>
            </a:lvl1pPr>
          </a:lstStyle>
          <a:p>
            <a:pPr lvl="0" fontAlgn="base"/>
            <a:r>
              <a:rPr lang="zh-CN" altLang="en-US" strike="noStrike" noProof="1"/>
              <a:t>单击此处编辑母版文本样式</a:t>
            </a:r>
          </a:p>
        </p:txBody>
      </p:sp>
      <p:sp>
        <p:nvSpPr>
          <p:cNvPr id="10" name="日期占位符 1"/>
          <p:cNvSpPr>
            <a:spLocks noGrp="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1" name="页脚占位符 2"/>
          <p:cNvSpPr>
            <a:spLocks noGrp="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2" name="灯片编号占位符 3"/>
          <p:cNvSpPr>
            <a:spLocks noGrp="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21977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theme" Target="../theme/theme7.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theme" Target="../theme/theme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53ABBF-8479-436B-9C99-F3A4DD516856}"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2051" name="文本占位符 2"/>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B52F0-CCD1-4669-8B27-C006839BF1FA}"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3075" name="文本占位符 2"/>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A61394-2115-4FD9-966B-8892C0922652}"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4099" name="文本占位符 2"/>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mn-lt"/>
              <a:ea typeface="+mn-ea"/>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eaLnBrk="1" hangingPunct="1">
              <a:buFont typeface="Arial" panose="020B0604020202020204" pitchFamily="34" charset="0"/>
              <a:buNone/>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2E61AA-7FD2-41AD-A20B-855D2A07F3E7}" type="slidenum">
              <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a:buFont typeface="Arial" panose="020B0604020202020204" pitchFamily="34" charset="0"/>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031" name="图片 1" descr="石化司标（最新）"/>
          <p:cNvPicPr>
            <a:picLocks noChangeAspect="1"/>
          </p:cNvPicPr>
          <p:nvPr userDrawn="1"/>
        </p:nvPicPr>
        <p:blipFill>
          <a:blip r:embed="rId14"/>
          <a:stretch>
            <a:fillRect/>
          </a:stretch>
        </p:blipFill>
        <p:spPr>
          <a:xfrm>
            <a:off x="7885113" y="9525"/>
            <a:ext cx="1239837" cy="355600"/>
          </a:xfrm>
          <a:prstGeom prst="rect">
            <a:avLst/>
          </a:prstGeom>
          <a:noFill/>
          <a:ln w="9525">
            <a:noFill/>
          </a:ln>
        </p:spPr>
      </p:pic>
    </p:spTree>
    <p:extLst>
      <p:ext uri="{BB962C8B-B14F-4D97-AF65-F5344CB8AC3E}">
        <p14:creationId xmlns:p14="http://schemas.microsoft.com/office/powerpoint/2010/main" val="30664276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a:buFont typeface="Arial" panose="020B0604020202020204" pitchFamily="34" charset="0"/>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031" name="图片 1" descr="石化司标（最新）"/>
          <p:cNvPicPr>
            <a:picLocks noChangeAspect="1"/>
          </p:cNvPicPr>
          <p:nvPr userDrawn="1"/>
        </p:nvPicPr>
        <p:blipFill>
          <a:blip r:embed="rId14"/>
          <a:stretch>
            <a:fillRect/>
          </a:stretch>
        </p:blipFill>
        <p:spPr>
          <a:xfrm>
            <a:off x="7885113" y="9525"/>
            <a:ext cx="1239837" cy="355600"/>
          </a:xfrm>
          <a:prstGeom prst="rect">
            <a:avLst/>
          </a:prstGeom>
          <a:noFill/>
          <a:ln w="9525">
            <a:noFill/>
          </a:ln>
        </p:spPr>
      </p:pic>
    </p:spTree>
    <p:extLst>
      <p:ext uri="{BB962C8B-B14F-4D97-AF65-F5344CB8AC3E}">
        <p14:creationId xmlns:p14="http://schemas.microsoft.com/office/powerpoint/2010/main" val="3096110369"/>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a:buFont typeface="Arial" panose="020B0604020202020204" pitchFamily="34" charset="0"/>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031" name="图片 1" descr="石化司标（最新）"/>
          <p:cNvPicPr>
            <a:picLocks noChangeAspect="1"/>
          </p:cNvPicPr>
          <p:nvPr userDrawn="1"/>
        </p:nvPicPr>
        <p:blipFill>
          <a:blip r:embed="rId14"/>
          <a:stretch>
            <a:fillRect/>
          </a:stretch>
        </p:blipFill>
        <p:spPr>
          <a:xfrm>
            <a:off x="7885113" y="9525"/>
            <a:ext cx="1239837" cy="355600"/>
          </a:xfrm>
          <a:prstGeom prst="rect">
            <a:avLst/>
          </a:prstGeom>
          <a:noFill/>
          <a:ln w="9525">
            <a:noFill/>
          </a:ln>
        </p:spPr>
      </p:pic>
    </p:spTree>
    <p:extLst>
      <p:ext uri="{BB962C8B-B14F-4D97-AF65-F5344CB8AC3E}">
        <p14:creationId xmlns:p14="http://schemas.microsoft.com/office/powerpoint/2010/main" val="79829645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0000">
                <a:alpha val="100000"/>
              </a:srgbClr>
            </a:gs>
            <a:gs pos="45000">
              <a:srgbClr val="FF7A00">
                <a:alpha val="100000"/>
              </a:srgbClr>
            </a:gs>
            <a:gs pos="70000">
              <a:srgbClr val="FF0300">
                <a:alpha val="100000"/>
              </a:srgbClr>
            </a:gs>
            <a:gs pos="100000">
              <a:srgbClr val="4D0808">
                <a:alpha val="100000"/>
              </a:srgbClr>
            </a:gs>
            <a:gs pos="100000">
              <a:srgbClr val="4D0808">
                <a:alpha val="100000"/>
              </a:srgbClr>
            </a:gs>
          </a:gsLst>
          <a:lin ang="3600000"/>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algn="l" eaLnBrk="1" hangingPunct="1">
              <a:buFontTx/>
              <a:buNone/>
              <a:defRPr sz="1200">
                <a:solidFill>
                  <a:srgbClr val="898989"/>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1" hangingPunct="1">
              <a:buFontTx/>
              <a:buNone/>
              <a:defRPr sz="1200">
                <a:solidFill>
                  <a:srgbClr val="898989"/>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a:ln>
                <a:noFill/>
              </a:ln>
              <a:solidFill>
                <a:srgbClr val="898989"/>
              </a:solidFill>
              <a:effectLst/>
              <a:uLnTx/>
              <a:uFillTx/>
              <a:latin typeface="Calibri"/>
              <a:ea typeface="宋体"/>
              <a:cs typeface="+mn-cs"/>
            </a:endParaRPr>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lstStyle>
            <a:lvl1pPr algn="r">
              <a:buFont typeface="Arial" panose="020B0604020202020204" pitchFamily="34" charset="0"/>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1" dirty="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t>‹#›</a:t>
            </a:fld>
            <a:endParaRPr kumimoji="0" lang="zh-CN" altLang="en-US" sz="12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031" name="图片 1" descr="石化司标（最新）"/>
          <p:cNvPicPr>
            <a:picLocks noChangeAspect="1"/>
          </p:cNvPicPr>
          <p:nvPr userDrawn="1"/>
        </p:nvPicPr>
        <p:blipFill>
          <a:blip r:embed="rId14"/>
          <a:stretch>
            <a:fillRect/>
          </a:stretch>
        </p:blipFill>
        <p:spPr>
          <a:xfrm>
            <a:off x="7885113" y="9525"/>
            <a:ext cx="1239837" cy="355600"/>
          </a:xfrm>
          <a:prstGeom prst="rect">
            <a:avLst/>
          </a:prstGeom>
          <a:noFill/>
          <a:ln w="9525">
            <a:noFill/>
          </a:ln>
        </p:spPr>
      </p:pic>
    </p:spTree>
    <p:extLst>
      <p:ext uri="{BB962C8B-B14F-4D97-AF65-F5344CB8AC3E}">
        <p14:creationId xmlns:p14="http://schemas.microsoft.com/office/powerpoint/2010/main" val="1708711645"/>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Arial" panose="020B0604020202020204" pitchFamily="34" charset="0"/>
        <a:buChar char="»"/>
        <a:defRPr sz="2000" b="0" i="0" u="none" kern="1200" baseline="0">
          <a:solidFill>
            <a:schemeClr val="tx1"/>
          </a:solidFill>
          <a:latin typeface="+mn-lt"/>
          <a:ea typeface="+mn-ea"/>
          <a:cs typeface="+mn-cs"/>
        </a:defRPr>
      </a:lvl9pPr>
    </p:bodyStyle>
    <p:otherStyle>
      <a:lvl1pPr marL="0" lvl="0" indent="0" algn="dist"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idx="4294967295"/>
          </p:nvPr>
        </p:nvSpPr>
        <p:spPr>
          <a:xfrm>
            <a:off x="125413" y="981075"/>
            <a:ext cx="8893175" cy="1735138"/>
          </a:xfrm>
        </p:spPr>
        <p:txBody>
          <a:bodyPr vert="horz" wrap="square" lIns="91440" tIns="45720" rIns="91440" bIns="45720" anchor="ctr" anchorCtr="0"/>
          <a:lstStyle/>
          <a:p>
            <a:r>
              <a:rPr lang="zh-CN" altLang="en-US" sz="4000" dirty="0">
                <a:solidFill>
                  <a:schemeClr val="bg1"/>
                </a:solidFill>
                <a:latin typeface="黑体" panose="02010609060101010101" pitchFamily="49" charset="-122"/>
                <a:ea typeface="黑体" panose="02010609060101010101" pitchFamily="49" charset="-122"/>
              </a:rPr>
              <a:t>第四讲</a:t>
            </a:r>
            <a:r>
              <a:rPr lang="zh-CN" altLang="en-US" sz="4800" dirty="0">
                <a:solidFill>
                  <a:schemeClr val="bg1"/>
                </a:solidFill>
                <a:ea typeface="华文琥珀" panose="02010800040101010101" pitchFamily="2" charset="-122"/>
              </a:rPr>
              <a:t/>
            </a:r>
            <a:br>
              <a:rPr lang="zh-CN" altLang="en-US" sz="4800" dirty="0">
                <a:solidFill>
                  <a:schemeClr val="bg1"/>
                </a:solidFill>
                <a:ea typeface="华文琥珀" panose="02010800040101010101" pitchFamily="2" charset="-122"/>
              </a:rPr>
            </a:br>
            <a:r>
              <a:rPr lang="zh-CN" altLang="en-US" sz="4800" dirty="0">
                <a:solidFill>
                  <a:schemeClr val="bg1"/>
                </a:solidFill>
                <a:ea typeface="华文琥珀" panose="02010800040101010101" pitchFamily="2" charset="-122"/>
              </a:rPr>
              <a:t>陈独秀在上海创建中国共产党</a:t>
            </a:r>
          </a:p>
        </p:txBody>
      </p:sp>
      <p:sp>
        <p:nvSpPr>
          <p:cNvPr id="6147" name="Rectangle 3"/>
          <p:cNvSpPr>
            <a:spLocks noGrp="1"/>
          </p:cNvSpPr>
          <p:nvPr>
            <p:ph idx="4294967295"/>
          </p:nvPr>
        </p:nvSpPr>
        <p:spPr>
          <a:xfrm>
            <a:off x="611188" y="3789363"/>
            <a:ext cx="7921625" cy="2578100"/>
          </a:xfrm>
        </p:spPr>
        <p:txBody>
          <a:bodyPr vert="horz" wrap="square" lIns="91440" tIns="45720" rIns="91440" bIns="45720" anchor="t" anchorCtr="0"/>
          <a:lstStyle/>
          <a:p>
            <a:pPr algn="ctr">
              <a:lnSpc>
                <a:spcPct val="90000"/>
              </a:lnSpc>
              <a:buNone/>
            </a:pPr>
            <a:endParaRPr lang="zh-CN" altLang="en-US" sz="2800" b="1" dirty="0">
              <a:solidFill>
                <a:schemeClr val="bg1"/>
              </a:solidFill>
              <a:latin typeface="楷体_GB2312" pitchFamily="49" charset="-122"/>
              <a:ea typeface="楷体_GB2312" pitchFamily="49" charset="-122"/>
            </a:endParaRPr>
          </a:p>
          <a:p>
            <a:pPr algn="ctr">
              <a:lnSpc>
                <a:spcPct val="90000"/>
              </a:lnSpc>
              <a:buNone/>
            </a:pPr>
            <a:r>
              <a:rPr lang="zh-CN" altLang="en-US" sz="2800" b="1" dirty="0">
                <a:solidFill>
                  <a:schemeClr val="bg1"/>
                </a:solidFill>
                <a:latin typeface="楷体_GB2312" pitchFamily="49" charset="-122"/>
                <a:ea typeface="楷体_GB2312" pitchFamily="49" charset="-122"/>
              </a:rPr>
              <a:t>徐光寿  教授、博士生导师</a:t>
            </a:r>
            <a:endParaRPr lang="zh-CN" altLang="en-US" sz="2800" b="1" dirty="0">
              <a:solidFill>
                <a:schemeClr val="bg1"/>
              </a:solidFill>
              <a:latin typeface="楷体" panose="02010609060101010101" pitchFamily="49" charset="-122"/>
              <a:ea typeface="楷体" panose="02010609060101010101" pitchFamily="49" charset="-122"/>
            </a:endParaRPr>
          </a:p>
          <a:p>
            <a:pPr algn="ctr">
              <a:lnSpc>
                <a:spcPct val="90000"/>
              </a:lnSpc>
              <a:buNone/>
            </a:pPr>
            <a:endParaRPr lang="en-US" altLang="zh-CN" sz="2400" b="1" dirty="0">
              <a:solidFill>
                <a:schemeClr val="bg1"/>
              </a:solidFill>
              <a:latin typeface="楷体" panose="02010609060101010101" pitchFamily="49" charset="-122"/>
              <a:ea typeface="楷体" panose="02010609060101010101" pitchFamily="49" charset="-122"/>
            </a:endParaRPr>
          </a:p>
          <a:p>
            <a:pPr algn="ctr">
              <a:lnSpc>
                <a:spcPct val="90000"/>
              </a:lnSpc>
              <a:buNone/>
            </a:pPr>
            <a:r>
              <a:rPr lang="zh-CN" altLang="en-US" sz="2400" b="1" dirty="0">
                <a:solidFill>
                  <a:schemeClr val="bg1"/>
                </a:solidFill>
                <a:latin typeface="楷体" panose="02010609060101010101" pitchFamily="49" charset="-122"/>
                <a:ea typeface="楷体" panose="02010609060101010101" pitchFamily="49" charset="-122"/>
              </a:rPr>
              <a:t>上海市中共党史学会副会长</a:t>
            </a:r>
            <a:endParaRPr lang="en-US" altLang="zh-CN" sz="2400" b="1" dirty="0">
              <a:solidFill>
                <a:schemeClr val="bg1"/>
              </a:solidFill>
              <a:latin typeface="楷体" panose="02010609060101010101" pitchFamily="49" charset="-122"/>
              <a:ea typeface="楷体" panose="02010609060101010101" pitchFamily="49" charset="-122"/>
            </a:endParaRPr>
          </a:p>
          <a:p>
            <a:pPr algn="ctr">
              <a:lnSpc>
                <a:spcPct val="90000"/>
              </a:lnSpc>
              <a:buNone/>
            </a:pPr>
            <a:r>
              <a:rPr lang="zh-CN" altLang="en-US" sz="2400" b="1" dirty="0">
                <a:solidFill>
                  <a:schemeClr val="bg1"/>
                </a:solidFill>
                <a:latin typeface="楷体" panose="02010609060101010101" pitchFamily="49" charset="-122"/>
                <a:ea typeface="楷体" panose="02010609060101010101" pitchFamily="49" charset="-122"/>
              </a:rPr>
              <a:t>中共上海市委党史研究室特约研究员</a:t>
            </a:r>
            <a:endParaRPr lang="en-US" altLang="zh-CN" sz="2400" b="1" dirty="0">
              <a:solidFill>
                <a:schemeClr val="bg1"/>
              </a:solidFill>
              <a:latin typeface="楷体" panose="02010609060101010101" pitchFamily="49" charset="-122"/>
              <a:ea typeface="楷体" panose="02010609060101010101" pitchFamily="49" charset="-122"/>
            </a:endParaRPr>
          </a:p>
          <a:p>
            <a:pPr algn="ctr">
              <a:lnSpc>
                <a:spcPct val="90000"/>
              </a:lnSpc>
              <a:buNone/>
            </a:pPr>
            <a:r>
              <a:rPr lang="en-US" altLang="zh-CN" sz="2400" b="1" dirty="0">
                <a:solidFill>
                  <a:schemeClr val="bg1"/>
                </a:solidFill>
                <a:latin typeface="楷体" panose="02010609060101010101" pitchFamily="49" charset="-122"/>
                <a:ea typeface="楷体" panose="02010609060101010101" pitchFamily="49" charset="-122"/>
              </a:rPr>
              <a:t>2025</a:t>
            </a:r>
            <a:r>
              <a:rPr lang="zh-CN" altLang="en-US" sz="2400" b="1" dirty="0" smtClean="0">
                <a:solidFill>
                  <a:schemeClr val="bg1"/>
                </a:solidFill>
                <a:latin typeface="楷体" panose="02010609060101010101" pitchFamily="49" charset="-122"/>
                <a:ea typeface="楷体" panose="02010609060101010101" pitchFamily="49" charset="-122"/>
              </a:rPr>
              <a:t>年</a:t>
            </a:r>
            <a:r>
              <a:rPr lang="en-US" altLang="zh-CN" sz="2400" b="1" dirty="0" smtClean="0">
                <a:solidFill>
                  <a:schemeClr val="bg1"/>
                </a:solidFill>
                <a:latin typeface="楷体" panose="02010609060101010101" pitchFamily="49" charset="-122"/>
                <a:ea typeface="楷体" panose="02010609060101010101" pitchFamily="49" charset="-122"/>
              </a:rPr>
              <a:t>11</a:t>
            </a:r>
            <a:r>
              <a:rPr lang="zh-CN" altLang="en-US" sz="2400" b="1" dirty="0" smtClean="0">
                <a:solidFill>
                  <a:schemeClr val="bg1"/>
                </a:solidFill>
                <a:latin typeface="楷体" panose="02010609060101010101" pitchFamily="49" charset="-122"/>
                <a:ea typeface="楷体" panose="02010609060101010101" pitchFamily="49" charset="-122"/>
              </a:rPr>
              <a:t>月</a:t>
            </a:r>
            <a:r>
              <a:rPr lang="en-US" altLang="zh-CN" sz="2400" b="1" dirty="0" smtClean="0">
                <a:solidFill>
                  <a:schemeClr val="bg1"/>
                </a:solidFill>
                <a:latin typeface="楷体" panose="02010609060101010101" pitchFamily="49" charset="-122"/>
                <a:ea typeface="楷体" panose="02010609060101010101" pitchFamily="49" charset="-122"/>
              </a:rPr>
              <a:t>13</a:t>
            </a:r>
            <a:r>
              <a:rPr lang="zh-CN" altLang="en-US" sz="2400" b="1" dirty="0" smtClean="0">
                <a:solidFill>
                  <a:schemeClr val="bg1"/>
                </a:solidFill>
                <a:latin typeface="楷体" panose="02010609060101010101" pitchFamily="49" charset="-122"/>
                <a:ea typeface="楷体" panose="02010609060101010101" pitchFamily="49" charset="-122"/>
              </a:rPr>
              <a:t>日（第十稿）</a:t>
            </a:r>
            <a:endParaRPr lang="zh-CN" altLang="en-US" sz="24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351631" y="146837"/>
            <a:ext cx="8480425" cy="1049915"/>
          </a:xfrm>
        </p:spPr>
        <p:txBody>
          <a:bodyPr vert="horz" wrap="square" lIns="91440" tIns="45720" rIns="91440" bIns="45720" anchor="ctr" anchorCtr="0"/>
          <a:lstStyle/>
          <a:p>
            <a:r>
              <a:rPr lang="zh-CN" altLang="en-US" sz="3600" b="1" dirty="0">
                <a:solidFill>
                  <a:srgbClr val="FFFF00"/>
                </a:solidFill>
                <a:ea typeface="黑体" panose="02010609060101010101" pitchFamily="49" charset="-122"/>
              </a:rPr>
              <a:t>一、为什么是陈独秀？</a:t>
            </a:r>
          </a:p>
        </p:txBody>
      </p:sp>
      <p:sp>
        <p:nvSpPr>
          <p:cNvPr id="7171" name="内容占位符 2"/>
          <p:cNvSpPr>
            <a:spLocks noGrp="1"/>
          </p:cNvSpPr>
          <p:nvPr>
            <p:ph idx="1"/>
          </p:nvPr>
        </p:nvSpPr>
        <p:spPr>
          <a:xfrm>
            <a:off x="39688" y="1124744"/>
            <a:ext cx="9104312" cy="5472608"/>
          </a:xfrm>
        </p:spPr>
        <p:txBody>
          <a:bodyPr vert="horz" wrap="square" lIns="91440" tIns="45720" rIns="91440" bIns="45720" anchor="t" anchorCtr="0"/>
          <a:lstStyle/>
          <a:p>
            <a:r>
              <a:rPr lang="zh-CN" altLang="en-US" sz="2800" b="1" dirty="0">
                <a:solidFill>
                  <a:schemeClr val="bg1"/>
                </a:solidFill>
                <a:latin typeface="华文中宋" panose="02010600040101010101" pitchFamily="2" charset="-122"/>
                <a:ea typeface="华文中宋" panose="02010600040101010101" pitchFamily="2" charset="-122"/>
              </a:rPr>
              <a:t>（一）丰富的人生</a:t>
            </a:r>
            <a:r>
              <a:rPr lang="zh-CN" altLang="en-US" sz="2800" b="1" dirty="0" smtClean="0">
                <a:solidFill>
                  <a:schemeClr val="bg1"/>
                </a:solidFill>
                <a:latin typeface="华文中宋" panose="02010600040101010101" pitchFamily="2" charset="-122"/>
                <a:ea typeface="华文中宋" panose="02010600040101010101" pitchFamily="2" charset="-122"/>
              </a:rPr>
              <a:t>履历</a:t>
            </a:r>
            <a:endParaRPr lang="en-US" altLang="zh-CN" sz="2800" b="1" dirty="0" smtClean="0">
              <a:solidFill>
                <a:schemeClr val="bg1"/>
              </a:solidFill>
              <a:latin typeface="华文中宋" panose="02010600040101010101" pitchFamily="2" charset="-122"/>
              <a:ea typeface="华文中宋" panose="02010600040101010101" pitchFamily="2" charset="-122"/>
            </a:endParaRPr>
          </a:p>
          <a:p>
            <a:r>
              <a:rPr lang="en-US" altLang="zh-CN" sz="2800" b="1" dirty="0" smtClean="0">
                <a:solidFill>
                  <a:schemeClr val="bg1"/>
                </a:solidFill>
                <a:latin typeface="华文中宋" panose="02010600040101010101" pitchFamily="2" charset="-122"/>
                <a:ea typeface="华文中宋" panose="02010600040101010101" pitchFamily="2" charset="-122"/>
              </a:rPr>
              <a:t>1</a:t>
            </a:r>
            <a:r>
              <a:rPr lang="zh-CN" altLang="en-US" sz="2800" b="1" dirty="0" smtClean="0">
                <a:solidFill>
                  <a:schemeClr val="bg1"/>
                </a:solidFill>
                <a:latin typeface="华文中宋" panose="02010600040101010101" pitchFamily="2" charset="-122"/>
                <a:ea typeface="华文中宋" panose="02010600040101010101" pitchFamily="2" charset="-122"/>
              </a:rPr>
              <a:t>：</a:t>
            </a:r>
            <a:r>
              <a:rPr lang="zh-CN" altLang="en-US" sz="2800" b="1" dirty="0">
                <a:solidFill>
                  <a:srgbClr val="FFFF00"/>
                </a:solidFill>
                <a:latin typeface="华文中宋" panose="02010600040101010101" pitchFamily="2" charset="-122"/>
                <a:ea typeface="华文中宋" panose="02010600040101010101" pitchFamily="2" charset="-122"/>
              </a:rPr>
              <a:t>三次跨越</a:t>
            </a:r>
            <a:endParaRPr lang="en-US" altLang="zh-CN" sz="2800" b="1" dirty="0">
              <a:solidFill>
                <a:srgbClr val="FFFF00"/>
              </a:solidFill>
              <a:latin typeface="华文中宋" panose="02010600040101010101" pitchFamily="2" charset="-122"/>
              <a:ea typeface="华文中宋" panose="02010600040101010101" pitchFamily="2" charset="-122"/>
            </a:endParaRPr>
          </a:p>
          <a:p>
            <a:r>
              <a:rPr lang="en-US" altLang="zh-CN" sz="2800" b="1" dirty="0">
                <a:solidFill>
                  <a:srgbClr val="FFFF00"/>
                </a:solidFill>
                <a:latin typeface="华文中宋" panose="02010600040101010101" pitchFamily="2" charset="-122"/>
                <a:ea typeface="华文中宋" panose="02010600040101010101" pitchFamily="2" charset="-122"/>
              </a:rPr>
              <a:t>“</a:t>
            </a:r>
            <a:r>
              <a:rPr lang="zh-CN" altLang="en-US" sz="2800" b="1" dirty="0">
                <a:solidFill>
                  <a:srgbClr val="FFFF00"/>
                </a:solidFill>
                <a:latin typeface="华文中宋" panose="02010600040101010101" pitchFamily="2" charset="-122"/>
                <a:ea typeface="华文中宋" panose="02010600040101010101" pitchFamily="2" charset="-122"/>
              </a:rPr>
              <a:t>选学妖孽</a:t>
            </a:r>
            <a:r>
              <a:rPr lang="en-US" altLang="zh-CN" sz="2800" b="1" dirty="0">
                <a:solidFill>
                  <a:srgbClr val="FFFF00"/>
                </a:solidFill>
                <a:latin typeface="华文中宋" panose="02010600040101010101" pitchFamily="2" charset="-122"/>
                <a:ea typeface="华文中宋" panose="02010600040101010101" pitchFamily="2" charset="-122"/>
              </a:rPr>
              <a:t>”—</a:t>
            </a:r>
            <a:r>
              <a:rPr lang="zh-CN" altLang="en-US" sz="2800" b="1" dirty="0">
                <a:solidFill>
                  <a:srgbClr val="FFFF00"/>
                </a:solidFill>
                <a:latin typeface="华文中宋" panose="02010600040101010101" pitchFamily="2" charset="-122"/>
                <a:ea typeface="华文中宋" panose="02010600040101010101" pitchFamily="2" charset="-122"/>
              </a:rPr>
              <a:t>“康党”</a:t>
            </a:r>
            <a:r>
              <a:rPr lang="en-US" altLang="zh-CN" sz="2800" b="1" dirty="0">
                <a:solidFill>
                  <a:srgbClr val="FFFF00"/>
                </a:solidFill>
                <a:latin typeface="华文中宋" panose="02010600040101010101" pitchFamily="2" charset="-122"/>
                <a:ea typeface="华文中宋" panose="02010600040101010101" pitchFamily="2" charset="-122"/>
              </a:rPr>
              <a:t>—</a:t>
            </a:r>
            <a:r>
              <a:rPr lang="zh-CN" altLang="en-US" sz="2800" b="1" dirty="0">
                <a:solidFill>
                  <a:srgbClr val="FFFF00"/>
                </a:solidFill>
                <a:latin typeface="华文中宋" panose="02010600040101010101" pitchFamily="2" charset="-122"/>
                <a:ea typeface="华文中宋" panose="02010600040101010101" pitchFamily="2" charset="-122"/>
              </a:rPr>
              <a:t>“乱党”</a:t>
            </a:r>
            <a:r>
              <a:rPr lang="en-US" altLang="zh-CN" sz="2800" b="1" dirty="0">
                <a:solidFill>
                  <a:srgbClr val="FFFF00"/>
                </a:solidFill>
                <a:latin typeface="华文中宋" panose="02010600040101010101" pitchFamily="2" charset="-122"/>
                <a:ea typeface="华文中宋" panose="02010600040101010101" pitchFamily="2" charset="-122"/>
              </a:rPr>
              <a:t>—</a:t>
            </a:r>
            <a:r>
              <a:rPr lang="zh-CN" altLang="en-US" sz="2800" b="1" dirty="0">
                <a:solidFill>
                  <a:srgbClr val="FFFF00"/>
                </a:solidFill>
                <a:latin typeface="华文中宋" panose="02010600040101010101" pitchFamily="2" charset="-122"/>
                <a:ea typeface="华文中宋" panose="02010600040101010101" pitchFamily="2" charset="-122"/>
              </a:rPr>
              <a:t>共产党</a:t>
            </a:r>
          </a:p>
          <a:p>
            <a:r>
              <a:rPr lang="en-US" altLang="zh-CN" sz="2800" b="1" dirty="0">
                <a:solidFill>
                  <a:schemeClr val="bg1"/>
                </a:solidFill>
              </a:rPr>
              <a:t>1879.10.9-1942.5.27</a:t>
            </a:r>
            <a:r>
              <a:rPr lang="zh-CN" altLang="en-US" sz="2800" b="1" dirty="0">
                <a:solidFill>
                  <a:schemeClr val="bg1"/>
                </a:solidFill>
              </a:rPr>
              <a:t>，享年</a:t>
            </a:r>
            <a:r>
              <a:rPr lang="en-US" altLang="zh-CN" sz="2800" b="1" dirty="0">
                <a:solidFill>
                  <a:schemeClr val="bg1"/>
                </a:solidFill>
              </a:rPr>
              <a:t>63</a:t>
            </a:r>
            <a:r>
              <a:rPr lang="zh-CN" altLang="en-US" sz="2800" b="1" dirty="0">
                <a:solidFill>
                  <a:schemeClr val="bg1"/>
                </a:solidFill>
              </a:rPr>
              <a:t>岁。</a:t>
            </a:r>
          </a:p>
          <a:p>
            <a:r>
              <a:rPr lang="en-US" altLang="zh-CN" sz="2800" b="1" dirty="0">
                <a:solidFill>
                  <a:schemeClr val="bg1"/>
                </a:solidFill>
              </a:rPr>
              <a:t>1896</a:t>
            </a:r>
            <a:r>
              <a:rPr lang="zh-CN" altLang="en-US" sz="2800" b="1" dirty="0">
                <a:solidFill>
                  <a:schemeClr val="bg1"/>
                </a:solidFill>
              </a:rPr>
              <a:t>年安庆府</a:t>
            </a:r>
            <a:r>
              <a:rPr lang="zh-CN" altLang="en-US" sz="2800" b="1" dirty="0" smtClean="0">
                <a:solidFill>
                  <a:schemeClr val="bg1"/>
                </a:solidFill>
              </a:rPr>
              <a:t>试的</a:t>
            </a:r>
            <a:r>
              <a:rPr lang="zh-CN" altLang="en-US" sz="2800" b="1" dirty="0" smtClean="0">
                <a:solidFill>
                  <a:srgbClr val="FFFF00"/>
                </a:solidFill>
              </a:rPr>
              <a:t>第一名</a:t>
            </a:r>
            <a:r>
              <a:rPr lang="zh-CN" altLang="en-US" sz="2800" b="1" dirty="0">
                <a:solidFill>
                  <a:srgbClr val="FFFF00"/>
                </a:solidFill>
              </a:rPr>
              <a:t>秀才</a:t>
            </a:r>
            <a:r>
              <a:rPr lang="zh-CN" altLang="en-US" sz="2800" b="1" dirty="0">
                <a:solidFill>
                  <a:schemeClr val="bg1"/>
                </a:solidFill>
              </a:rPr>
              <a:t>。</a:t>
            </a:r>
            <a:endParaRPr lang="en-US" altLang="zh-CN" sz="2800" b="1" dirty="0">
              <a:solidFill>
                <a:schemeClr val="bg1"/>
              </a:solidFill>
            </a:endParaRPr>
          </a:p>
          <a:p>
            <a:r>
              <a:rPr lang="zh-CN" altLang="en-US" sz="2800" b="1" dirty="0">
                <a:solidFill>
                  <a:schemeClr val="bg1"/>
                </a:solidFill>
              </a:rPr>
              <a:t>次年</a:t>
            </a:r>
            <a:r>
              <a:rPr lang="zh-CN" altLang="en-US" sz="2800" b="1" dirty="0">
                <a:solidFill>
                  <a:srgbClr val="FFFF00"/>
                </a:solidFill>
              </a:rPr>
              <a:t>江南乡试</a:t>
            </a:r>
            <a:r>
              <a:rPr lang="zh-CN" altLang="en-US" sz="2800" b="1" dirty="0">
                <a:solidFill>
                  <a:schemeClr val="bg1"/>
                </a:solidFill>
              </a:rPr>
              <a:t>落榜，接触改良思想。</a:t>
            </a:r>
            <a:endParaRPr lang="en-US" altLang="zh-CN" sz="2800" b="1" dirty="0">
              <a:solidFill>
                <a:schemeClr val="bg1"/>
              </a:solidFill>
            </a:endParaRPr>
          </a:p>
          <a:p>
            <a:r>
              <a:rPr lang="en-US" altLang="zh-CN" sz="2800" b="1" dirty="0">
                <a:solidFill>
                  <a:schemeClr val="bg1"/>
                </a:solidFill>
              </a:rPr>
              <a:t>1902</a:t>
            </a:r>
            <a:r>
              <a:rPr lang="zh-CN" altLang="en-US" sz="2800" b="1" dirty="0">
                <a:solidFill>
                  <a:schemeClr val="bg1"/>
                </a:solidFill>
              </a:rPr>
              <a:t>年东渡日本留学，成为</a:t>
            </a:r>
            <a:r>
              <a:rPr lang="zh-CN" altLang="en-US" sz="2800" b="1" dirty="0">
                <a:solidFill>
                  <a:srgbClr val="FFFF00"/>
                </a:solidFill>
              </a:rPr>
              <a:t>康党</a:t>
            </a:r>
            <a:r>
              <a:rPr lang="zh-CN" altLang="en-US" sz="2800" b="1" dirty="0">
                <a:solidFill>
                  <a:schemeClr val="bg1"/>
                </a:solidFill>
              </a:rPr>
              <a:t>。至</a:t>
            </a:r>
            <a:r>
              <a:rPr lang="en-US" altLang="zh-CN" sz="2800" b="1" dirty="0">
                <a:solidFill>
                  <a:schemeClr val="bg1"/>
                </a:solidFill>
              </a:rPr>
              <a:t>1906</a:t>
            </a:r>
            <a:r>
              <a:rPr lang="zh-CN" altLang="en-US" sz="2800" b="1" dirty="0" smtClean="0">
                <a:solidFill>
                  <a:schemeClr val="bg1"/>
                </a:solidFill>
              </a:rPr>
              <a:t>年返皖重组</a:t>
            </a:r>
            <a:r>
              <a:rPr lang="zh-CN" altLang="en-US" sz="2800" b="1" dirty="0">
                <a:solidFill>
                  <a:srgbClr val="FFFF00"/>
                </a:solidFill>
              </a:rPr>
              <a:t>岳王会</a:t>
            </a:r>
            <a:r>
              <a:rPr lang="zh-CN" altLang="en-US" sz="2800" b="1" dirty="0">
                <a:solidFill>
                  <a:schemeClr val="bg1"/>
                </a:solidFill>
              </a:rPr>
              <a:t>、</a:t>
            </a:r>
            <a:r>
              <a:rPr lang="en-US" altLang="zh-CN" sz="2800" b="1" dirty="0">
                <a:solidFill>
                  <a:schemeClr val="bg1"/>
                </a:solidFill>
              </a:rPr>
              <a:t>1912</a:t>
            </a:r>
            <a:r>
              <a:rPr lang="zh-CN" altLang="en-US" sz="2800" b="1" dirty="0">
                <a:solidFill>
                  <a:schemeClr val="bg1"/>
                </a:solidFill>
              </a:rPr>
              <a:t>年出任安徽都督府秘书长而成</a:t>
            </a:r>
            <a:r>
              <a:rPr lang="zh-CN" altLang="en-US" sz="2800" b="1" dirty="0">
                <a:solidFill>
                  <a:srgbClr val="FFFF00"/>
                </a:solidFill>
              </a:rPr>
              <a:t>乱党</a:t>
            </a:r>
            <a:r>
              <a:rPr lang="zh-CN" altLang="en-US" sz="2800" b="1" dirty="0">
                <a:solidFill>
                  <a:schemeClr val="bg1"/>
                </a:solidFill>
              </a:rPr>
              <a:t>。</a:t>
            </a:r>
          </a:p>
          <a:p>
            <a:r>
              <a:rPr lang="en-US" altLang="zh-CN" sz="2800" b="1" dirty="0">
                <a:solidFill>
                  <a:schemeClr val="bg1"/>
                </a:solidFill>
              </a:rPr>
              <a:t>1915</a:t>
            </a:r>
            <a:r>
              <a:rPr lang="zh-CN" altLang="en-US" sz="2800" b="1" dirty="0">
                <a:solidFill>
                  <a:schemeClr val="bg1"/>
                </a:solidFill>
              </a:rPr>
              <a:t>年</a:t>
            </a:r>
            <a:r>
              <a:rPr lang="en-US" altLang="zh-CN" sz="2800" b="1" dirty="0">
                <a:solidFill>
                  <a:schemeClr val="bg1"/>
                </a:solidFill>
              </a:rPr>
              <a:t>9</a:t>
            </a:r>
            <a:r>
              <a:rPr lang="zh-CN" altLang="en-US" sz="2800" b="1" dirty="0">
                <a:solidFill>
                  <a:schemeClr val="bg1"/>
                </a:solidFill>
              </a:rPr>
              <a:t>月</a:t>
            </a:r>
            <a:r>
              <a:rPr lang="en-US" altLang="zh-CN" sz="2800" b="1" dirty="0">
                <a:solidFill>
                  <a:schemeClr val="bg1"/>
                </a:solidFill>
              </a:rPr>
              <a:t>15</a:t>
            </a:r>
            <a:r>
              <a:rPr lang="zh-CN" altLang="en-US" sz="2800" b="1" dirty="0">
                <a:solidFill>
                  <a:schemeClr val="bg1"/>
                </a:solidFill>
              </a:rPr>
              <a:t>日在上海创办</a:t>
            </a:r>
            <a:r>
              <a:rPr lang="en-US" altLang="zh-CN" sz="2800" b="1" dirty="0">
                <a:solidFill>
                  <a:schemeClr val="bg1"/>
                </a:solidFill>
              </a:rPr>
              <a:t>《</a:t>
            </a:r>
            <a:r>
              <a:rPr lang="zh-CN" altLang="en-US" sz="2800" b="1" dirty="0">
                <a:solidFill>
                  <a:schemeClr val="bg1"/>
                </a:solidFill>
              </a:rPr>
              <a:t>青年杂志</a:t>
            </a:r>
            <a:r>
              <a:rPr lang="en-US" altLang="zh-CN" sz="2800" b="1" dirty="0">
                <a:solidFill>
                  <a:schemeClr val="bg1"/>
                </a:solidFill>
              </a:rPr>
              <a:t>》</a:t>
            </a:r>
            <a:r>
              <a:rPr lang="zh-CN" altLang="en-US" sz="2800" b="1" dirty="0">
                <a:solidFill>
                  <a:schemeClr val="bg1"/>
                </a:solidFill>
              </a:rPr>
              <a:t>，</a:t>
            </a:r>
            <a:r>
              <a:rPr lang="en-US" altLang="zh-CN" sz="2800" b="1" dirty="0">
                <a:solidFill>
                  <a:schemeClr val="bg1"/>
                </a:solidFill>
              </a:rPr>
              <a:t>1917</a:t>
            </a:r>
            <a:r>
              <a:rPr lang="zh-CN" altLang="en-US" sz="2800" b="1" dirty="0">
                <a:solidFill>
                  <a:schemeClr val="bg1"/>
                </a:solidFill>
              </a:rPr>
              <a:t>年</a:t>
            </a:r>
            <a:r>
              <a:rPr lang="en-US" altLang="zh-CN" sz="2800" b="1" dirty="0">
                <a:solidFill>
                  <a:schemeClr val="bg1"/>
                </a:solidFill>
              </a:rPr>
              <a:t>1</a:t>
            </a:r>
            <a:r>
              <a:rPr lang="zh-CN" altLang="en-US" sz="2800" b="1" dirty="0">
                <a:solidFill>
                  <a:schemeClr val="bg1"/>
                </a:solidFill>
              </a:rPr>
              <a:t>月被蔡元培</a:t>
            </a:r>
            <a:r>
              <a:rPr lang="zh-CN" altLang="en-US" sz="2800" b="1" dirty="0" smtClean="0">
                <a:solidFill>
                  <a:schemeClr val="bg1"/>
                </a:solidFill>
              </a:rPr>
              <a:t>聘为北大</a:t>
            </a:r>
            <a:r>
              <a:rPr lang="zh-CN" altLang="en-US" sz="2800" b="1" dirty="0">
                <a:solidFill>
                  <a:schemeClr val="bg1"/>
                </a:solidFill>
              </a:rPr>
              <a:t>文科学长，</a:t>
            </a:r>
            <a:r>
              <a:rPr lang="zh-CN" altLang="en-US" sz="2800" b="1" dirty="0">
                <a:solidFill>
                  <a:srgbClr val="FFFF00"/>
                </a:solidFill>
              </a:rPr>
              <a:t>《新青年》</a:t>
            </a:r>
            <a:r>
              <a:rPr lang="zh-CN" altLang="en-US" sz="2800" b="1" dirty="0">
                <a:solidFill>
                  <a:schemeClr val="bg1"/>
                </a:solidFill>
              </a:rPr>
              <a:t>随迁</a:t>
            </a:r>
            <a:r>
              <a:rPr lang="zh-CN" altLang="en-US" sz="2800" b="1" dirty="0" smtClean="0">
                <a:solidFill>
                  <a:schemeClr val="bg1"/>
                </a:solidFill>
              </a:rPr>
              <a:t>北大。</a:t>
            </a:r>
            <a:endParaRPr lang="zh-CN" altLang="en-US" sz="2800" b="1" dirty="0">
              <a:solidFill>
                <a:schemeClr val="bg1"/>
              </a:solidFill>
            </a:endParaRPr>
          </a:p>
          <a:p>
            <a:r>
              <a:rPr lang="zh-CN" altLang="en-US" sz="2800" b="1" dirty="0">
                <a:solidFill>
                  <a:schemeClr val="bg1"/>
                </a:solidFill>
              </a:rPr>
              <a:t>五四以后避居上海，迅速转向马克思列宁主义。</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457200" y="44450"/>
            <a:ext cx="8229600" cy="866775"/>
          </a:xfrm>
        </p:spPr>
        <p:txBody>
          <a:bodyPr vert="horz" wrap="square" lIns="91440" tIns="45720" rIns="91440" bIns="45720" anchor="ctr" anchorCtr="0"/>
          <a:lstStyle/>
          <a:p>
            <a:r>
              <a:rPr lang="zh-CN" altLang="en-US" sz="3600" dirty="0">
                <a:solidFill>
                  <a:srgbClr val="FFFF00"/>
                </a:solidFill>
                <a:latin typeface="微软雅黑" panose="020B0503020204020204" pitchFamily="34" charset="-122"/>
                <a:ea typeface="微软雅黑" panose="020B0503020204020204" pitchFamily="34" charset="-122"/>
              </a:rPr>
              <a:t>《青年杂志》一卷一号</a:t>
            </a:r>
          </a:p>
        </p:txBody>
      </p:sp>
      <p:pic>
        <p:nvPicPr>
          <p:cNvPr id="8195" name="内容占位符 3"/>
          <p:cNvPicPr>
            <a:picLocks noGrp="1" noChangeAspect="1"/>
          </p:cNvPicPr>
          <p:nvPr>
            <p:ph idx="1"/>
            <p:custDataLst>
              <p:tags r:id="rId1"/>
            </p:custDataLst>
          </p:nvPr>
        </p:nvPicPr>
        <p:blipFill>
          <a:blip r:embed="rId3"/>
          <a:srcRect/>
          <a:stretch>
            <a:fillRect/>
          </a:stretch>
        </p:blipFill>
        <p:spPr>
          <a:xfrm>
            <a:off x="315913" y="923925"/>
            <a:ext cx="8424862" cy="5756275"/>
          </a:xfr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ChangeArrowheads="1"/>
          </p:cNvSpPr>
          <p:nvPr/>
        </p:nvSpPr>
        <p:spPr bwMode="auto">
          <a:xfrm>
            <a:off x="2771775" y="1844675"/>
            <a:ext cx="6192837" cy="2260600"/>
          </a:xfrm>
          <a:prstGeom prst="rect">
            <a:avLst/>
          </a:prstGeom>
          <a:noFill/>
          <a:ln>
            <a:noFill/>
          </a:ln>
        </p:spPr>
        <p:txBody>
          <a:bodyPr/>
          <a:lstStyle/>
          <a:p>
            <a:pPr marL="342900" marR="0" lvl="0" indent="-342900" algn="l" defTabSz="914400" rtl="0" eaLnBrk="0" fontAlgn="base" latinLnBrk="0" hangingPunct="0">
              <a:lnSpc>
                <a:spcPct val="100000"/>
              </a:lnSpc>
              <a:spcBef>
                <a:spcPct val="0"/>
              </a:spcBef>
              <a:spcAft>
                <a:spcPct val="0"/>
              </a:spcAft>
              <a:buClr>
                <a:srgbClr val="FFFF00"/>
              </a:buClr>
              <a:buSzTx/>
              <a:buFont typeface="Wingdings" panose="05000000000000000000" pitchFamily="2" charset="2"/>
              <a:buChar char="¥"/>
              <a:defRPr/>
            </a:pPr>
            <a:r>
              <a:rPr lang="zh-CN" altLang="en-US" sz="2800" b="1" dirty="0" smtClean="0">
                <a:solidFill>
                  <a:schemeClr val="bg1"/>
                </a:solidFill>
                <a:effectLst>
                  <a:outerShdw blurRad="38100" dist="38100" dir="2700000" algn="tl">
                    <a:srgbClr val="000000"/>
                  </a:outerShdw>
                </a:effectLst>
                <a:latin typeface="楷体_GB2312" pitchFamily="49" charset="-122"/>
                <a:ea typeface="楷体_GB2312" pitchFamily="49" charset="-122"/>
              </a:rPr>
              <a:t>五四以前陈独秀</a:t>
            </a:r>
            <a:r>
              <a:rPr kumimoji="0" lang="zh-CN" altLang="en-US" sz="2800" b="1" i="0" u="none" strike="noStrike" kern="1200" cap="none" spc="0" normalizeH="0" baseline="0" noProof="0" dirty="0" smtClean="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经历了“三大跨越”，五四前后实现</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“三个选择”，尤其是从法兰西转向俄罗斯。五四运动中被捕并关押</a:t>
            </a:r>
            <a:r>
              <a:rPr kumimoji="0" lang="en-US" altLang="zh-CN"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98</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天，后险些再遭抓捕，潜回上海</a:t>
            </a:r>
            <a:r>
              <a:rPr kumimoji="0" lang="zh-CN" altLang="en-US" sz="2800" b="1" i="0" u="none" strike="noStrike" kern="1200" cap="none" spc="0" normalizeH="0" baseline="0" noProof="0" dirty="0" smtClean="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a:t>
            </a:r>
            <a:endParaRPr kumimoji="0" lang="en-US" altLang="zh-CN" sz="2800" b="1" i="0" u="none" strike="noStrike" kern="1200" cap="none" spc="0" normalizeH="0" baseline="0" noProof="0" dirty="0" smtClean="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100000"/>
              </a:lnSpc>
              <a:spcBef>
                <a:spcPct val="0"/>
              </a:spcBef>
              <a:spcAft>
                <a:spcPct val="0"/>
              </a:spcAft>
              <a:buClr>
                <a:srgbClr val="FFFF00"/>
              </a:buClr>
              <a:buSzTx/>
              <a:buFont typeface="Wingdings" panose="05000000000000000000" pitchFamily="2" charset="2"/>
              <a:buChar char="¥"/>
              <a:defRPr/>
            </a:pPr>
            <a:r>
              <a:rPr kumimoji="0" lang="zh-CN" altLang="en-US" sz="2800" b="1" i="0" u="none" strike="noStrike" kern="1200" cap="none" spc="0" normalizeH="0" baseline="0" noProof="0" dirty="0" smtClean="0">
                <a:ln>
                  <a:noFill/>
                </a:ln>
                <a:solidFill>
                  <a:schemeClr val="tx1"/>
                </a:solidFill>
                <a:effectLst>
                  <a:outerShdw blurRad="38100" dist="38100" dir="2700000" algn="tl">
                    <a:srgbClr val="000000"/>
                  </a:outerShdw>
                </a:effectLst>
                <a:highlight>
                  <a:srgbClr val="FFFF00"/>
                </a:highlight>
                <a:uLnTx/>
                <a:uFillTx/>
                <a:latin typeface="楷体_GB2312" pitchFamily="49" charset="-122"/>
                <a:ea typeface="楷体_GB2312" pitchFamily="49" charset="-122"/>
                <a:cs typeface="+mn-cs"/>
              </a:rPr>
              <a:t>有</a:t>
            </a:r>
            <a:r>
              <a:rPr kumimoji="0" lang="zh-CN" altLang="en-US" sz="2800" b="1" i="0" u="none" strike="noStrike" kern="1200" cap="none" spc="0" normalizeH="0" baseline="0" noProof="0" dirty="0">
                <a:ln>
                  <a:noFill/>
                </a:ln>
                <a:solidFill>
                  <a:schemeClr val="tx1"/>
                </a:solidFill>
                <a:effectLst>
                  <a:outerShdw blurRad="38100" dist="38100" dir="2700000" algn="tl">
                    <a:srgbClr val="000000"/>
                  </a:outerShdw>
                </a:effectLst>
                <a:highlight>
                  <a:srgbClr val="FFFF00"/>
                </a:highlight>
                <a:uLnTx/>
                <a:uFillTx/>
                <a:latin typeface="楷体_GB2312" pitchFamily="49" charset="-122"/>
                <a:ea typeface="楷体_GB2312" pitchFamily="49" charset="-122"/>
                <a:cs typeface="+mn-cs"/>
              </a:rPr>
              <a:t>比较才有鉴别</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a:t>
            </a:r>
          </a:p>
        </p:txBody>
      </p:sp>
      <p:grpSp>
        <p:nvGrpSpPr>
          <p:cNvPr id="12291" name="Group 6"/>
          <p:cNvGrpSpPr>
            <a:grpSpLocks noChangeAspect="1"/>
          </p:cNvGrpSpPr>
          <p:nvPr/>
        </p:nvGrpSpPr>
        <p:grpSpPr>
          <a:xfrm rot="842411">
            <a:off x="5887625" y="4310309"/>
            <a:ext cx="2808288" cy="2370137"/>
            <a:chOff x="0" y="0"/>
            <a:chExt cx="2124" cy="1765"/>
          </a:xfrm>
        </p:grpSpPr>
        <p:pic>
          <p:nvPicPr>
            <p:cNvPr id="12295" name="Picture 12" descr="新青年一"/>
            <p:cNvPicPr>
              <a:picLocks noChangeAspect="1"/>
            </p:cNvPicPr>
            <p:nvPr/>
          </p:nvPicPr>
          <p:blipFill>
            <a:blip r:embed="rId2">
              <a:lum contrast="-30000"/>
            </a:blip>
            <a:stretch>
              <a:fillRect/>
            </a:stretch>
          </p:blipFill>
          <p:spPr>
            <a:xfrm rot="-412978">
              <a:off x="0" y="181"/>
              <a:ext cx="1148" cy="1584"/>
            </a:xfrm>
            <a:prstGeom prst="rect">
              <a:avLst/>
            </a:prstGeom>
            <a:noFill/>
            <a:ln w="9525">
              <a:noFill/>
            </a:ln>
          </p:spPr>
        </p:pic>
        <p:pic>
          <p:nvPicPr>
            <p:cNvPr id="12296" name="Picture 13" descr="青年杂志"/>
            <p:cNvPicPr>
              <a:picLocks noChangeAspect="1"/>
            </p:cNvPicPr>
            <p:nvPr/>
          </p:nvPicPr>
          <p:blipFill>
            <a:blip r:embed="rId3">
              <a:lum contrast="-24001"/>
            </a:blip>
            <a:stretch>
              <a:fillRect/>
            </a:stretch>
          </p:blipFill>
          <p:spPr>
            <a:xfrm rot="305152">
              <a:off x="1044" y="0"/>
              <a:ext cx="1080" cy="1624"/>
            </a:xfrm>
            <a:prstGeom prst="rect">
              <a:avLst/>
            </a:prstGeom>
            <a:noFill/>
            <a:ln w="9525">
              <a:noFill/>
            </a:ln>
          </p:spPr>
        </p:pic>
      </p:grpSp>
      <p:sp>
        <p:nvSpPr>
          <p:cNvPr id="12292" name="Rectangle 10"/>
          <p:cNvSpPr/>
          <p:nvPr/>
        </p:nvSpPr>
        <p:spPr>
          <a:xfrm>
            <a:off x="395288" y="867123"/>
            <a:ext cx="8353425" cy="1077218"/>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Tx/>
              <a:buNone/>
            </a:pPr>
            <a:r>
              <a:rPr lang="zh-CN" altLang="en-US" dirty="0" smtClean="0">
                <a:solidFill>
                  <a:schemeClr val="bg1"/>
                </a:solidFill>
                <a:latin typeface="黑体" panose="02010609060101010101" pitchFamily="49" charset="-122"/>
                <a:ea typeface="黑体" panose="02010609060101010101" pitchFamily="49" charset="-122"/>
              </a:rPr>
              <a:t>（一）丰富的人生履历</a:t>
            </a:r>
            <a:endParaRPr lang="en-US" altLang="zh-CN" dirty="0" smtClean="0">
              <a:solidFill>
                <a:schemeClr val="bg1"/>
              </a:solidFill>
              <a:latin typeface="黑体" panose="02010609060101010101" pitchFamily="49" charset="-122"/>
              <a:ea typeface="黑体" panose="02010609060101010101" pitchFamily="49" charset="-122"/>
            </a:endParaRPr>
          </a:p>
          <a:p>
            <a:pPr marL="0" lvl="0" indent="0">
              <a:spcBef>
                <a:spcPct val="0"/>
              </a:spcBef>
              <a:buFontTx/>
              <a:buNone/>
            </a:pPr>
            <a:r>
              <a:rPr lang="en-US" altLang="zh-CN" dirty="0" smtClean="0">
                <a:solidFill>
                  <a:schemeClr val="bg1"/>
                </a:solidFill>
                <a:latin typeface="黑体" panose="02010609060101010101" pitchFamily="49" charset="-122"/>
                <a:ea typeface="黑体" panose="02010609060101010101" pitchFamily="49" charset="-122"/>
              </a:rPr>
              <a:t>2</a:t>
            </a:r>
            <a:r>
              <a:rPr lang="zh-CN" altLang="en-US" dirty="0" smtClean="0">
                <a:solidFill>
                  <a:schemeClr val="bg1"/>
                </a:solidFill>
                <a:latin typeface="黑体" panose="02010609060101010101" pitchFamily="49" charset="-122"/>
                <a:ea typeface="黑体" panose="02010609060101010101" pitchFamily="49" charset="-122"/>
              </a:rPr>
              <a:t>、三个选择</a:t>
            </a:r>
            <a:endParaRPr lang="zh-CN" altLang="en-US" dirty="0">
              <a:solidFill>
                <a:srgbClr val="FFFF00"/>
              </a:solidFill>
              <a:latin typeface="黑体" panose="02010609060101010101" pitchFamily="49" charset="-122"/>
              <a:ea typeface="黑体" panose="02010609060101010101" pitchFamily="49" charset="-122"/>
            </a:endParaRPr>
          </a:p>
        </p:txBody>
      </p:sp>
      <p:pic>
        <p:nvPicPr>
          <p:cNvPr id="12293" name="图片 13322" descr="300000801560133576845084266_950"/>
          <p:cNvPicPr>
            <a:picLocks noChangeAspect="1"/>
          </p:cNvPicPr>
          <p:nvPr/>
        </p:nvPicPr>
        <p:blipFill>
          <a:blip r:embed="rId4"/>
          <a:stretch>
            <a:fillRect/>
          </a:stretch>
        </p:blipFill>
        <p:spPr>
          <a:xfrm>
            <a:off x="250825" y="1989138"/>
            <a:ext cx="2520950" cy="3579812"/>
          </a:xfrm>
          <a:prstGeom prst="rect">
            <a:avLst/>
          </a:prstGeom>
          <a:noFill/>
          <a:ln w="9525">
            <a:noFill/>
          </a:ln>
        </p:spPr>
      </p:pic>
      <p:sp>
        <p:nvSpPr>
          <p:cNvPr id="12294" name="标题 1"/>
          <p:cNvSpPr>
            <a:spLocks noGrp="1"/>
          </p:cNvSpPr>
          <p:nvPr/>
        </p:nvSpPr>
        <p:spPr>
          <a:xfrm>
            <a:off x="395288" y="161238"/>
            <a:ext cx="8480425" cy="782637"/>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a:spcBef>
                <a:spcPct val="0"/>
              </a:spcBef>
              <a:buFontTx/>
              <a:buNone/>
            </a:pPr>
            <a:r>
              <a:rPr lang="zh-CN" altLang="en-US" sz="3600" b="1" dirty="0">
                <a:solidFill>
                  <a:srgbClr val="FFFF00"/>
                </a:solidFill>
                <a:ea typeface="黑体" panose="02010609060101010101" pitchFamily="49" charset="-122"/>
                <a:sym typeface="宋体" panose="02010600030101010101" pitchFamily="2" charset="-122"/>
              </a:rPr>
              <a:t>一、</a:t>
            </a:r>
            <a:r>
              <a:rPr lang="zh-CN" altLang="en-US" sz="3600" b="1" dirty="0">
                <a:solidFill>
                  <a:srgbClr val="FFFF00"/>
                </a:solidFill>
                <a:ea typeface="黑体" panose="02010609060101010101" pitchFamily="49" charset="-122"/>
              </a:rPr>
              <a:t>为什么是陈独秀？</a:t>
            </a:r>
          </a:p>
        </p:txBody>
      </p:sp>
    </p:spTree>
  </p:cSld>
  <p:clrMapOvr>
    <a:masterClrMapping/>
  </p:clrMapOvr>
  <p:transition>
    <p:split orient="vert" dir="in"/>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377825" y="274638"/>
            <a:ext cx="8480425" cy="1325562"/>
          </a:xfrm>
        </p:spPr>
        <p:txBody>
          <a:bodyPr vert="horz" wrap="square" lIns="91440" tIns="45720" rIns="91440" bIns="45720" anchor="ctr" anchorCtr="0"/>
          <a:lstStyle/>
          <a:p>
            <a:r>
              <a:rPr lang="zh-CN" altLang="en-US" sz="3600" b="1" dirty="0">
                <a:solidFill>
                  <a:srgbClr val="FFFF00"/>
                </a:solidFill>
                <a:ea typeface="黑体" panose="02010609060101010101" pitchFamily="49" charset="-122"/>
              </a:rPr>
              <a:t>一、为什么是陈独秀？</a:t>
            </a:r>
          </a:p>
        </p:txBody>
      </p:sp>
      <p:sp>
        <p:nvSpPr>
          <p:cNvPr id="9219" name="内容占位符 2"/>
          <p:cNvSpPr>
            <a:spLocks noGrp="1"/>
          </p:cNvSpPr>
          <p:nvPr>
            <p:ph idx="1"/>
          </p:nvPr>
        </p:nvSpPr>
        <p:spPr>
          <a:xfrm>
            <a:off x="234950" y="1600200"/>
            <a:ext cx="8621713" cy="4525963"/>
          </a:xfrm>
        </p:spPr>
        <p:txBody>
          <a:bodyPr vert="horz" wrap="square" lIns="91440" tIns="45720" rIns="91440" bIns="45720" anchor="t" anchorCtr="0"/>
          <a:lstStyle/>
          <a:p>
            <a:endParaRPr lang="en-US" altLang="zh-CN" sz="2800" b="1" dirty="0" smtClean="0">
              <a:solidFill>
                <a:srgbClr val="FFFF00"/>
              </a:solidFill>
              <a:latin typeface="华文中宋" panose="02010600040101010101" pitchFamily="2" charset="-122"/>
              <a:ea typeface="华文中宋" panose="02010600040101010101" pitchFamily="2" charset="-122"/>
            </a:endParaRPr>
          </a:p>
          <a:p>
            <a:r>
              <a:rPr lang="zh-CN" altLang="en-US" sz="2800" b="1" dirty="0" smtClean="0">
                <a:solidFill>
                  <a:srgbClr val="FFFF00"/>
                </a:solidFill>
                <a:latin typeface="华文中宋" panose="02010600040101010101" pitchFamily="2" charset="-122"/>
                <a:ea typeface="华文中宋" panose="02010600040101010101" pitchFamily="2" charset="-122"/>
              </a:rPr>
              <a:t>“三个选择”</a:t>
            </a:r>
            <a:r>
              <a:rPr lang="zh-CN" altLang="en-US" sz="2800" b="1" dirty="0" smtClean="0">
                <a:solidFill>
                  <a:schemeClr val="bg1"/>
                </a:solidFill>
                <a:latin typeface="华文中宋" panose="02010600040101010101" pitchFamily="2" charset="-122"/>
                <a:ea typeface="华文中宋" panose="02010600040101010101" pitchFamily="2" charset="-122"/>
              </a:rPr>
              <a:t>：</a:t>
            </a:r>
            <a:r>
              <a:rPr lang="zh-CN" altLang="en-US" sz="2800" b="1" dirty="0">
                <a:solidFill>
                  <a:schemeClr val="bg1"/>
                </a:solidFill>
                <a:latin typeface="华文中宋" panose="02010600040101010101" pitchFamily="2" charset="-122"/>
                <a:ea typeface="华文中宋" panose="02010600040101010101" pitchFamily="2" charset="-122"/>
              </a:rPr>
              <a:t>五四</a:t>
            </a:r>
            <a:r>
              <a:rPr lang="zh-CN" altLang="en-US" sz="2800" b="1" dirty="0" smtClean="0">
                <a:solidFill>
                  <a:schemeClr val="bg1"/>
                </a:solidFill>
                <a:latin typeface="华文中宋" panose="02010600040101010101" pitchFamily="2" charset="-122"/>
                <a:ea typeface="华文中宋" panose="02010600040101010101" pitchFamily="2" charset="-122"/>
              </a:rPr>
              <a:t>以后转向俄国十月革命，</a:t>
            </a:r>
            <a:r>
              <a:rPr lang="zh-CN" altLang="en-US" sz="2800" b="1" dirty="0">
                <a:solidFill>
                  <a:schemeClr val="bg1"/>
                </a:solidFill>
                <a:latin typeface="华文中宋" panose="02010600040101010101" pitchFamily="2" charset="-122"/>
                <a:ea typeface="华文中宋" panose="02010600040101010101" pitchFamily="2" charset="-122"/>
              </a:rPr>
              <a:t>从而完成</a:t>
            </a:r>
            <a:r>
              <a:rPr lang="zh-CN" altLang="en-US" sz="2800" b="1" dirty="0">
                <a:solidFill>
                  <a:srgbClr val="FFFF00"/>
                </a:solidFill>
                <a:latin typeface="华文中宋" panose="02010600040101010101" pitchFamily="2" charset="-122"/>
                <a:ea typeface="华文中宋" panose="02010600040101010101" pitchFamily="2" charset="-122"/>
              </a:rPr>
              <a:t>选择马克思主义、中国共产党、社会主义</a:t>
            </a:r>
          </a:p>
          <a:p>
            <a:pPr>
              <a:lnSpc>
                <a:spcPct val="150000"/>
              </a:lnSpc>
            </a:pPr>
            <a:endParaRPr lang="en-US" altLang="zh-CN" sz="2800" b="1" dirty="0">
              <a:solidFill>
                <a:schemeClr val="bg1"/>
              </a:solidFill>
              <a:latin typeface="楷体" panose="02010609060101010101" pitchFamily="49" charset="-122"/>
              <a:ea typeface="楷体" panose="02010609060101010101" pitchFamily="49" charset="-122"/>
            </a:endParaRPr>
          </a:p>
          <a:p>
            <a:pPr>
              <a:lnSpc>
                <a:spcPct val="150000"/>
              </a:lnSpc>
            </a:pPr>
            <a:r>
              <a:rPr lang="en-US" altLang="zh-CN" sz="2800" b="1" dirty="0">
                <a:solidFill>
                  <a:schemeClr val="bg1"/>
                </a:solidFill>
                <a:latin typeface="楷体" panose="02010609060101010101" pitchFamily="49" charset="-122"/>
                <a:ea typeface="楷体" panose="02010609060101010101" pitchFamily="49" charset="-122"/>
              </a:rPr>
              <a:t>1920</a:t>
            </a:r>
            <a:r>
              <a:rPr lang="zh-CN" altLang="en-US" sz="2800" b="1" dirty="0">
                <a:solidFill>
                  <a:schemeClr val="bg1"/>
                </a:solidFill>
                <a:latin typeface="楷体" panose="02010609060101010101" pitchFamily="49" charset="-122"/>
                <a:ea typeface="楷体" panose="02010609060101010101" pitchFamily="49" charset="-122"/>
              </a:rPr>
              <a:t>年</a:t>
            </a:r>
            <a:r>
              <a:rPr lang="en-US" altLang="zh-CN" sz="2800" b="1" dirty="0">
                <a:solidFill>
                  <a:schemeClr val="bg1"/>
                </a:solidFill>
                <a:latin typeface="楷体" panose="02010609060101010101" pitchFamily="49" charset="-122"/>
                <a:ea typeface="楷体" panose="02010609060101010101" pitchFamily="49" charset="-122"/>
              </a:rPr>
              <a:t>2</a:t>
            </a:r>
            <a:r>
              <a:rPr lang="zh-CN" altLang="en-US" sz="2800" b="1" dirty="0">
                <a:solidFill>
                  <a:schemeClr val="bg1"/>
                </a:solidFill>
                <a:latin typeface="楷体" panose="02010609060101010101" pitchFamily="49" charset="-122"/>
                <a:ea typeface="楷体" panose="02010609060101010101" pitchFamily="49" charset="-122"/>
              </a:rPr>
              <a:t>月，在李大钊护送下，陈独秀虎口脱险</a:t>
            </a:r>
            <a:r>
              <a:rPr lang="zh-CN" altLang="en-US" sz="2800" b="1" dirty="0" smtClean="0">
                <a:solidFill>
                  <a:schemeClr val="bg1"/>
                </a:solidFill>
                <a:latin typeface="楷体" panose="02010609060101010101" pitchFamily="49" charset="-122"/>
                <a:ea typeface="楷体" panose="02010609060101010101" pitchFamily="49" charset="-122"/>
              </a:rPr>
              <a:t>，从北京逃</a:t>
            </a:r>
            <a:r>
              <a:rPr lang="zh-CN" altLang="en-US" sz="2800" b="1" dirty="0">
                <a:solidFill>
                  <a:schemeClr val="bg1"/>
                </a:solidFill>
                <a:latin typeface="楷体" panose="02010609060101010101" pitchFamily="49" charset="-122"/>
                <a:ea typeface="楷体" panose="02010609060101010101" pitchFamily="49" charset="-122"/>
              </a:rPr>
              <a:t>至</a:t>
            </a:r>
            <a:r>
              <a:rPr lang="zh-CN" altLang="en-US" sz="2800" b="1" dirty="0" smtClean="0">
                <a:solidFill>
                  <a:schemeClr val="bg1"/>
                </a:solidFill>
                <a:latin typeface="楷体" panose="02010609060101010101" pitchFamily="49" charset="-122"/>
                <a:ea typeface="楷体" panose="02010609060101010101" pitchFamily="49" charset="-122"/>
              </a:rPr>
              <a:t>天津转赴上海</a:t>
            </a:r>
            <a:r>
              <a:rPr lang="zh-CN" altLang="en-US" sz="2800" b="1" dirty="0">
                <a:solidFill>
                  <a:schemeClr val="bg1"/>
                </a:solidFill>
                <a:latin typeface="楷体" panose="02010609060101010101" pitchFamily="49" charset="-122"/>
                <a:ea typeface="楷体" panose="02010609060101010101" pitchFamily="49" charset="-122"/>
              </a:rPr>
              <a:t>开始建党，</a:t>
            </a:r>
            <a:r>
              <a:rPr lang="zh-CN" altLang="en-US" sz="2800" b="1" dirty="0" smtClean="0">
                <a:solidFill>
                  <a:schemeClr val="bg1"/>
                </a:solidFill>
                <a:latin typeface="楷体" panose="02010609060101010101" pitchFamily="49" charset="-122"/>
                <a:ea typeface="楷体" panose="02010609060101010101" pitchFamily="49" charset="-122"/>
              </a:rPr>
              <a:t>如“</a:t>
            </a:r>
            <a:r>
              <a:rPr lang="zh-CN" altLang="en-US" sz="2800" b="1" dirty="0">
                <a:solidFill>
                  <a:schemeClr val="bg1"/>
                </a:solidFill>
                <a:latin typeface="楷体" panose="02010609060101010101" pitchFamily="49" charset="-122"/>
                <a:ea typeface="楷体" panose="02010609060101010101" pitchFamily="49" charset="-122"/>
              </a:rPr>
              <a:t>鱼入大海，鸟上青霄”</a:t>
            </a:r>
            <a:r>
              <a:rPr lang="zh-CN" altLang="en-US" sz="2800" b="1" dirty="0" smtClean="0">
                <a:solidFill>
                  <a:schemeClr val="bg1"/>
                </a:solidFill>
                <a:latin typeface="楷体" panose="02010609060101010101" pitchFamily="49" charset="-122"/>
                <a:ea typeface="楷体" panose="02010609060101010101" pitchFamily="49" charset="-122"/>
              </a:rPr>
              <a:t>，产生了</a:t>
            </a:r>
            <a:r>
              <a:rPr lang="zh-CN" altLang="en-US" sz="2800" b="1" dirty="0">
                <a:solidFill>
                  <a:schemeClr val="bg1"/>
                </a:solidFill>
                <a:latin typeface="楷体" panose="02010609060101010101" pitchFamily="49" charset="-122"/>
                <a:ea typeface="楷体" panose="02010609060101010101" pitchFamily="49" charset="-122"/>
              </a:rPr>
              <a:t>开天辟地</a:t>
            </a:r>
            <a:r>
              <a:rPr lang="zh-CN" altLang="en-US" sz="2800" b="1" dirty="0" smtClean="0">
                <a:solidFill>
                  <a:schemeClr val="bg1"/>
                </a:solidFill>
                <a:latin typeface="楷体" panose="02010609060101010101" pitchFamily="49" charset="-122"/>
                <a:ea typeface="楷体" panose="02010609060101010101" pitchFamily="49" charset="-122"/>
              </a:rPr>
              <a:t>的大事变。</a:t>
            </a:r>
            <a:r>
              <a:rPr lang="zh-CN" altLang="en-US" sz="2800" b="1" dirty="0">
                <a:solidFill>
                  <a:schemeClr val="bg1"/>
                </a:solidFill>
                <a:latin typeface="楷体" panose="02010609060101010101" pitchFamily="49" charset="-122"/>
                <a:ea typeface="楷体" panose="02010609060101010101" pitchFamily="49" charset="-122"/>
              </a:rPr>
              <a:t>作为</a:t>
            </a:r>
            <a:r>
              <a:rPr lang="zh-CN" altLang="en-US" sz="2800" b="1" dirty="0">
                <a:solidFill>
                  <a:srgbClr val="FFFF00"/>
                </a:solidFill>
                <a:latin typeface="楷体" panose="02010609060101010101" pitchFamily="49" charset="-122"/>
                <a:ea typeface="楷体" panose="02010609060101010101" pitchFamily="49" charset="-122"/>
              </a:rPr>
              <a:t>社会名流和“青年导师”</a:t>
            </a:r>
            <a:r>
              <a:rPr lang="zh-CN" altLang="en-US" sz="2800" b="1" dirty="0">
                <a:solidFill>
                  <a:schemeClr val="bg1"/>
                </a:solidFill>
                <a:latin typeface="楷体" panose="02010609060101010101" pitchFamily="49" charset="-122"/>
                <a:ea typeface="楷体" panose="02010609060101010101" pitchFamily="49" charset="-122"/>
              </a:rPr>
              <a:t>，他的转变带动了一代青年。</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vert="horz" wrap="square" lIns="91440" tIns="45720" rIns="91440" bIns="45720" anchor="ctr" anchorCtr="0"/>
          <a:lstStyle/>
          <a:p>
            <a:endParaRPr lang="zh-CN" altLang="en-US" dirty="0"/>
          </a:p>
        </p:txBody>
      </p:sp>
      <p:pic>
        <p:nvPicPr>
          <p:cNvPr id="10243" name="内容占位符 3"/>
          <p:cNvPicPr>
            <a:picLocks noGrp="1" noChangeAspect="1"/>
          </p:cNvPicPr>
          <p:nvPr>
            <p:ph idx="1"/>
          </p:nvPr>
        </p:nvPicPr>
        <p:blipFill>
          <a:blip r:embed="rId2"/>
          <a:srcRect/>
          <a:stretch>
            <a:fillRect/>
          </a:stretch>
        </p:blipFill>
        <p:spPr>
          <a:xfrm>
            <a:off x="-30162" y="-4762"/>
            <a:ext cx="9204325" cy="6880225"/>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idx="4294967295"/>
          </p:nvPr>
        </p:nvSpPr>
        <p:spPr>
          <a:xfrm>
            <a:off x="163513" y="274638"/>
            <a:ext cx="8523287" cy="1143000"/>
          </a:xfrm>
        </p:spPr>
        <p:txBody>
          <a:bodyPr vert="horz" wrap="square" lIns="91440" tIns="45720" rIns="91440" bIns="45720" anchor="ctr" anchorCtr="0"/>
          <a:lstStyle/>
          <a:p>
            <a:r>
              <a:rPr lang="zh-CN" altLang="en-US" sz="3200" b="1" dirty="0" smtClean="0">
                <a:solidFill>
                  <a:schemeClr val="bg1"/>
                </a:solidFill>
                <a:latin typeface="黑体" panose="02010609060101010101" pitchFamily="49" charset="-122"/>
                <a:ea typeface="黑体" panose="02010609060101010101" pitchFamily="49" charset="-122"/>
              </a:rPr>
              <a:t>（二）</a:t>
            </a:r>
            <a:r>
              <a:rPr lang="zh-CN" altLang="en-US" sz="3200" b="1" dirty="0">
                <a:solidFill>
                  <a:schemeClr val="bg1"/>
                </a:solidFill>
                <a:latin typeface="黑体" panose="02010609060101010101" pitchFamily="49" charset="-122"/>
                <a:ea typeface="黑体" panose="02010609060101010101" pitchFamily="49" charset="-122"/>
              </a:rPr>
              <a:t>优秀的政治</a:t>
            </a:r>
            <a:r>
              <a:rPr lang="zh-CN" altLang="en-US" sz="3200" b="1" dirty="0" smtClean="0">
                <a:solidFill>
                  <a:schemeClr val="bg1"/>
                </a:solidFill>
                <a:latin typeface="黑体" panose="02010609060101010101" pitchFamily="49" charset="-122"/>
                <a:ea typeface="黑体" panose="02010609060101010101" pitchFamily="49" charset="-122"/>
              </a:rPr>
              <a:t>品质</a:t>
            </a:r>
            <a:r>
              <a:rPr lang="en-US" altLang="zh-CN" sz="3200" b="1" dirty="0" smtClean="0">
                <a:solidFill>
                  <a:schemeClr val="bg1"/>
                </a:solidFill>
                <a:latin typeface="黑体" panose="02010609060101010101" pitchFamily="49" charset="-122"/>
                <a:ea typeface="黑体" panose="02010609060101010101" pitchFamily="49" charset="-122"/>
              </a:rPr>
              <a:t/>
            </a:r>
            <a:br>
              <a:rPr lang="en-US" altLang="zh-CN" sz="3200" b="1" dirty="0" smtClean="0">
                <a:solidFill>
                  <a:schemeClr val="bg1"/>
                </a:solidFill>
                <a:latin typeface="黑体" panose="02010609060101010101" pitchFamily="49" charset="-122"/>
                <a:ea typeface="黑体" panose="02010609060101010101" pitchFamily="49" charset="-122"/>
              </a:rPr>
            </a:br>
            <a:r>
              <a:rPr lang="en-US" altLang="zh-CN" sz="3200" b="1" dirty="0" smtClean="0">
                <a:solidFill>
                  <a:schemeClr val="bg1"/>
                </a:solidFill>
                <a:latin typeface="黑体" panose="02010609060101010101" pitchFamily="49" charset="-122"/>
                <a:ea typeface="黑体" panose="02010609060101010101" pitchFamily="49" charset="-122"/>
              </a:rPr>
              <a:t>1</a:t>
            </a:r>
            <a:r>
              <a:rPr lang="zh-CN" altLang="en-US" sz="3200" b="1" dirty="0" smtClean="0">
                <a:solidFill>
                  <a:schemeClr val="bg1"/>
                </a:solidFill>
                <a:latin typeface="黑体" panose="02010609060101010101" pitchFamily="49" charset="-122"/>
                <a:ea typeface="黑体" panose="02010609060101010101" pitchFamily="49" charset="-122"/>
              </a:rPr>
              <a:t>、</a:t>
            </a:r>
            <a:r>
              <a:rPr lang="zh-CN" altLang="en-US" sz="3200" b="1" dirty="0" smtClean="0">
                <a:solidFill>
                  <a:srgbClr val="FFFF00"/>
                </a:solidFill>
                <a:latin typeface="黑体" panose="02010609060101010101" pitchFamily="49" charset="-122"/>
                <a:ea typeface="黑体" panose="02010609060101010101" pitchFamily="49" charset="-122"/>
              </a:rPr>
              <a:t>坚持</a:t>
            </a:r>
            <a:r>
              <a:rPr lang="zh-CN" altLang="en-US" sz="3200" b="1" dirty="0">
                <a:solidFill>
                  <a:srgbClr val="FFFF00"/>
                </a:solidFill>
                <a:latin typeface="黑体" panose="02010609060101010101" pitchFamily="49" charset="-122"/>
                <a:ea typeface="黑体" panose="02010609060101010101" pitchFamily="49" charset="-122"/>
              </a:rPr>
              <a:t>真理、信仰坚定</a:t>
            </a:r>
            <a:endParaRPr lang="en-US" altLang="zh-CN" sz="3200" b="1" dirty="0">
              <a:solidFill>
                <a:schemeClr val="bg1"/>
              </a:solidFill>
            </a:endParaRPr>
          </a:p>
        </p:txBody>
      </p:sp>
      <p:sp>
        <p:nvSpPr>
          <p:cNvPr id="13315" name="Rectangle 3"/>
          <p:cNvSpPr>
            <a:spLocks noGrp="1"/>
          </p:cNvSpPr>
          <p:nvPr>
            <p:ph idx="4294967295"/>
          </p:nvPr>
        </p:nvSpPr>
        <p:spPr>
          <a:xfrm>
            <a:off x="0" y="1412875"/>
            <a:ext cx="8964488" cy="5214938"/>
          </a:xfrm>
        </p:spPr>
        <p:txBody>
          <a:bodyPr vert="horz" wrap="square" lIns="91440" tIns="45720" rIns="91440" bIns="45720" anchor="t" anchorCtr="0"/>
          <a:lstStyle/>
          <a:p>
            <a:r>
              <a:rPr lang="en-US" altLang="zh-CN" sz="2400" b="1" dirty="0">
                <a:solidFill>
                  <a:schemeClr val="bg1"/>
                </a:solidFill>
                <a:latin typeface="楷体" panose="02010609060101010101" pitchFamily="49" charset="-122"/>
                <a:ea typeface="楷体" panose="02010609060101010101" pitchFamily="49" charset="-122"/>
              </a:rPr>
              <a:t>1919</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6</a:t>
            </a:r>
            <a:r>
              <a:rPr lang="zh-CN" altLang="en-US" sz="2400" b="1" dirty="0">
                <a:solidFill>
                  <a:schemeClr val="bg1"/>
                </a:solidFill>
                <a:latin typeface="楷体" panose="02010609060101010101" pitchFamily="49" charset="-122"/>
                <a:ea typeface="楷体" panose="02010609060101010101" pitchFamily="49" charset="-122"/>
              </a:rPr>
              <a:t>月发表</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研究室与监狱</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，指出：</a:t>
            </a:r>
            <a:r>
              <a:rPr lang="en-US" altLang="zh-CN" sz="2400" b="1" dirty="0">
                <a:solidFill>
                  <a:schemeClr val="bg1"/>
                </a:solidFill>
                <a:latin typeface="楷体" panose="02010609060101010101" pitchFamily="49" charset="-122"/>
                <a:ea typeface="楷体" panose="02010609060101010101" pitchFamily="49" charset="-122"/>
              </a:rPr>
              <a:t>世界文明的发源地有二</a:t>
            </a:r>
            <a:r>
              <a:rPr lang="zh-CN" altLang="en-US" sz="2400" b="1" dirty="0">
                <a:solidFill>
                  <a:schemeClr val="bg1"/>
                </a:solidFill>
                <a:latin typeface="楷体" panose="02010609060101010101" pitchFamily="49" charset="-122"/>
                <a:ea typeface="楷体" panose="02010609060101010101" pitchFamily="49" charset="-122"/>
              </a:rPr>
              <a:t>，</a:t>
            </a:r>
            <a:r>
              <a:rPr lang="en-US" altLang="zh-CN" sz="2400" b="1" dirty="0" smtClean="0">
                <a:solidFill>
                  <a:schemeClr val="bg1"/>
                </a:solidFill>
                <a:latin typeface="楷体" panose="02010609060101010101" pitchFamily="49" charset="-122"/>
                <a:ea typeface="楷体" panose="02010609060101010101" pitchFamily="49" charset="-122"/>
              </a:rPr>
              <a:t>一</a:t>
            </a:r>
            <a:r>
              <a:rPr lang="zh-CN" altLang="en-US" sz="2400" b="1" dirty="0" smtClean="0">
                <a:solidFill>
                  <a:schemeClr val="bg1"/>
                </a:solidFill>
                <a:latin typeface="楷体" panose="02010609060101010101" pitchFamily="49" charset="-122"/>
                <a:ea typeface="楷体" panose="02010609060101010101" pitchFamily="49" charset="-122"/>
              </a:rPr>
              <a:t>曰</a:t>
            </a:r>
            <a:r>
              <a:rPr lang="en-US" altLang="zh-CN" sz="2400" b="1" dirty="0" err="1" smtClean="0">
                <a:solidFill>
                  <a:schemeClr val="bg1"/>
                </a:solidFill>
                <a:latin typeface="楷体" panose="02010609060101010101" pitchFamily="49" charset="-122"/>
                <a:ea typeface="楷体" panose="02010609060101010101" pitchFamily="49" charset="-122"/>
              </a:rPr>
              <a:t>科学研究室</a:t>
            </a:r>
            <a:r>
              <a:rPr lang="en-US" altLang="zh-CN" sz="2400" b="1" dirty="0" err="1">
                <a:solidFill>
                  <a:schemeClr val="bg1"/>
                </a:solidFill>
                <a:latin typeface="楷体" panose="02010609060101010101" pitchFamily="49" charset="-122"/>
                <a:ea typeface="楷体" panose="02010609060101010101" pitchFamily="49" charset="-122"/>
              </a:rPr>
              <a:t>，</a:t>
            </a:r>
            <a:r>
              <a:rPr lang="en-US" altLang="zh-CN" sz="2400" b="1" dirty="0" err="1" smtClean="0">
                <a:solidFill>
                  <a:schemeClr val="bg1"/>
                </a:solidFill>
                <a:latin typeface="楷体" panose="02010609060101010101" pitchFamily="49" charset="-122"/>
                <a:ea typeface="楷体" panose="02010609060101010101" pitchFamily="49" charset="-122"/>
              </a:rPr>
              <a:t>一</a:t>
            </a:r>
            <a:r>
              <a:rPr lang="zh-CN" altLang="en-US" sz="2400" b="1" dirty="0" smtClean="0">
                <a:solidFill>
                  <a:schemeClr val="bg1"/>
                </a:solidFill>
                <a:latin typeface="楷体" panose="02010609060101010101" pitchFamily="49" charset="-122"/>
                <a:ea typeface="楷体" panose="02010609060101010101" pitchFamily="49" charset="-122"/>
              </a:rPr>
              <a:t>曰</a:t>
            </a:r>
            <a:r>
              <a:rPr lang="en-US" altLang="zh-CN" sz="2400" b="1" dirty="0" err="1" smtClean="0">
                <a:solidFill>
                  <a:schemeClr val="bg1"/>
                </a:solidFill>
                <a:latin typeface="楷体" panose="02010609060101010101" pitchFamily="49" charset="-122"/>
                <a:ea typeface="楷体" panose="02010609060101010101" pitchFamily="49" charset="-122"/>
              </a:rPr>
              <a:t>监狱</a:t>
            </a:r>
            <a:r>
              <a:rPr lang="en-US" altLang="zh-CN" sz="2400" b="1" dirty="0" err="1">
                <a:solidFill>
                  <a:schemeClr val="bg1"/>
                </a:solidFill>
                <a:latin typeface="楷体" panose="02010609060101010101" pitchFamily="49" charset="-122"/>
                <a:ea typeface="楷体" panose="02010609060101010101" pitchFamily="49" charset="-122"/>
              </a:rPr>
              <a:t>。</a:t>
            </a:r>
            <a:r>
              <a:rPr lang="en-US" altLang="zh-CN" sz="2400" b="1" dirty="0" err="1" smtClean="0">
                <a:solidFill>
                  <a:schemeClr val="bg1"/>
                </a:solidFill>
                <a:latin typeface="楷体" panose="02010609060101010101" pitchFamily="49" charset="-122"/>
                <a:ea typeface="楷体" panose="02010609060101010101" pitchFamily="49" charset="-122"/>
              </a:rPr>
              <a:t>我们青年</a:t>
            </a:r>
            <a:r>
              <a:rPr lang="zh-CN" altLang="en-US" sz="2400" b="1" dirty="0" smtClean="0">
                <a:solidFill>
                  <a:schemeClr val="bg1"/>
                </a:solidFill>
                <a:latin typeface="楷体" panose="02010609060101010101" pitchFamily="49" charset="-122"/>
                <a:ea typeface="楷体" panose="02010609060101010101" pitchFamily="49" charset="-122"/>
              </a:rPr>
              <a:t>要</a:t>
            </a:r>
            <a:r>
              <a:rPr lang="en-US" altLang="zh-CN" sz="2400" b="1" dirty="0" err="1" smtClean="0">
                <a:solidFill>
                  <a:schemeClr val="bg1"/>
                </a:solidFill>
                <a:latin typeface="楷体" panose="02010609060101010101" pitchFamily="49" charset="-122"/>
                <a:ea typeface="楷体" panose="02010609060101010101" pitchFamily="49" charset="-122"/>
              </a:rPr>
              <a:t>立志出了研究室就入监狱</a:t>
            </a:r>
            <a:r>
              <a:rPr lang="en-US" altLang="zh-CN" sz="2400" b="1" dirty="0" err="1">
                <a:solidFill>
                  <a:schemeClr val="bg1"/>
                </a:solidFill>
                <a:latin typeface="楷体" panose="02010609060101010101" pitchFamily="49" charset="-122"/>
                <a:ea typeface="楷体" panose="02010609060101010101" pitchFamily="49" charset="-122"/>
              </a:rPr>
              <a:t>，出了监狱就入研究室，</a:t>
            </a:r>
            <a:r>
              <a:rPr lang="en-US" altLang="zh-CN" sz="2400" b="1" dirty="0" err="1" smtClean="0">
                <a:solidFill>
                  <a:schemeClr val="bg1"/>
                </a:solidFill>
                <a:latin typeface="楷体" panose="02010609060101010101" pitchFamily="49" charset="-122"/>
                <a:ea typeface="楷体" panose="02010609060101010101" pitchFamily="49" charset="-122"/>
              </a:rPr>
              <a:t>这才是人生最高尚</a:t>
            </a:r>
            <a:r>
              <a:rPr lang="zh-CN" altLang="en-US" sz="2400" b="1" dirty="0" smtClean="0">
                <a:solidFill>
                  <a:schemeClr val="bg1"/>
                </a:solidFill>
                <a:latin typeface="楷体" panose="02010609060101010101" pitchFamily="49" charset="-122"/>
                <a:ea typeface="楷体" panose="02010609060101010101" pitchFamily="49" charset="-122"/>
              </a:rPr>
              <a:t>、</a:t>
            </a:r>
            <a:r>
              <a:rPr lang="en-US" altLang="zh-CN" sz="2400" b="1" dirty="0" err="1" smtClean="0">
                <a:solidFill>
                  <a:schemeClr val="bg1"/>
                </a:solidFill>
                <a:latin typeface="楷体" panose="02010609060101010101" pitchFamily="49" charset="-122"/>
                <a:ea typeface="楷体" panose="02010609060101010101" pitchFamily="49" charset="-122"/>
              </a:rPr>
              <a:t>优美的生活</a:t>
            </a:r>
            <a:r>
              <a:rPr lang="en-US" altLang="zh-CN" sz="2400" b="1" dirty="0" err="1">
                <a:solidFill>
                  <a:schemeClr val="bg1"/>
                </a:solidFill>
                <a:latin typeface="楷体" panose="02010609060101010101" pitchFamily="49" charset="-122"/>
                <a:ea typeface="楷体" panose="02010609060101010101" pitchFamily="49" charset="-122"/>
              </a:rPr>
              <a:t>。从这两处发生的文明，才是真文明，才是有生命有价值的文明</a:t>
            </a:r>
            <a:r>
              <a:rPr lang="en-US" altLang="zh-CN" sz="2400" b="1" dirty="0">
                <a:solidFill>
                  <a:schemeClr val="bg1"/>
                </a:solidFill>
                <a:latin typeface="楷体" panose="02010609060101010101" pitchFamily="49" charset="-122"/>
                <a:ea typeface="楷体" panose="02010609060101010101" pitchFamily="49" charset="-122"/>
              </a:rPr>
              <a:t>。----陈独秀1919（加标题98字）</a:t>
            </a:r>
          </a:p>
          <a:p>
            <a:endParaRPr lang="en-US" altLang="zh-CN" sz="2400" b="1" dirty="0">
              <a:solidFill>
                <a:schemeClr val="bg1"/>
              </a:solidFill>
              <a:latin typeface="楷体" panose="02010609060101010101" pitchFamily="49" charset="-122"/>
              <a:ea typeface="楷体" panose="02010609060101010101"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同</a:t>
            </a:r>
            <a:r>
              <a:rPr lang="zh-CN" altLang="en-US" sz="2400" b="1" dirty="0" smtClean="0">
                <a:solidFill>
                  <a:schemeClr val="bg1"/>
                </a:solidFill>
                <a:latin typeface="楷体" panose="02010609060101010101" pitchFamily="49" charset="-122"/>
                <a:ea typeface="楷体" panose="02010609060101010101" pitchFamily="49" charset="-122"/>
              </a:rPr>
              <a:t>月</a:t>
            </a:r>
            <a:r>
              <a:rPr lang="en-US" altLang="zh-CN" sz="2400" b="1" dirty="0" smtClean="0">
                <a:solidFill>
                  <a:schemeClr val="bg1"/>
                </a:solidFill>
                <a:latin typeface="楷体" panose="02010609060101010101" pitchFamily="49" charset="-122"/>
                <a:ea typeface="楷体" panose="02010609060101010101" pitchFamily="49" charset="-122"/>
              </a:rPr>
              <a:t>9</a:t>
            </a:r>
            <a:r>
              <a:rPr lang="zh-CN" altLang="en-US" sz="2400" b="1" dirty="0" smtClean="0">
                <a:solidFill>
                  <a:schemeClr val="bg1"/>
                </a:solidFill>
                <a:latin typeface="楷体" panose="02010609060101010101" pitchFamily="49" charset="-122"/>
                <a:ea typeface="楷体" panose="02010609060101010101" pitchFamily="49" charset="-122"/>
              </a:rPr>
              <a:t>日印制《北京市民宣言》传单，号召像上海那样</a:t>
            </a:r>
            <a:r>
              <a:rPr lang="zh-CN" altLang="en-US" sz="2400" b="1" dirty="0">
                <a:solidFill>
                  <a:schemeClr val="bg1"/>
                </a:solidFill>
                <a:latin typeface="楷体" panose="02010609060101010101" pitchFamily="49" charset="-122"/>
                <a:ea typeface="楷体" panose="02010609060101010101" pitchFamily="49" charset="-122"/>
              </a:rPr>
              <a:t>举行</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三罢</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斗争，以</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rgbClr val="FFFF00"/>
                </a:solidFill>
                <a:latin typeface="楷体" panose="02010609060101010101" pitchFamily="49" charset="-122"/>
                <a:ea typeface="楷体" panose="02010609060101010101" pitchFamily="49" charset="-122"/>
              </a:rPr>
              <a:t>直接行动</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smtClean="0">
                <a:solidFill>
                  <a:schemeClr val="bg1"/>
                </a:solidFill>
                <a:latin typeface="楷体" panose="02010609060101010101" pitchFamily="49" charset="-122"/>
                <a:ea typeface="楷体" panose="02010609060101010101" pitchFamily="49" charset="-122"/>
              </a:rPr>
              <a:t>争取中国问题的</a:t>
            </a:r>
            <a:r>
              <a:rPr lang="en-US" altLang="zh-CN" sz="2400" b="1" dirty="0" smtClean="0">
                <a:solidFill>
                  <a:schemeClr val="bg1"/>
                </a:solidFill>
                <a:latin typeface="楷体" panose="02010609060101010101" pitchFamily="49" charset="-122"/>
                <a:ea typeface="楷体" panose="02010609060101010101" pitchFamily="49" charset="-122"/>
              </a:rPr>
              <a:t>“</a:t>
            </a:r>
            <a:r>
              <a:rPr lang="zh-CN" altLang="en-US" sz="2400" b="1" dirty="0" smtClean="0">
                <a:solidFill>
                  <a:srgbClr val="FFFF00"/>
                </a:solidFill>
                <a:latin typeface="楷体" panose="02010609060101010101" pitchFamily="49" charset="-122"/>
                <a:ea typeface="楷体" panose="02010609060101010101" pitchFamily="49" charset="-122"/>
              </a:rPr>
              <a:t>彻底解决</a:t>
            </a:r>
            <a:r>
              <a:rPr lang="en-US" altLang="zh-CN" sz="2400" b="1" dirty="0">
                <a:solidFill>
                  <a:schemeClr val="bg1"/>
                </a:solidFill>
                <a:latin typeface="楷体" panose="02010609060101010101" pitchFamily="49" charset="-122"/>
                <a:ea typeface="楷体" panose="02010609060101010101" pitchFamily="49" charset="-122"/>
              </a:rPr>
              <a:t>”</a:t>
            </a:r>
          </a:p>
          <a:p>
            <a:endParaRPr lang="en-US" altLang="zh-CN" sz="2400" b="1" dirty="0">
              <a:solidFill>
                <a:schemeClr val="bg1"/>
              </a:solidFill>
              <a:latin typeface="楷体" panose="02010609060101010101" pitchFamily="49" charset="-122"/>
              <a:ea typeface="楷体" panose="02010609060101010101" pitchFamily="49" charset="-122"/>
            </a:endParaRPr>
          </a:p>
          <a:p>
            <a:r>
              <a:rPr lang="zh-CN" altLang="en-US" sz="2400" b="1" dirty="0" smtClean="0">
                <a:solidFill>
                  <a:schemeClr val="bg1"/>
                </a:solidFill>
                <a:latin typeface="楷体" panose="02010609060101010101" pitchFamily="49" charset="-122"/>
                <a:ea typeface="楷体" panose="02010609060101010101" pitchFamily="49" charset="-122"/>
              </a:rPr>
              <a:t>进入</a:t>
            </a:r>
            <a:r>
              <a:rPr lang="en-US" altLang="zh-CN" sz="2400" b="1" dirty="0" smtClean="0">
                <a:solidFill>
                  <a:schemeClr val="bg1"/>
                </a:solidFill>
                <a:latin typeface="楷体" panose="02010609060101010101" pitchFamily="49" charset="-122"/>
                <a:ea typeface="楷体" panose="02010609060101010101" pitchFamily="49" charset="-122"/>
              </a:rPr>
              <a:t>1920</a:t>
            </a:r>
            <a:r>
              <a:rPr lang="zh-CN" altLang="en-US" sz="2400" b="1" dirty="0" smtClean="0">
                <a:solidFill>
                  <a:schemeClr val="bg1"/>
                </a:solidFill>
                <a:latin typeface="楷体" panose="02010609060101010101" pitchFamily="49" charset="-122"/>
                <a:ea typeface="楷体" panose="02010609060101010101" pitchFamily="49" charset="-122"/>
              </a:rPr>
              <a:t>年，</a:t>
            </a:r>
            <a:r>
              <a:rPr lang="en-US" altLang="zh-CN" sz="2400" b="1" dirty="0" smtClean="0">
                <a:solidFill>
                  <a:schemeClr val="bg1"/>
                </a:solidFill>
                <a:latin typeface="楷体" panose="02010609060101010101" pitchFamily="49" charset="-122"/>
                <a:ea typeface="楷体" panose="02010609060101010101" pitchFamily="49" charset="-122"/>
              </a:rPr>
              <a:t>5</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1</a:t>
            </a:r>
            <a:r>
              <a:rPr lang="zh-CN" altLang="en-US" sz="2400" b="1" dirty="0" smtClean="0">
                <a:solidFill>
                  <a:schemeClr val="bg1"/>
                </a:solidFill>
                <a:latin typeface="楷体" panose="02010609060101010101" pitchFamily="49" charset="-122"/>
                <a:ea typeface="楷体" panose="02010609060101010101" pitchFamily="49" charset="-122"/>
              </a:rPr>
              <a:t>日《新青年》</a:t>
            </a:r>
            <a:r>
              <a:rPr lang="en-US" altLang="zh-CN" sz="2400" b="1" dirty="0">
                <a:solidFill>
                  <a:schemeClr val="bg1"/>
                </a:solidFill>
                <a:latin typeface="楷体" panose="02010609060101010101" pitchFamily="49" charset="-122"/>
                <a:ea typeface="楷体" panose="02010609060101010101" pitchFamily="49" charset="-122"/>
              </a:rPr>
              <a:t>7</a:t>
            </a:r>
            <a:r>
              <a:rPr lang="zh-CN" altLang="en-US" sz="2400" b="1" dirty="0">
                <a:solidFill>
                  <a:schemeClr val="bg1"/>
                </a:solidFill>
                <a:latin typeface="楷体" panose="02010609060101010101" pitchFamily="49" charset="-122"/>
                <a:ea typeface="楷体" panose="02010609060101010101" pitchFamily="49" charset="-122"/>
              </a:rPr>
              <a:t>卷</a:t>
            </a:r>
            <a:r>
              <a:rPr lang="en-US" altLang="zh-CN" sz="2400" b="1" dirty="0">
                <a:solidFill>
                  <a:schemeClr val="bg1"/>
                </a:solidFill>
                <a:latin typeface="楷体" panose="02010609060101010101" pitchFamily="49" charset="-122"/>
                <a:ea typeface="楷体" panose="02010609060101010101" pitchFamily="49" charset="-122"/>
              </a:rPr>
              <a:t>6</a:t>
            </a:r>
            <a:r>
              <a:rPr lang="zh-CN" altLang="en-US" sz="2400" b="1" dirty="0" smtClean="0">
                <a:solidFill>
                  <a:schemeClr val="bg1"/>
                </a:solidFill>
                <a:latin typeface="楷体" panose="02010609060101010101" pitchFamily="49" charset="-122"/>
                <a:ea typeface="楷体" panose="02010609060101010101" pitchFamily="49" charset="-122"/>
              </a:rPr>
              <a:t>号是</a:t>
            </a:r>
            <a:r>
              <a:rPr lang="en-US" altLang="zh-CN" sz="2400" b="1" dirty="0" smtClean="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劳动节纪念号</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，转向马克思列宁主义；</a:t>
            </a:r>
            <a:r>
              <a:rPr lang="en-US" altLang="zh-CN" sz="2400" b="1" dirty="0">
                <a:solidFill>
                  <a:schemeClr val="bg1"/>
                </a:solidFill>
                <a:latin typeface="楷体" panose="02010609060101010101" pitchFamily="49" charset="-122"/>
                <a:ea typeface="楷体" panose="02010609060101010101" pitchFamily="49" charset="-122"/>
              </a:rPr>
              <a:t>8</a:t>
            </a:r>
            <a:r>
              <a:rPr lang="zh-CN" altLang="en-US" sz="2400" b="1" dirty="0">
                <a:solidFill>
                  <a:schemeClr val="bg1"/>
                </a:solidFill>
                <a:latin typeface="楷体" panose="02010609060101010101" pitchFamily="49" charset="-122"/>
                <a:ea typeface="楷体" panose="02010609060101010101" pitchFamily="49" charset="-122"/>
              </a:rPr>
              <a:t>月，中国共产党上海发起组成立，陈独秀任书记，函约各地成立党组织</a:t>
            </a:r>
            <a:r>
              <a:rPr lang="zh-CN" altLang="en-US" sz="2400" b="1" dirty="0" smtClean="0">
                <a:solidFill>
                  <a:schemeClr val="bg1"/>
                </a:solidFill>
                <a:latin typeface="楷体" panose="02010609060101010101" pitchFamily="49" charset="-122"/>
                <a:ea typeface="楷体" panose="02010609060101010101" pitchFamily="49" charset="-122"/>
              </a:rPr>
              <a:t>；</a:t>
            </a:r>
            <a:r>
              <a:rPr lang="en-US" altLang="zh-CN" sz="2400" b="1" dirty="0" smtClean="0">
                <a:solidFill>
                  <a:schemeClr val="bg1"/>
                </a:solidFill>
                <a:latin typeface="楷体" panose="02010609060101010101" pitchFamily="49" charset="-122"/>
                <a:ea typeface="楷体" panose="02010609060101010101" pitchFamily="49" charset="-122"/>
              </a:rPr>
              <a:t>9</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1</a:t>
            </a:r>
            <a:r>
              <a:rPr lang="zh-CN" altLang="en-US" sz="2400" b="1" dirty="0" smtClean="0">
                <a:solidFill>
                  <a:schemeClr val="bg1"/>
                </a:solidFill>
                <a:latin typeface="楷体" panose="02010609060101010101" pitchFamily="49" charset="-122"/>
                <a:ea typeface="楷体" panose="02010609060101010101" pitchFamily="49" charset="-122"/>
              </a:rPr>
              <a:t>日发表</a:t>
            </a:r>
            <a:r>
              <a:rPr lang="en-US" altLang="zh-CN" sz="2400" b="1" dirty="0" smtClean="0">
                <a:solidFill>
                  <a:schemeClr val="bg1"/>
                </a:solidFill>
                <a:latin typeface="楷体" panose="02010609060101010101" pitchFamily="49" charset="-122"/>
                <a:ea typeface="楷体" panose="02010609060101010101" pitchFamily="49" charset="-122"/>
              </a:rPr>
              <a:t>《</a:t>
            </a:r>
            <a:r>
              <a:rPr lang="zh-CN" altLang="en-US" sz="2400" b="1" dirty="0" smtClean="0">
                <a:solidFill>
                  <a:schemeClr val="bg1"/>
                </a:solidFill>
                <a:latin typeface="楷体" panose="02010609060101010101" pitchFamily="49" charset="-122"/>
                <a:ea typeface="楷体" panose="02010609060101010101" pitchFamily="49" charset="-122"/>
              </a:rPr>
              <a:t>谈政治</a:t>
            </a:r>
            <a:r>
              <a:rPr lang="en-US" altLang="zh-CN" sz="2400" b="1" dirty="0" smtClean="0">
                <a:solidFill>
                  <a:schemeClr val="bg1"/>
                </a:solidFill>
                <a:latin typeface="楷体" panose="02010609060101010101" pitchFamily="49" charset="-122"/>
                <a:ea typeface="楷体" panose="02010609060101010101" pitchFamily="49" charset="-122"/>
              </a:rPr>
              <a:t>》</a:t>
            </a:r>
            <a:r>
              <a:rPr lang="zh-CN" altLang="en-US" sz="2400" b="1" dirty="0" smtClean="0">
                <a:solidFill>
                  <a:schemeClr val="bg1"/>
                </a:solidFill>
                <a:latin typeface="楷体" panose="02010609060101010101" pitchFamily="49" charset="-122"/>
                <a:ea typeface="楷体" panose="02010609060101010101" pitchFamily="49" charset="-122"/>
              </a:rPr>
              <a:t>，成为马克思主义者，《新青年》</a:t>
            </a:r>
            <a:r>
              <a:rPr lang="zh-CN" altLang="en-US" sz="2400" b="1" dirty="0">
                <a:solidFill>
                  <a:schemeClr val="bg1"/>
                </a:solidFill>
                <a:latin typeface="楷体" panose="02010609060101010101" pitchFamily="49" charset="-122"/>
                <a:ea typeface="楷体" panose="02010609060101010101" pitchFamily="49" charset="-122"/>
              </a:rPr>
              <a:t>成为马克思主义理论刊物。</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6801"/>
          <p:cNvSpPr>
            <a:spLocks noGrp="1"/>
          </p:cNvSpPr>
          <p:nvPr>
            <p:ph type="title"/>
          </p:nvPr>
        </p:nvSpPr>
        <p:spPr>
          <a:xfrm>
            <a:off x="176213" y="274638"/>
            <a:ext cx="8670925" cy="1143000"/>
          </a:xfrm>
        </p:spPr>
        <p:txBody>
          <a:bodyPr vert="horz" wrap="square" lIns="91440" tIns="45720" rIns="91440" bIns="45720" anchor="ctr" anchorCtr="0"/>
          <a:lstStyle/>
          <a:p>
            <a:r>
              <a:rPr lang="en-US" altLang="zh-CN" sz="3200" b="1" dirty="0" smtClean="0">
                <a:solidFill>
                  <a:schemeClr val="bg1"/>
                </a:solidFill>
                <a:latin typeface="黑体" panose="02010609060101010101" pitchFamily="49" charset="-122"/>
                <a:ea typeface="黑体" panose="02010609060101010101" pitchFamily="49" charset="-122"/>
              </a:rPr>
              <a:t>2</a:t>
            </a:r>
            <a:r>
              <a:rPr lang="zh-CN" altLang="en-US" sz="3200" b="1" dirty="0" smtClean="0">
                <a:solidFill>
                  <a:schemeClr val="bg1"/>
                </a:solidFill>
                <a:latin typeface="黑体" panose="02010609060101010101" pitchFamily="49" charset="-122"/>
                <a:ea typeface="黑体" panose="02010609060101010101" pitchFamily="49" charset="-122"/>
              </a:rPr>
              <a:t>、</a:t>
            </a:r>
            <a:r>
              <a:rPr lang="zh-CN" altLang="en-US" sz="3200" b="1" dirty="0" smtClean="0">
                <a:solidFill>
                  <a:srgbClr val="FFFF00"/>
                </a:solidFill>
                <a:latin typeface="黑体" panose="02010609060101010101" pitchFamily="49" charset="-122"/>
                <a:ea typeface="黑体" panose="02010609060101010101" pitchFamily="49" charset="-122"/>
              </a:rPr>
              <a:t>无私</a:t>
            </a:r>
            <a:r>
              <a:rPr lang="zh-CN" altLang="en-US" sz="3200" b="1" dirty="0">
                <a:solidFill>
                  <a:srgbClr val="FFFF00"/>
                </a:solidFill>
                <a:latin typeface="黑体" panose="02010609060101010101" pitchFamily="49" charset="-122"/>
                <a:ea typeface="黑体" panose="02010609060101010101" pitchFamily="49" charset="-122"/>
              </a:rPr>
              <a:t>奉献、一心为民</a:t>
            </a:r>
          </a:p>
        </p:txBody>
      </p:sp>
      <p:sp>
        <p:nvSpPr>
          <p:cNvPr id="76803" name="文本占位符 76802"/>
          <p:cNvSpPr>
            <a:spLocks noGrp="1"/>
          </p:cNvSpPr>
          <p:nvPr>
            <p:ph sz="half" idx="1"/>
          </p:nvPr>
        </p:nvSpPr>
        <p:spPr>
          <a:xfrm>
            <a:off x="323850" y="1773238"/>
            <a:ext cx="4176713" cy="47513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放弃优厚经济待遇和崇高社会地位，宣传马克思主义，创办无产阶级政党，成为职业革命家和彻底无产者。</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理想信念坚定，意志品质顽强，虽连续两度被捕，仍义无反顾，矢志不移，献身革命。</a:t>
            </a:r>
          </a:p>
        </p:txBody>
      </p:sp>
      <p:pic>
        <p:nvPicPr>
          <p:cNvPr id="15364" name="文本占位符 76804" descr="W020110620493056850066"/>
          <p:cNvPicPr>
            <a:picLocks noGrp="1" noChangeAspect="1"/>
          </p:cNvPicPr>
          <p:nvPr>
            <p:ph sz="half" idx="2"/>
          </p:nvPr>
        </p:nvPicPr>
        <p:blipFill>
          <a:blip r:embed="rId2"/>
          <a:srcRect/>
          <a:stretch>
            <a:fillRect/>
          </a:stretch>
        </p:blipFill>
        <p:spPr>
          <a:xfrm>
            <a:off x="4716463" y="2492375"/>
            <a:ext cx="3959225" cy="2879725"/>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76801"/>
          <p:cNvSpPr>
            <a:spLocks noGrp="1"/>
          </p:cNvSpPr>
          <p:nvPr>
            <p:ph type="title"/>
          </p:nvPr>
        </p:nvSpPr>
        <p:spPr>
          <a:xfrm>
            <a:off x="457200" y="274638"/>
            <a:ext cx="8435975" cy="1143000"/>
          </a:xfrm>
        </p:spPr>
        <p:txBody>
          <a:bodyPr vert="horz" wrap="square" lIns="91440" tIns="45720" rIns="91440" bIns="45720" anchor="ctr" anchorCtr="0"/>
          <a:lstStyle/>
          <a:p>
            <a:r>
              <a:rPr lang="en-US" altLang="zh-CN" sz="3200" b="1" dirty="0" smtClean="0">
                <a:solidFill>
                  <a:schemeClr val="bg1"/>
                </a:solidFill>
                <a:latin typeface="黑体" panose="02010609060101010101" pitchFamily="49" charset="-122"/>
                <a:ea typeface="黑体" panose="02010609060101010101" pitchFamily="49" charset="-122"/>
              </a:rPr>
              <a:t>2</a:t>
            </a:r>
            <a:r>
              <a:rPr lang="zh-CN" altLang="en-US" sz="3200" b="1" dirty="0" smtClean="0">
                <a:solidFill>
                  <a:schemeClr val="bg1"/>
                </a:solidFill>
                <a:latin typeface="黑体" panose="02010609060101010101" pitchFamily="49" charset="-122"/>
                <a:ea typeface="黑体" panose="02010609060101010101" pitchFamily="49" charset="-122"/>
              </a:rPr>
              <a:t>、</a:t>
            </a:r>
            <a:r>
              <a:rPr lang="zh-CN" altLang="en-US" sz="3200" b="1" dirty="0" smtClean="0">
                <a:solidFill>
                  <a:srgbClr val="FFFF00"/>
                </a:solidFill>
                <a:latin typeface="黑体" panose="02010609060101010101" pitchFamily="49" charset="-122"/>
                <a:ea typeface="黑体" panose="02010609060101010101" pitchFamily="49" charset="-122"/>
              </a:rPr>
              <a:t>无私</a:t>
            </a:r>
            <a:r>
              <a:rPr lang="zh-CN" altLang="en-US" sz="3200" b="1" dirty="0">
                <a:solidFill>
                  <a:srgbClr val="FFFF00"/>
                </a:solidFill>
                <a:latin typeface="黑体" panose="02010609060101010101" pitchFamily="49" charset="-122"/>
                <a:ea typeface="黑体" panose="02010609060101010101" pitchFamily="49" charset="-122"/>
              </a:rPr>
              <a:t>奉献、一心为民</a:t>
            </a:r>
            <a:endParaRPr lang="zh-CN" altLang="en-US" sz="3200" b="1" dirty="0">
              <a:solidFill>
                <a:schemeClr val="bg1"/>
              </a:solidFill>
              <a:latin typeface="华文中宋" panose="02010600040101010101" pitchFamily="2" charset="-122"/>
              <a:ea typeface="华文中宋" panose="02010600040101010101" pitchFamily="2" charset="-122"/>
            </a:endParaRPr>
          </a:p>
        </p:txBody>
      </p:sp>
      <p:sp>
        <p:nvSpPr>
          <p:cNvPr id="76803" name="文本占位符 76802"/>
          <p:cNvSpPr>
            <a:spLocks noGrp="1"/>
          </p:cNvSpPr>
          <p:nvPr>
            <p:ph sz="half" idx="1"/>
          </p:nvPr>
        </p:nvSpPr>
        <p:spPr>
          <a:xfrm>
            <a:off x="323850" y="1619250"/>
            <a:ext cx="8712200" cy="49053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rPr>
              <a:t>为建党伟业和革命大业，他既</a:t>
            </a:r>
            <a:r>
              <a:rPr kumimoji="0" lang="en-US" altLang="zh-CN"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rPr>
              <a:t>“</a:t>
            </a:r>
            <a:r>
              <a:rPr kumimoji="0" lang="zh-CN" altLang="en-US" sz="2800" b="1" i="0" u="none" strike="noStrike" kern="1200" cap="none" spc="0" normalizeH="0" baseline="0" noProof="1">
                <a:ln>
                  <a:noFill/>
                </a:ln>
                <a:solidFill>
                  <a:srgbClr val="FFFF00"/>
                </a:solidFill>
                <a:effectLst/>
                <a:uLnTx/>
                <a:uFillTx/>
                <a:latin typeface="宋体" panose="02010600030101010101" pitchFamily="2" charset="-122"/>
                <a:ea typeface="+mn-ea"/>
                <a:cs typeface="+mn-cs"/>
                <a:sym typeface="+mn-ea"/>
              </a:rPr>
              <a:t>放弃高薪、放弃家产、放弃地位</a:t>
            </a:r>
            <a:r>
              <a:rPr kumimoji="0" lang="en-US" altLang="zh-CN"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rPr>
              <a:t>”</a:t>
            </a:r>
            <a:r>
              <a:rPr kumimoji="0" lang="zh-CN" altLang="en-US"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rPr>
              <a:t>又</a:t>
            </a:r>
            <a:r>
              <a:rPr kumimoji="0" lang="en-US" altLang="zh-CN"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rPr>
              <a:t>“</a:t>
            </a:r>
            <a:r>
              <a:rPr kumimoji="0" lang="zh-CN" altLang="en-US" sz="2800" b="1" i="0" u="none" strike="noStrike" kern="1200" cap="none" spc="0" normalizeH="0" baseline="0" noProof="1">
                <a:ln>
                  <a:noFill/>
                </a:ln>
                <a:solidFill>
                  <a:srgbClr val="FFFF00"/>
                </a:solidFill>
                <a:effectLst/>
                <a:uLnTx/>
                <a:uFillTx/>
                <a:latin typeface="宋体" panose="02010600030101010101" pitchFamily="2" charset="-122"/>
                <a:ea typeface="+mn-ea"/>
                <a:cs typeface="+mn-cs"/>
                <a:sym typeface="+mn-ea"/>
              </a:rPr>
              <a:t>贴金钱、贴房子、贴自由</a:t>
            </a:r>
            <a:r>
              <a:rPr kumimoji="0" lang="en-US" altLang="zh-CN"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rPr>
              <a:t>”</a:t>
            </a:r>
            <a:endParaRPr kumimoji="0" lang="zh-CN" altLang="en-US"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放弃高薪</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：月薪</a:t>
            </a:r>
            <a:r>
              <a:rPr kumimoji="0" lang="en-US" altLang="zh-CN"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300</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大洋</a:t>
            </a:r>
            <a:r>
              <a:rPr kumimoji="0" lang="en-US" altLang="zh-CN"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兼职；</a:t>
            </a:r>
            <a:endPar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放弃家产</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：家产丰厚，他是唯一财产继承人；</a:t>
            </a:r>
            <a:endPar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放弃地位</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：从社会名流多次沦为</a:t>
            </a:r>
            <a:r>
              <a:rPr kumimoji="0" lang="en-US" altLang="zh-CN"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阶下囚</a:t>
            </a:r>
            <a:r>
              <a:rPr kumimoji="0" lang="en-US" altLang="zh-CN"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a:t>
            </a:r>
            <a:endParaRPr kumimoji="0" lang="zh-CN" altLang="en-US" sz="2800" b="1" i="0" u="none" strike="noStrike" kern="1200" cap="none" spc="0" normalizeH="0" baseline="0" noProof="1">
              <a:ln>
                <a:noFill/>
              </a:ln>
              <a:solidFill>
                <a:schemeClr val="bg1"/>
              </a:solidFill>
              <a:effectLst/>
              <a:uLnTx/>
              <a:uFillTx/>
              <a:latin typeface="宋体" panose="02010600030101010101" pitchFamily="2" charset="-122"/>
              <a:ea typeface="+mn-ea"/>
              <a:cs typeface="+mn-cs"/>
              <a:sym typeface="+mn-ea"/>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贴金钱</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：以稿费充党费，为进步团体</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sym typeface="+mn-ea"/>
              </a:rPr>
              <a:t>借款作</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担保；</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贴房子</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：老渔阳里</a:t>
            </a:r>
            <a:r>
              <a:rPr kumimoji="0" lang="en-US" altLang="zh-CN"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号成为进步青年的栖身之所和心中圣地；</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贴儿子</a:t>
            </a:r>
            <a:r>
              <a:rPr kumimoji="0" lang="zh-CN" altLang="en-US" sz="2800" b="1" i="0" u="none" strike="noStrike" kern="1200" cap="none" spc="0" normalizeH="0" baseline="0" noProof="0" dirty="0" smtClean="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：长子陈延年、次子陈乔年均遭蒋介石杀害</a:t>
            </a:r>
            <a:endParaRPr kumimoji="0" lang="zh-CN" altLang="en-US" sz="2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vert="horz" wrap="square" lIns="91440" tIns="45720" rIns="91440" bIns="45720" anchor="ctr" anchorCtr="0"/>
          <a:lstStyle/>
          <a:p>
            <a:endParaRPr lang="zh-CN" altLang="en-US" dirty="0"/>
          </a:p>
        </p:txBody>
      </p:sp>
      <p:pic>
        <p:nvPicPr>
          <p:cNvPr id="17411" name="内容占位符 4"/>
          <p:cNvPicPr>
            <a:picLocks noGrp="1" noChangeAspect="1"/>
          </p:cNvPicPr>
          <p:nvPr>
            <p:ph sz="half" idx="1"/>
            <p:custDataLst>
              <p:tags r:id="rId1"/>
            </p:custDataLst>
          </p:nvPr>
        </p:nvPicPr>
        <p:blipFill>
          <a:blip r:embed="rId3"/>
          <a:srcRect/>
          <a:stretch>
            <a:fillRect/>
          </a:stretch>
        </p:blipFill>
        <p:spPr>
          <a:xfrm>
            <a:off x="20638" y="7938"/>
            <a:ext cx="4484687" cy="6821487"/>
          </a:xfrm>
        </p:spPr>
      </p:pic>
      <p:pic>
        <p:nvPicPr>
          <p:cNvPr id="17412" name="内容占位符 5"/>
          <p:cNvPicPr>
            <a:picLocks noGrp="1" noChangeAspect="1"/>
          </p:cNvPicPr>
          <p:nvPr>
            <p:ph sz="half" idx="2"/>
          </p:nvPr>
        </p:nvPicPr>
        <p:blipFill>
          <a:blip r:embed="rId4"/>
          <a:srcRect/>
          <a:stretch>
            <a:fillRect/>
          </a:stretch>
        </p:blipFill>
        <p:spPr>
          <a:xfrm>
            <a:off x="4721225" y="23813"/>
            <a:ext cx="4464050" cy="6784975"/>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144463" y="274638"/>
            <a:ext cx="8621712" cy="946150"/>
          </a:xfrm>
        </p:spPr>
        <p:txBody>
          <a:bodyPr vert="horz" wrap="square" lIns="91440" tIns="45720" rIns="91440" bIns="45720" anchor="ctr" anchorCtr="0"/>
          <a:lstStyle/>
          <a:p>
            <a:r>
              <a:rPr lang="en-US" altLang="zh-CN" sz="3200" b="1" dirty="0">
                <a:solidFill>
                  <a:schemeClr val="bg1"/>
                </a:solidFill>
                <a:latin typeface="黑体" panose="02010609060101010101" pitchFamily="49" charset="-122"/>
                <a:ea typeface="黑体" panose="02010609060101010101" pitchFamily="49" charset="-122"/>
                <a:sym typeface="宋体" panose="02010600030101010101" pitchFamily="2" charset="-122"/>
              </a:rPr>
              <a:t>3</a:t>
            </a:r>
            <a:r>
              <a:rPr lang="en-US" altLang="zh-CN" sz="3200" b="1" dirty="0" smtClean="0">
                <a:solidFill>
                  <a:schemeClr val="bg1"/>
                </a:solidFill>
                <a:latin typeface="黑体" panose="02010609060101010101" pitchFamily="49" charset="-122"/>
                <a:ea typeface="黑体" panose="02010609060101010101" pitchFamily="49" charset="-122"/>
                <a:sym typeface="宋体" panose="02010600030101010101" pitchFamily="2" charset="-122"/>
              </a:rPr>
              <a:t>、</a:t>
            </a:r>
            <a:r>
              <a:rPr lang="zh-CN" altLang="en-US" sz="3200" b="1" dirty="0" smtClean="0">
                <a:solidFill>
                  <a:schemeClr val="bg1"/>
                </a:solidFill>
                <a:latin typeface="黑体" panose="02010609060101010101" pitchFamily="49" charset="-122"/>
                <a:ea typeface="黑体" panose="02010609060101010101" pitchFamily="49" charset="-122"/>
              </a:rPr>
              <a:t>襟怀</a:t>
            </a:r>
            <a:r>
              <a:rPr lang="zh-CN" altLang="en-US" sz="3200" b="1" dirty="0">
                <a:solidFill>
                  <a:schemeClr val="bg1"/>
                </a:solidFill>
                <a:latin typeface="黑体" panose="02010609060101010101" pitchFamily="49" charset="-122"/>
                <a:ea typeface="黑体" panose="02010609060101010101" pitchFamily="49" charset="-122"/>
              </a:rPr>
              <a:t>坦荡、</a:t>
            </a:r>
            <a:r>
              <a:rPr lang="en-US" altLang="zh-CN" sz="3200" b="1" dirty="0">
                <a:solidFill>
                  <a:schemeClr val="bg1"/>
                </a:solidFill>
                <a:latin typeface="黑体" panose="02010609060101010101" pitchFamily="49" charset="-122"/>
                <a:ea typeface="黑体" panose="02010609060101010101" pitchFamily="49" charset="-122"/>
              </a:rPr>
              <a:t>光明磊落</a:t>
            </a:r>
            <a:endParaRPr lang="zh-CN" altLang="en-US" sz="3200" b="1" dirty="0">
              <a:solidFill>
                <a:schemeClr val="bg1"/>
              </a:solidFill>
              <a:latin typeface="黑体" panose="02010609060101010101" pitchFamily="49" charset="-122"/>
              <a:ea typeface="黑体" panose="02010609060101010101" pitchFamily="49" charset="-122"/>
            </a:endParaRPr>
          </a:p>
        </p:txBody>
      </p:sp>
      <p:sp>
        <p:nvSpPr>
          <p:cNvPr id="18435" name="Rectangle 3"/>
          <p:cNvSpPr>
            <a:spLocks noGrp="1"/>
          </p:cNvSpPr>
          <p:nvPr>
            <p:ph idx="1"/>
          </p:nvPr>
        </p:nvSpPr>
        <p:spPr>
          <a:xfrm>
            <a:off x="457200" y="1600200"/>
            <a:ext cx="8075613" cy="4525963"/>
          </a:xfrm>
        </p:spPr>
        <p:txBody>
          <a:bodyPr vert="horz" wrap="square" lIns="91440" tIns="45720" rIns="91440" bIns="45720" anchor="t" anchorCtr="0"/>
          <a:lstStyle/>
          <a:p>
            <a:pPr>
              <a:lnSpc>
                <a:spcPct val="110000"/>
              </a:lnSpc>
            </a:pPr>
            <a:r>
              <a:rPr lang="zh-CN" altLang="en-US" sz="2800" b="1" dirty="0">
                <a:solidFill>
                  <a:srgbClr val="FFFF00"/>
                </a:solidFill>
                <a:latin typeface="楷体" panose="02010609060101010101" pitchFamily="49" charset="-122"/>
                <a:ea typeface="楷体" panose="02010609060101010101" pitchFamily="49" charset="-122"/>
              </a:rPr>
              <a:t>时人鲁迅</a:t>
            </a:r>
            <a:r>
              <a:rPr lang="zh-CN" altLang="en-US" sz="2800" b="1" dirty="0">
                <a:solidFill>
                  <a:schemeClr val="bg1"/>
                </a:solidFill>
                <a:latin typeface="楷体" panose="02010609060101010101" pitchFamily="49" charset="-122"/>
                <a:ea typeface="楷体" panose="02010609060101010101" pitchFamily="49" charset="-122"/>
              </a:rPr>
              <a:t>评价陈独秀：“假如将韬略比作一间仓库罢，独秀先生的外面竖一面大旗，大书道：‘内皆武器，来者小心</a:t>
            </a:r>
            <a:r>
              <a:rPr lang="en-US" altLang="zh-CN" sz="2800" b="1" dirty="0">
                <a:solidFill>
                  <a:schemeClr val="bg1"/>
                </a:solidFill>
                <a:latin typeface="楷体" panose="02010609060101010101" pitchFamily="49" charset="-122"/>
                <a:ea typeface="楷体" panose="02010609060101010101" pitchFamily="49" charset="-122"/>
              </a:rPr>
              <a:t>!’</a:t>
            </a:r>
            <a:r>
              <a:rPr lang="zh-CN" altLang="en-US" sz="2800" b="1" dirty="0">
                <a:solidFill>
                  <a:schemeClr val="bg1"/>
                </a:solidFill>
                <a:latin typeface="楷体" panose="02010609060101010101" pitchFamily="49" charset="-122"/>
                <a:ea typeface="楷体" panose="02010609060101010101" pitchFamily="49" charset="-122"/>
              </a:rPr>
              <a:t>但那门却开着，里面有几枝枪，几把刀，一目了然，用不着提防。”</a:t>
            </a:r>
            <a:endParaRPr lang="en-US" altLang="zh-CN" sz="2800" b="1" dirty="0">
              <a:solidFill>
                <a:schemeClr val="bg1"/>
              </a:solidFill>
              <a:latin typeface="楷体" panose="02010609060101010101" pitchFamily="49" charset="-122"/>
              <a:ea typeface="楷体" panose="02010609060101010101" pitchFamily="49" charset="-122"/>
            </a:endParaRPr>
          </a:p>
          <a:p>
            <a:pPr>
              <a:lnSpc>
                <a:spcPct val="110000"/>
              </a:lnSpc>
            </a:pPr>
            <a:endParaRPr lang="en-US" altLang="zh-CN" sz="2800" b="1" dirty="0">
              <a:solidFill>
                <a:schemeClr val="bg1"/>
              </a:solidFill>
              <a:latin typeface="楷体" panose="02010609060101010101" pitchFamily="49" charset="-122"/>
              <a:ea typeface="楷体" panose="02010609060101010101" pitchFamily="49" charset="-122"/>
            </a:endParaRPr>
          </a:p>
          <a:p>
            <a:pPr>
              <a:lnSpc>
                <a:spcPct val="110000"/>
              </a:lnSpc>
            </a:pPr>
            <a:r>
              <a:rPr lang="zh-CN" altLang="en-US" sz="2800" b="1" dirty="0">
                <a:solidFill>
                  <a:schemeClr val="bg1"/>
                </a:solidFill>
                <a:latin typeface="楷体" panose="02010609060101010101" pitchFamily="49" charset="-122"/>
                <a:ea typeface="楷体" panose="02010609060101010101" pitchFamily="49" charset="-122"/>
              </a:rPr>
              <a:t>今人</a:t>
            </a:r>
            <a:r>
              <a:rPr lang="zh-CN" altLang="en-US" sz="2800" b="1" dirty="0">
                <a:solidFill>
                  <a:srgbClr val="FFFF00"/>
                </a:solidFill>
                <a:latin typeface="楷体" panose="02010609060101010101" pitchFamily="49" charset="-122"/>
                <a:ea typeface="楷体" panose="02010609060101010101" pitchFamily="49" charset="-122"/>
              </a:rPr>
              <a:t>邓小平</a:t>
            </a:r>
            <a:r>
              <a:rPr lang="zh-CN" altLang="en-US" sz="2800" b="1" dirty="0">
                <a:solidFill>
                  <a:schemeClr val="bg1"/>
                </a:solidFill>
                <a:latin typeface="楷体" panose="02010609060101010101" pitchFamily="49" charset="-122"/>
                <a:ea typeface="楷体" panose="02010609060101010101" pitchFamily="49" charset="-122"/>
              </a:rPr>
              <a:t>曾评价陈独秀是</a:t>
            </a:r>
            <a:r>
              <a:rPr lang="zh-CN" altLang="en-US" sz="2800" b="1" dirty="0">
                <a:solidFill>
                  <a:srgbClr val="FFFF00"/>
                </a:solidFill>
                <a:latin typeface="楷体" panose="02010609060101010101" pitchFamily="49" charset="-122"/>
                <a:ea typeface="楷体" panose="02010609060101010101" pitchFamily="49" charset="-122"/>
              </a:rPr>
              <a:t>不搞阴谋诡计</a:t>
            </a:r>
            <a:r>
              <a:rPr lang="zh-CN" altLang="en-US" sz="2800" b="1" dirty="0">
                <a:solidFill>
                  <a:schemeClr val="bg1"/>
                </a:solidFill>
                <a:latin typeface="楷体" panose="02010609060101010101" pitchFamily="49" charset="-122"/>
                <a:ea typeface="楷体" panose="02010609060101010101" pitchFamily="49" charset="-122"/>
              </a:rPr>
              <a:t>的人。</a:t>
            </a:r>
            <a:r>
              <a:rPr lang="zh-CN" altLang="en-US" sz="2800" b="1" dirty="0">
                <a:solidFill>
                  <a:srgbClr val="FFFF00"/>
                </a:solidFill>
                <a:latin typeface="楷体" panose="02010609060101010101" pitchFamily="49" charset="-122"/>
                <a:ea typeface="楷体" panose="02010609060101010101" pitchFamily="49" charset="-122"/>
              </a:rPr>
              <a:t>李维汉</a:t>
            </a:r>
            <a:r>
              <a:rPr lang="zh-CN" altLang="en-US" sz="2800" b="1" dirty="0">
                <a:solidFill>
                  <a:schemeClr val="bg1"/>
                </a:solidFill>
                <a:latin typeface="楷体" panose="02010609060101010101" pitchFamily="49" charset="-122"/>
                <a:ea typeface="楷体" panose="02010609060101010101" pitchFamily="49" charset="-122"/>
              </a:rPr>
              <a:t>也称陈独秀是“</a:t>
            </a:r>
            <a:r>
              <a:rPr lang="zh-CN" altLang="en-US" sz="2800" b="1" dirty="0">
                <a:solidFill>
                  <a:srgbClr val="FFFF00"/>
                </a:solidFill>
                <a:latin typeface="楷体" panose="02010609060101010101" pitchFamily="49" charset="-122"/>
                <a:ea typeface="楷体" panose="02010609060101010101" pitchFamily="49" charset="-122"/>
              </a:rPr>
              <a:t>党内少有的不搞阴谋诡计的人</a:t>
            </a:r>
            <a:r>
              <a:rPr lang="zh-CN" altLang="en-US" sz="2800" b="1" dirty="0">
                <a:solidFill>
                  <a:schemeClr val="bg1"/>
                </a:solidFill>
                <a:latin typeface="楷体" panose="02010609060101010101" pitchFamily="49" charset="-122"/>
                <a:ea typeface="楷体" panose="02010609060101010101" pitchFamily="49" charset="-122"/>
              </a:rPr>
              <a:t>”。</a:t>
            </a:r>
          </a:p>
          <a:p>
            <a:pPr>
              <a:lnSpc>
                <a:spcPct val="110000"/>
              </a:lnSpc>
            </a:pPr>
            <a:endParaRPr lang="zh-CN" altLang="en-US" sz="28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376238" y="274638"/>
            <a:ext cx="8480425" cy="1093787"/>
          </a:xfrm>
        </p:spPr>
        <p:txBody>
          <a:bodyPr vert="horz" wrap="square" lIns="91440" tIns="45720" rIns="91440" bIns="45720" anchor="ctr" anchorCtr="0"/>
          <a:lstStyle/>
          <a:p>
            <a:r>
              <a:rPr lang="zh-CN" altLang="en-US" sz="3600" b="1" dirty="0">
                <a:solidFill>
                  <a:srgbClr val="FFFF00"/>
                </a:solidFill>
                <a:ea typeface="黑体" panose="02010609060101010101" pitchFamily="49" charset="-122"/>
              </a:rPr>
              <a:t>一、为什么是陈独秀？</a:t>
            </a:r>
          </a:p>
        </p:txBody>
      </p:sp>
      <p:sp>
        <p:nvSpPr>
          <p:cNvPr id="11267" name="内容占位符 2"/>
          <p:cNvSpPr>
            <a:spLocks noGrp="1"/>
          </p:cNvSpPr>
          <p:nvPr>
            <p:ph idx="1"/>
          </p:nvPr>
        </p:nvSpPr>
        <p:spPr>
          <a:xfrm>
            <a:off x="142875" y="1368425"/>
            <a:ext cx="8794750" cy="5216525"/>
          </a:xfrm>
        </p:spPr>
        <p:txBody>
          <a:bodyPr vert="horz" wrap="square" lIns="91440" tIns="45720" rIns="91440" bIns="45720" anchor="t" anchorCtr="0"/>
          <a:lstStyle/>
          <a:p>
            <a:r>
              <a:rPr lang="zh-CN" altLang="en-US" sz="2800" b="1" dirty="0">
                <a:solidFill>
                  <a:schemeClr val="bg1"/>
                </a:solidFill>
                <a:latin typeface="华文中宋" panose="02010600040101010101" pitchFamily="2" charset="-122"/>
                <a:ea typeface="华文中宋" panose="02010600040101010101" pitchFamily="2" charset="-122"/>
              </a:rPr>
              <a:t>（三</a:t>
            </a:r>
            <a:r>
              <a:rPr lang="zh-CN" altLang="en-US" sz="2800" b="1" dirty="0" smtClean="0">
                <a:solidFill>
                  <a:schemeClr val="bg1"/>
                </a:solidFill>
                <a:latin typeface="华文中宋" panose="02010600040101010101" pitchFamily="2" charset="-122"/>
                <a:ea typeface="华文中宋" panose="02010600040101010101" pitchFamily="2" charset="-122"/>
              </a:rPr>
              <a:t>）名人效应：使</a:t>
            </a:r>
            <a:r>
              <a:rPr lang="zh-CN" altLang="en-US" sz="2800" b="1" dirty="0">
                <a:solidFill>
                  <a:schemeClr val="bg1"/>
                </a:solidFill>
                <a:latin typeface="华文中宋" panose="02010600040101010101" pitchFamily="2" charset="-122"/>
                <a:ea typeface="华文中宋" panose="02010600040101010101" pitchFamily="2" charset="-122"/>
              </a:rPr>
              <a:t>党从一开始就</a:t>
            </a:r>
            <a:r>
              <a:rPr lang="en-US" altLang="zh-CN" sz="2800" b="1" dirty="0">
                <a:solidFill>
                  <a:schemeClr val="bg1"/>
                </a:solidFill>
                <a:latin typeface="华文中宋" panose="02010600040101010101" pitchFamily="2" charset="-122"/>
                <a:ea typeface="华文中宋" panose="02010600040101010101" pitchFamily="2" charset="-122"/>
              </a:rPr>
              <a:t>“</a:t>
            </a:r>
            <a:r>
              <a:rPr lang="zh-CN" altLang="en-US" sz="2800" b="1" dirty="0">
                <a:solidFill>
                  <a:srgbClr val="FFFF00"/>
                </a:solidFill>
                <a:latin typeface="华文中宋" panose="02010600040101010101" pitchFamily="2" charset="-122"/>
                <a:ea typeface="华文中宋" panose="02010600040101010101" pitchFamily="2" charset="-122"/>
              </a:rPr>
              <a:t>走了直道</a:t>
            </a:r>
            <a:r>
              <a:rPr lang="en-US" altLang="zh-CN" sz="2800" b="1" dirty="0">
                <a:solidFill>
                  <a:schemeClr val="bg1"/>
                </a:solidFill>
                <a:latin typeface="华文中宋" panose="02010600040101010101" pitchFamily="2" charset="-122"/>
                <a:ea typeface="华文中宋" panose="02010600040101010101" pitchFamily="2" charset="-122"/>
              </a:rPr>
              <a:t>”</a:t>
            </a:r>
            <a:endParaRPr lang="zh-CN" altLang="en-US" b="1" dirty="0">
              <a:solidFill>
                <a:schemeClr val="bg1"/>
              </a:solidFill>
            </a:endParaRPr>
          </a:p>
          <a:p>
            <a:pPr>
              <a:lnSpc>
                <a:spcPct val="115000"/>
              </a:lnSpc>
            </a:pPr>
            <a:r>
              <a:rPr lang="en-US" altLang="zh-CN" sz="2800" b="1" dirty="0">
                <a:solidFill>
                  <a:schemeClr val="bg1"/>
                </a:solidFill>
                <a:latin typeface="楷体" panose="02010609060101010101" pitchFamily="49" charset="-122"/>
                <a:ea typeface="楷体" panose="02010609060101010101" pitchFamily="49" charset="-122"/>
              </a:rPr>
              <a:t>1.</a:t>
            </a:r>
            <a:r>
              <a:rPr lang="zh-CN" altLang="en-US" sz="2800" b="1" dirty="0">
                <a:solidFill>
                  <a:srgbClr val="FFFF00"/>
                </a:solidFill>
                <a:latin typeface="楷体" panose="02010609060101010101" pitchFamily="49" charset="-122"/>
                <a:ea typeface="楷体" panose="02010609060101010101" pitchFamily="49" charset="-122"/>
              </a:rPr>
              <a:t>名流</a:t>
            </a:r>
            <a:r>
              <a:rPr lang="zh-CN" altLang="en-US" sz="2800" b="1" dirty="0" smtClean="0">
                <a:solidFill>
                  <a:srgbClr val="FFFF00"/>
                </a:solidFill>
                <a:latin typeface="楷体" panose="02010609060101010101" pitchFamily="49" charset="-122"/>
                <a:ea typeface="楷体" panose="02010609060101010101" pitchFamily="49" charset="-122"/>
              </a:rPr>
              <a:t>建党</a:t>
            </a:r>
            <a:r>
              <a:rPr lang="zh-CN" altLang="en-US" sz="2800" b="1" dirty="0" smtClean="0">
                <a:solidFill>
                  <a:schemeClr val="bg1"/>
                </a:solidFill>
                <a:latin typeface="楷体" panose="02010609060101010101" pitchFamily="49" charset="-122"/>
                <a:ea typeface="楷体" panose="02010609060101010101" pitchFamily="49" charset="-122"/>
              </a:rPr>
              <a:t>。威望</a:t>
            </a:r>
            <a:r>
              <a:rPr lang="en-US" altLang="zh-CN" sz="2800" b="1" dirty="0" smtClean="0">
                <a:solidFill>
                  <a:schemeClr val="bg1"/>
                </a:solidFill>
                <a:latin typeface="楷体" panose="02010609060101010101" pitchFamily="49" charset="-122"/>
                <a:ea typeface="楷体" panose="02010609060101010101" pitchFamily="49" charset="-122"/>
              </a:rPr>
              <a:t>+</a:t>
            </a:r>
            <a:r>
              <a:rPr lang="zh-CN" altLang="en-US" sz="2800" b="1" dirty="0" smtClean="0">
                <a:solidFill>
                  <a:schemeClr val="bg1"/>
                </a:solidFill>
                <a:latin typeface="楷体" panose="02010609060101010101" pitchFamily="49" charset="-122"/>
                <a:ea typeface="楷体" panose="02010609060101010101" pitchFamily="49" charset="-122"/>
              </a:rPr>
              <a:t>品行</a:t>
            </a:r>
            <a:r>
              <a:rPr lang="en-US" altLang="zh-CN" sz="2800" b="1" dirty="0" smtClean="0">
                <a:solidFill>
                  <a:schemeClr val="bg1"/>
                </a:solidFill>
                <a:latin typeface="楷体" panose="02010609060101010101" pitchFamily="49" charset="-122"/>
                <a:ea typeface="楷体" panose="02010609060101010101" pitchFamily="49" charset="-122"/>
              </a:rPr>
              <a:t>=</a:t>
            </a:r>
            <a:r>
              <a:rPr lang="zh-CN" altLang="en-US" sz="2800" b="1" dirty="0" smtClean="0">
                <a:solidFill>
                  <a:schemeClr val="bg1"/>
                </a:solidFill>
                <a:latin typeface="楷体" panose="02010609060101010101" pitchFamily="49" charset="-122"/>
                <a:ea typeface="楷体" panose="02010609060101010101" pitchFamily="49" charset="-122"/>
              </a:rPr>
              <a:t>凝聚力强，有效维护了党</a:t>
            </a:r>
            <a:r>
              <a:rPr lang="zh-CN" altLang="en-US" sz="2800" b="1" dirty="0">
                <a:solidFill>
                  <a:schemeClr val="bg1"/>
                </a:solidFill>
                <a:latin typeface="楷体" panose="02010609060101010101" pitchFamily="49" charset="-122"/>
                <a:ea typeface="楷体" panose="02010609060101010101" pitchFamily="49" charset="-122"/>
              </a:rPr>
              <a:t>的</a:t>
            </a:r>
            <a:r>
              <a:rPr lang="zh-CN" altLang="en-US" sz="2800" b="1" dirty="0" smtClean="0">
                <a:solidFill>
                  <a:schemeClr val="bg1"/>
                </a:solidFill>
                <a:latin typeface="楷体" panose="02010609060101010101" pitchFamily="49" charset="-122"/>
                <a:ea typeface="楷体" panose="02010609060101010101" pitchFamily="49" charset="-122"/>
              </a:rPr>
              <a:t>团结、统一（列宁、托洛茨基等均倚重</a:t>
            </a:r>
            <a:r>
              <a:rPr lang="zh-CN" altLang="en-US" sz="2800" b="1" dirty="0">
                <a:solidFill>
                  <a:schemeClr val="bg1"/>
                </a:solidFill>
                <a:latin typeface="楷体" panose="02010609060101010101" pitchFamily="49" charset="-122"/>
                <a:ea typeface="楷体" panose="02010609060101010101" pitchFamily="49" charset="-122"/>
              </a:rPr>
              <a:t>）</a:t>
            </a:r>
          </a:p>
          <a:p>
            <a:pPr>
              <a:lnSpc>
                <a:spcPct val="115000"/>
              </a:lnSpc>
              <a:spcBef>
                <a:spcPts val="25"/>
              </a:spcBef>
            </a:pPr>
            <a:r>
              <a:rPr lang="en-US" altLang="zh-CN" sz="2800" b="1" dirty="0">
                <a:solidFill>
                  <a:schemeClr val="bg1"/>
                </a:solidFill>
                <a:latin typeface="楷体" panose="02010609060101010101" pitchFamily="49" charset="-122"/>
                <a:ea typeface="楷体" panose="02010609060101010101" pitchFamily="49" charset="-122"/>
              </a:rPr>
              <a:t>2.</a:t>
            </a:r>
            <a:r>
              <a:rPr lang="zh-CN" altLang="en-US" sz="2800" b="1" dirty="0">
                <a:solidFill>
                  <a:srgbClr val="FFFF00"/>
                </a:solidFill>
                <a:latin typeface="楷体" panose="02010609060101010101" pitchFamily="49" charset="-122"/>
                <a:ea typeface="楷体" panose="02010609060101010101" pitchFamily="49" charset="-122"/>
              </a:rPr>
              <a:t>三大</a:t>
            </a:r>
            <a:r>
              <a:rPr lang="zh-CN" altLang="en-US" sz="2800" b="1" dirty="0" smtClean="0">
                <a:solidFill>
                  <a:srgbClr val="FFFF00"/>
                </a:solidFill>
                <a:latin typeface="楷体" panose="02010609060101010101" pitchFamily="49" charset="-122"/>
                <a:ea typeface="楷体" panose="02010609060101010101" pitchFamily="49" charset="-122"/>
              </a:rPr>
              <a:t>建设。思想</a:t>
            </a:r>
            <a:r>
              <a:rPr lang="zh-CN" altLang="en-US" sz="2800" b="1" dirty="0">
                <a:solidFill>
                  <a:srgbClr val="FFFF00"/>
                </a:solidFill>
                <a:latin typeface="楷体" panose="02010609060101010101" pitchFamily="49" charset="-122"/>
                <a:ea typeface="楷体" panose="02010609060101010101" pitchFamily="49" charset="-122"/>
              </a:rPr>
              <a:t>建设</a:t>
            </a:r>
            <a:r>
              <a:rPr lang="zh-CN" altLang="en-US" sz="2800" b="1" dirty="0" smtClean="0">
                <a:solidFill>
                  <a:schemeClr val="bg1"/>
                </a:solidFill>
                <a:latin typeface="楷体" panose="02010609060101010101" pitchFamily="49" charset="-122"/>
                <a:ea typeface="楷体" panose="02010609060101010101" pitchFamily="49" charset="-122"/>
              </a:rPr>
              <a:t>（“三</a:t>
            </a:r>
            <a:r>
              <a:rPr lang="zh-CN" altLang="en-US" sz="2800" b="1" dirty="0">
                <a:solidFill>
                  <a:schemeClr val="bg1"/>
                </a:solidFill>
                <a:latin typeface="楷体" panose="02010609060101010101" pitchFamily="49" charset="-122"/>
                <a:ea typeface="楷体" panose="02010609060101010101" pitchFamily="49" charset="-122"/>
              </a:rPr>
              <a:t>次大</a:t>
            </a:r>
            <a:r>
              <a:rPr lang="zh-CN" altLang="en-US" sz="2800" b="1" dirty="0" smtClean="0">
                <a:solidFill>
                  <a:schemeClr val="bg1"/>
                </a:solidFill>
                <a:latin typeface="楷体" panose="02010609060101010101" pitchFamily="49" charset="-122"/>
                <a:ea typeface="楷体" panose="02010609060101010101" pitchFamily="49" charset="-122"/>
              </a:rPr>
              <a:t>论战”尤其</a:t>
            </a:r>
            <a:r>
              <a:rPr lang="zh-CN" altLang="en-US" sz="2800" b="1" dirty="0">
                <a:solidFill>
                  <a:schemeClr val="bg1"/>
                </a:solidFill>
                <a:latin typeface="楷体" panose="02010609060101010101" pitchFamily="49" charset="-122"/>
                <a:ea typeface="楷体" panose="02010609060101010101" pitchFamily="49" charset="-122"/>
              </a:rPr>
              <a:t>反对无政府主义思想）、</a:t>
            </a:r>
            <a:r>
              <a:rPr lang="zh-CN" altLang="en-US" sz="2800" b="1" dirty="0">
                <a:solidFill>
                  <a:srgbClr val="FFFF00"/>
                </a:solidFill>
                <a:latin typeface="楷体" panose="02010609060101010101" pitchFamily="49" charset="-122"/>
                <a:ea typeface="楷体" panose="02010609060101010101" pitchFamily="49" charset="-122"/>
              </a:rPr>
              <a:t>组织建设</a:t>
            </a:r>
            <a:r>
              <a:rPr lang="zh-CN" altLang="en-US" sz="2800" b="1" dirty="0" smtClean="0">
                <a:solidFill>
                  <a:schemeClr val="bg1"/>
                </a:solidFill>
                <a:latin typeface="楷体" panose="02010609060101010101" pitchFamily="49" charset="-122"/>
                <a:ea typeface="楷体" panose="02010609060101010101" pitchFamily="49" charset="-122"/>
              </a:rPr>
              <a:t>（推行“铁的纪律”和民主集中制，为列宁主义政党塑形）</a:t>
            </a:r>
            <a:r>
              <a:rPr lang="zh-CN" altLang="en-US" sz="2800" b="1" dirty="0">
                <a:solidFill>
                  <a:schemeClr val="bg1"/>
                </a:solidFill>
                <a:latin typeface="楷体" panose="02010609060101010101" pitchFamily="49" charset="-122"/>
                <a:ea typeface="楷体" panose="02010609060101010101" pitchFamily="49" charset="-122"/>
              </a:rPr>
              <a:t>、</a:t>
            </a:r>
            <a:r>
              <a:rPr lang="zh-CN" altLang="en-US" sz="2800" b="1" dirty="0">
                <a:solidFill>
                  <a:srgbClr val="FFFF00"/>
                </a:solidFill>
                <a:latin typeface="楷体" panose="02010609060101010101" pitchFamily="49" charset="-122"/>
                <a:ea typeface="楷体" panose="02010609060101010101" pitchFamily="49" charset="-122"/>
              </a:rPr>
              <a:t>纪律建设</a:t>
            </a:r>
            <a:r>
              <a:rPr lang="zh-CN" altLang="en-US" sz="2800" b="1" dirty="0">
                <a:solidFill>
                  <a:schemeClr val="bg1"/>
                </a:solidFill>
                <a:latin typeface="楷体" panose="02010609060101010101" pitchFamily="49" charset="-122"/>
                <a:ea typeface="楷体" panose="02010609060101010101" pitchFamily="49" charset="-122"/>
              </a:rPr>
              <a:t>（开除陈、周等，建立中央监察委员会）</a:t>
            </a:r>
            <a:r>
              <a:rPr lang="zh-CN" altLang="en-US" sz="2800" b="1" dirty="0" smtClean="0">
                <a:solidFill>
                  <a:schemeClr val="bg1"/>
                </a:solidFill>
                <a:latin typeface="楷体" panose="02010609060101010101" pitchFamily="49" charset="-122"/>
                <a:ea typeface="楷体" panose="02010609060101010101" pitchFamily="49" charset="-122"/>
              </a:rPr>
              <a:t>并举。</a:t>
            </a:r>
            <a:endParaRPr lang="en-US" altLang="zh-CN" sz="2800" b="1" dirty="0">
              <a:solidFill>
                <a:schemeClr val="bg1"/>
              </a:solidFill>
              <a:latin typeface="楷体" panose="02010609060101010101" pitchFamily="49" charset="-122"/>
              <a:ea typeface="楷体" panose="02010609060101010101" pitchFamily="49" charset="-122"/>
            </a:endParaRPr>
          </a:p>
          <a:p>
            <a:pPr>
              <a:lnSpc>
                <a:spcPct val="115000"/>
              </a:lnSpc>
              <a:spcBef>
                <a:spcPts val="25"/>
              </a:spcBef>
            </a:pPr>
            <a:r>
              <a:rPr lang="en-US" altLang="zh-CN" sz="2800" b="1" dirty="0">
                <a:solidFill>
                  <a:schemeClr val="bg1"/>
                </a:solidFill>
                <a:latin typeface="楷体" panose="02010609060101010101" pitchFamily="49" charset="-122"/>
                <a:ea typeface="楷体" panose="02010609060101010101" pitchFamily="49" charset="-122"/>
              </a:rPr>
              <a:t>3.</a:t>
            </a:r>
            <a:r>
              <a:rPr lang="zh-CN" altLang="en-US" sz="2800" b="1" dirty="0">
                <a:solidFill>
                  <a:schemeClr val="bg1"/>
                </a:solidFill>
                <a:latin typeface="楷体" panose="02010609060101010101" pitchFamily="49" charset="-122"/>
                <a:ea typeface="楷体" panose="02010609060101010101" pitchFamily="49" charset="-122"/>
              </a:rPr>
              <a:t>身后乱</a:t>
            </a:r>
            <a:r>
              <a:rPr lang="zh-CN" altLang="en-US" sz="2800" b="1" dirty="0" smtClean="0">
                <a:solidFill>
                  <a:schemeClr val="bg1"/>
                </a:solidFill>
                <a:latin typeface="楷体" panose="02010609060101010101" pitchFamily="49" charset="-122"/>
                <a:ea typeface="楷体" panose="02010609060101010101" pitchFamily="49" charset="-122"/>
              </a:rPr>
              <a:t>局。其后</a:t>
            </a:r>
            <a:r>
              <a:rPr lang="zh-CN" altLang="en-US" sz="2800" b="1" dirty="0">
                <a:solidFill>
                  <a:schemeClr val="bg1"/>
                </a:solidFill>
                <a:latin typeface="楷体" panose="02010609060101010101" pitchFamily="49" charset="-122"/>
                <a:ea typeface="楷体" panose="02010609060101010101" pitchFamily="49" charset="-122"/>
              </a:rPr>
              <a:t>党内争当领袖、制造分裂事件屡次发生（八七会前争当领袖、张国焘要建新党、所谓</a:t>
            </a:r>
            <a:r>
              <a:rPr lang="en-US" altLang="zh-CN" sz="2800" b="1" dirty="0">
                <a:solidFill>
                  <a:schemeClr val="bg1"/>
                </a:solidFill>
                <a:latin typeface="楷体" panose="02010609060101010101" pitchFamily="49" charset="-122"/>
                <a:ea typeface="楷体" panose="02010609060101010101" pitchFamily="49" charset="-122"/>
              </a:rPr>
              <a:t>“</a:t>
            </a:r>
            <a:r>
              <a:rPr lang="zh-CN" altLang="en-US" sz="2800" b="1" dirty="0">
                <a:solidFill>
                  <a:srgbClr val="FFFF00"/>
                </a:solidFill>
                <a:latin typeface="楷体" panose="02010609060101010101" pitchFamily="49" charset="-122"/>
                <a:ea typeface="楷体" panose="02010609060101010101" pitchFamily="49" charset="-122"/>
              </a:rPr>
              <a:t>江苏省委独立事件</a:t>
            </a:r>
            <a:r>
              <a:rPr lang="en-US" altLang="zh-CN" sz="2800" b="1" dirty="0">
                <a:solidFill>
                  <a:schemeClr val="bg1"/>
                </a:solidFill>
                <a:latin typeface="楷体" panose="02010609060101010101" pitchFamily="49" charset="-122"/>
                <a:ea typeface="楷体" panose="02010609060101010101" pitchFamily="49" charset="-122"/>
              </a:rPr>
              <a:t>”</a:t>
            </a:r>
            <a:r>
              <a:rPr lang="zh-CN" altLang="en-US" sz="2800" b="1" dirty="0">
                <a:solidFill>
                  <a:schemeClr val="bg1"/>
                </a:solidFill>
                <a:latin typeface="楷体" panose="02010609060101010101" pitchFamily="49" charset="-122"/>
                <a:ea typeface="楷体" panose="02010609060101010101" pitchFamily="49" charset="-122"/>
              </a:rPr>
              <a:t>、托派组织、罗章龙事件等）</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WordArt 18"/>
          <p:cNvSpPr>
            <a:spLocks noTextEdit="1"/>
          </p:cNvSpPr>
          <p:nvPr/>
        </p:nvSpPr>
        <p:spPr>
          <a:xfrm>
            <a:off x="396875" y="319088"/>
            <a:ext cx="8491538" cy="112871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0000"/>
                  </a:solidFill>
                  <a:prstDash val="solid"/>
                  <a:headEnd type="none" w="med" len="med"/>
                  <a:tailEnd type="none" w="med" len="med"/>
                </a:ln>
                <a:solidFill>
                  <a:srgbClr val="FFFFFF"/>
                </a:solidFill>
                <a:effectLst>
                  <a:outerShdw dist="35921" dir="2699999" algn="ctr" rotWithShape="0">
                    <a:srgbClr val="808080">
                      <a:alpha val="75000"/>
                    </a:srgbClr>
                  </a:outerShdw>
                </a:effectLst>
                <a:latin typeface="黑体" panose="02010609060101010101" pitchFamily="49" charset="-122"/>
                <a:ea typeface="黑体" panose="02010609060101010101" pitchFamily="49" charset="-122"/>
              </a:rPr>
              <a:t>二、陈独秀是如何在上海建党的？</a:t>
            </a:r>
          </a:p>
        </p:txBody>
      </p:sp>
      <p:sp>
        <p:nvSpPr>
          <p:cNvPr id="2" name="Rectangle 19"/>
          <p:cNvSpPr>
            <a:spLocks noChangeArrowheads="1"/>
          </p:cNvSpPr>
          <p:nvPr/>
        </p:nvSpPr>
        <p:spPr bwMode="auto">
          <a:xfrm>
            <a:off x="187325" y="2120900"/>
            <a:ext cx="8702675" cy="4130675"/>
          </a:xfrm>
          <a:prstGeom prst="rect">
            <a:avLst/>
          </a:prstGeom>
          <a:noFill/>
          <a:ln>
            <a:noFill/>
          </a:ln>
        </p:spPr>
        <p:txBody>
          <a:bodyPr/>
          <a:lstStyle/>
          <a:p>
            <a:pPr marL="342900" marR="0" lvl="0" indent="-342900" algn="l" defTabSz="914400" rtl="0" eaLnBrk="1" fontAlgn="base" latinLnBrk="0" hangingPunct="1">
              <a:lnSpc>
                <a:spcPct val="95000"/>
              </a:lnSpc>
              <a:spcBef>
                <a:spcPct val="25000"/>
              </a:spcBef>
              <a:spcAft>
                <a:spcPct val="0"/>
              </a:spcAft>
              <a:buClr>
                <a:srgbClr val="FFFF00"/>
              </a:buClr>
              <a:buSzTx/>
              <a:buFont typeface="Wingdings" panose="05000000000000000000" pitchFamily="2" charset="2"/>
              <a:buChar char="¥"/>
              <a:defRPr/>
            </a:pPr>
            <a:r>
              <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rPr>
              <a:t>（一）</a:t>
            </a:r>
            <a:r>
              <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坐镇上海法租界老渔阳里“开天辟地”</a:t>
            </a:r>
            <a:endPar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95000"/>
              </a:lnSpc>
              <a:spcBef>
                <a:spcPct val="25000"/>
              </a:spcBef>
              <a:spcAft>
                <a:spcPct val="0"/>
              </a:spcAft>
              <a:buClr>
                <a:srgbClr val="FFFF00"/>
              </a:buClr>
              <a:buSzTx/>
              <a:buFont typeface="Wingdings" panose="05000000000000000000" pitchFamily="2" charset="2"/>
              <a:buChar char="¥"/>
              <a:defRPr/>
            </a:pPr>
            <a:endParaRPr kumimoji="0" lang="zh-CN" altLang="en-US" sz="32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ea"/>
            </a:endParaRPr>
          </a:p>
          <a:p>
            <a:pPr marL="342900" marR="0" lvl="0" indent="-342900" algn="l" defTabSz="914400" rtl="0" eaLnBrk="1" fontAlgn="base" latinLnBrk="0" hangingPunct="1">
              <a:lnSpc>
                <a:spcPct val="95000"/>
              </a:lnSpc>
              <a:spcBef>
                <a:spcPct val="25000"/>
              </a:spcBef>
              <a:spcAft>
                <a:spcPct val="0"/>
              </a:spcAft>
              <a:buClr>
                <a:srgbClr val="FFFF00"/>
              </a:buClr>
              <a:buSzTx/>
              <a:buFont typeface="Wingdings" panose="05000000000000000000" pitchFamily="2" charset="2"/>
              <a:buChar char="¥"/>
              <a:defRPr/>
            </a:pPr>
            <a:r>
              <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（二）成为中共主要创始人和早期主要领导人</a:t>
            </a:r>
            <a:endParaRPr kumimoji="0" lang="zh-CN" altLang="en-US" sz="32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ea"/>
            </a:endParaRPr>
          </a:p>
          <a:p>
            <a:pPr marL="342900" marR="0" lvl="0" indent="-342900" algn="l" defTabSz="914400" rtl="0" eaLnBrk="1" fontAlgn="base" latinLnBrk="0" hangingPunct="1">
              <a:lnSpc>
                <a:spcPct val="95000"/>
              </a:lnSpc>
              <a:spcBef>
                <a:spcPct val="25000"/>
              </a:spcBef>
              <a:spcAft>
                <a:spcPct val="0"/>
              </a:spcAft>
              <a:buClr>
                <a:srgbClr val="FFFF00"/>
              </a:buClr>
              <a:buSzTx/>
              <a:buFont typeface="Wingdings" panose="05000000000000000000" pitchFamily="2" charset="2"/>
              <a:buChar char="¥"/>
              <a:defRPr/>
            </a:pPr>
            <a:endParaRPr kumimoji="0" lang="zh-CN" altLang="en-US" sz="32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ea"/>
            </a:endParaRPr>
          </a:p>
          <a:p>
            <a:pPr marL="342900" marR="0" lvl="0" indent="-342900" algn="l" defTabSz="914400" rtl="0" eaLnBrk="1" fontAlgn="base" latinLnBrk="0" hangingPunct="1">
              <a:lnSpc>
                <a:spcPct val="95000"/>
              </a:lnSpc>
              <a:spcBef>
                <a:spcPct val="25000"/>
              </a:spcBef>
              <a:spcAft>
                <a:spcPct val="0"/>
              </a:spcAft>
              <a:buClr>
                <a:srgbClr val="FFFF00"/>
              </a:buClr>
              <a:buSzTx/>
              <a:buFont typeface="Wingdings" panose="05000000000000000000" pitchFamily="2" charset="2"/>
              <a:buChar char="¥"/>
              <a:defRPr/>
            </a:pPr>
            <a:r>
              <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（三）亲自主持召开中共二大制定首部党章</a:t>
            </a:r>
          </a:p>
          <a:p>
            <a:pPr marL="342900" marR="0" lvl="0" indent="-342900" algn="l" defTabSz="914400" rtl="0" eaLnBrk="1" fontAlgn="base" latinLnBrk="0" hangingPunct="1">
              <a:lnSpc>
                <a:spcPct val="95000"/>
              </a:lnSpc>
              <a:spcBef>
                <a:spcPct val="25000"/>
              </a:spcBef>
              <a:spcAft>
                <a:spcPct val="0"/>
              </a:spcAft>
              <a:buClr>
                <a:srgbClr val="FFFF00"/>
              </a:buClr>
              <a:buSzTx/>
              <a:buFont typeface="Wingdings" panose="05000000000000000000" pitchFamily="2" charset="2"/>
              <a:buChar char="¥"/>
              <a:defRPr/>
            </a:pPr>
            <a:endParaRPr kumimoji="0" lang="zh-CN" altLang="en-US" sz="32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ea"/>
            </a:endParaRPr>
          </a:p>
          <a:p>
            <a:pPr marL="342900" marR="0" lvl="0" indent="-342900" algn="l" defTabSz="914400" rtl="0" eaLnBrk="1" fontAlgn="base" latinLnBrk="0" hangingPunct="1">
              <a:lnSpc>
                <a:spcPct val="95000"/>
              </a:lnSpc>
              <a:spcBef>
                <a:spcPct val="25000"/>
              </a:spcBef>
              <a:spcAft>
                <a:spcPct val="0"/>
              </a:spcAft>
              <a:buClr>
                <a:srgbClr val="FFFF00"/>
              </a:buClr>
              <a:buSzTx/>
              <a:buFont typeface="Wingdings" panose="05000000000000000000" pitchFamily="2" charset="2"/>
              <a:buChar char="¥"/>
              <a:defRPr/>
            </a:pPr>
            <a:r>
              <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（四）中共创建伊始便铸就优良家</a:t>
            </a:r>
            <a:r>
              <a:rPr kumimoji="0" lang="en-US" altLang="zh-CN"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a:t>
            </a:r>
            <a:r>
              <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党</a:t>
            </a:r>
            <a:r>
              <a:rPr kumimoji="0" lang="en-US" altLang="zh-CN"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a:t>
            </a:r>
            <a:r>
              <a:rPr kumimoji="0" lang="zh-CN" altLang="en-US" sz="3200" b="1" i="0" u="none" strike="noStrike" kern="1200" cap="none" spc="0" normalizeH="0" baseline="0" noProof="1">
                <a:ln>
                  <a:noFill/>
                </a:ln>
                <a:solidFill>
                  <a:srgbClr val="FFFF00"/>
                </a:solidFill>
                <a:effectLst/>
                <a:uLnTx/>
                <a:uFillTx/>
                <a:latin typeface="华文中宋" panose="02010600040101010101" pitchFamily="2" charset="-122"/>
                <a:ea typeface="华文中宋" panose="02010600040101010101" pitchFamily="2" charset="-122"/>
                <a:cs typeface="+mn-cs"/>
                <a:sym typeface="+mn-ea"/>
              </a:rPr>
              <a:t>风</a:t>
            </a:r>
            <a:endParaRPr kumimoji="0" lang="zh-CN" altLang="en-US" sz="3200" b="1" i="0" u="none" strike="noStrike" kern="1200" cap="none" spc="0" normalizeH="0" baseline="0" noProof="1">
              <a:ln>
                <a:noFill/>
              </a:ln>
              <a:solidFill>
                <a:schemeClr val="bg1"/>
              </a:solidFill>
              <a:effectLst>
                <a:outerShdw blurRad="38100" dist="38100" dir="2700000">
                  <a:srgbClr val="000000"/>
                </a:outerShdw>
              </a:effectLst>
              <a:uLnTx/>
              <a:uFillTx/>
              <a:latin typeface="楷体_GB2312" pitchFamily="49" charset="-122"/>
              <a:ea typeface="楷体_GB2312" pitchFamily="49" charset="-122"/>
              <a:cs typeface="+mn-ea"/>
            </a:endParaRPr>
          </a:p>
        </p:txBody>
      </p:sp>
    </p:spTree>
  </p:cSld>
  <p:clrMapOvr>
    <a:masterClrMapping/>
  </p:clrMapOvr>
  <p:transition>
    <p:split orient="vert" dir="in"/>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p:txBody>
          <a:bodyPr vert="horz" wrap="square" lIns="91440" tIns="45720" rIns="91440" bIns="45720" anchor="ctr" anchorCtr="0"/>
          <a:lstStyle/>
          <a:p>
            <a:r>
              <a:rPr lang="zh-CN" altLang="en-US" sz="3600" b="1" dirty="0">
                <a:solidFill>
                  <a:srgbClr val="FFFF00"/>
                </a:solidFill>
                <a:latin typeface="华文中宋" panose="02010600040101010101" pitchFamily="2" charset="-122"/>
                <a:ea typeface="华文中宋" panose="02010600040101010101" pitchFamily="2" charset="-122"/>
              </a:rPr>
              <a:t>（一）坐镇上海老渔阳里“开天辟地”</a:t>
            </a:r>
            <a:endParaRPr lang="zh-CN" altLang="en-US" sz="3600" b="1" dirty="0">
              <a:solidFill>
                <a:schemeClr val="bg1"/>
              </a:solidFill>
            </a:endParaRPr>
          </a:p>
        </p:txBody>
      </p:sp>
      <p:sp>
        <p:nvSpPr>
          <p:cNvPr id="20483" name="Rectangle 3"/>
          <p:cNvSpPr>
            <a:spLocks noGrp="1"/>
          </p:cNvSpPr>
          <p:nvPr>
            <p:ph idx="1"/>
          </p:nvPr>
        </p:nvSpPr>
        <p:spPr>
          <a:xfrm>
            <a:off x="357188" y="1712913"/>
            <a:ext cx="8535987" cy="4787900"/>
          </a:xfrm>
        </p:spPr>
        <p:txBody>
          <a:bodyPr vert="horz" wrap="square" lIns="91440" tIns="45720" rIns="91440" bIns="45720" anchor="t" anchorCtr="0"/>
          <a:lstStyle/>
          <a:p>
            <a:r>
              <a:rPr lang="zh-CN" altLang="zh-CN" sz="2800" dirty="0">
                <a:solidFill>
                  <a:schemeClr val="bg1"/>
                </a:solidFill>
                <a:latin typeface="楷体_GB2312" pitchFamily="49" charset="-122"/>
                <a:ea typeface="楷体_GB2312" pitchFamily="49" charset="-122"/>
              </a:rPr>
              <a:t>陈独秀</a:t>
            </a:r>
            <a:r>
              <a:rPr lang="en-US" altLang="zh-CN" sz="2800" dirty="0">
                <a:solidFill>
                  <a:schemeClr val="bg1"/>
                </a:solidFill>
                <a:latin typeface="楷体_GB2312" pitchFamily="49" charset="-122"/>
                <a:ea typeface="楷体_GB2312" pitchFamily="49" charset="-122"/>
              </a:rPr>
              <a:t>1920</a:t>
            </a:r>
            <a:r>
              <a:rPr lang="zh-CN" altLang="zh-CN" sz="2800" dirty="0">
                <a:solidFill>
                  <a:schemeClr val="bg1"/>
                </a:solidFill>
                <a:latin typeface="楷体_GB2312" pitchFamily="49" charset="-122"/>
                <a:ea typeface="楷体_GB2312" pitchFamily="49" charset="-122"/>
              </a:rPr>
              <a:t>年</a:t>
            </a:r>
            <a:r>
              <a:rPr lang="en-US" altLang="zh-CN" sz="2800" dirty="0">
                <a:solidFill>
                  <a:schemeClr val="bg1"/>
                </a:solidFill>
                <a:latin typeface="楷体_GB2312" pitchFamily="49" charset="-122"/>
                <a:ea typeface="楷体_GB2312" pitchFamily="49" charset="-122"/>
              </a:rPr>
              <a:t>3</a:t>
            </a:r>
            <a:r>
              <a:rPr lang="zh-CN" altLang="en-US" sz="2800" dirty="0">
                <a:solidFill>
                  <a:schemeClr val="bg1"/>
                </a:solidFill>
                <a:latin typeface="楷体_GB2312" pitchFamily="49" charset="-122"/>
                <a:ea typeface="楷体_GB2312" pitchFamily="49" charset="-122"/>
              </a:rPr>
              <a:t>月</a:t>
            </a:r>
            <a:r>
              <a:rPr lang="en-US" altLang="zh-CN" sz="2800" dirty="0">
                <a:solidFill>
                  <a:schemeClr val="bg1"/>
                </a:solidFill>
                <a:latin typeface="楷体_GB2312" pitchFamily="49" charset="-122"/>
                <a:ea typeface="楷体_GB2312" pitchFamily="49" charset="-122"/>
              </a:rPr>
              <a:t>-1922</a:t>
            </a:r>
            <a:r>
              <a:rPr lang="zh-CN" altLang="en-US" sz="2800" dirty="0" smtClean="0">
                <a:solidFill>
                  <a:schemeClr val="bg1"/>
                </a:solidFill>
                <a:latin typeface="楷体_GB2312" pitchFamily="49" charset="-122"/>
                <a:ea typeface="楷体_GB2312" pitchFamily="49" charset="-122"/>
              </a:rPr>
              <a:t>年</a:t>
            </a:r>
            <a:r>
              <a:rPr lang="en-US" altLang="zh-CN" sz="2800" smtClean="0">
                <a:solidFill>
                  <a:schemeClr val="bg1"/>
                </a:solidFill>
                <a:latin typeface="楷体_GB2312" pitchFamily="49" charset="-122"/>
                <a:ea typeface="楷体_GB2312" pitchFamily="49" charset="-122"/>
              </a:rPr>
              <a:t>10</a:t>
            </a:r>
            <a:r>
              <a:rPr lang="zh-CN" altLang="en-US" sz="2800" smtClean="0">
                <a:solidFill>
                  <a:schemeClr val="bg1"/>
                </a:solidFill>
                <a:latin typeface="楷体_GB2312" pitchFamily="49" charset="-122"/>
                <a:ea typeface="楷体_GB2312" pitchFamily="49" charset="-122"/>
              </a:rPr>
              <a:t>月</a:t>
            </a:r>
            <a:r>
              <a:rPr lang="zh-CN" altLang="zh-CN" sz="2800" dirty="0">
                <a:solidFill>
                  <a:schemeClr val="bg1"/>
                </a:solidFill>
                <a:latin typeface="楷体_GB2312" pitchFamily="49" charset="-122"/>
                <a:ea typeface="楷体_GB2312" pitchFamily="49" charset="-122"/>
              </a:rPr>
              <a:t>居住在上海法租界环龙路老渔阳里</a:t>
            </a:r>
            <a:r>
              <a:rPr lang="en-US" altLang="zh-CN" sz="2800" dirty="0">
                <a:solidFill>
                  <a:schemeClr val="bg1"/>
                </a:solidFill>
                <a:latin typeface="楷体_GB2312" pitchFamily="49" charset="-122"/>
                <a:ea typeface="楷体_GB2312" pitchFamily="49" charset="-122"/>
              </a:rPr>
              <a:t>2</a:t>
            </a:r>
            <a:r>
              <a:rPr lang="zh-CN" altLang="zh-CN" sz="2800" dirty="0">
                <a:solidFill>
                  <a:schemeClr val="bg1"/>
                </a:solidFill>
                <a:latin typeface="楷体_GB2312" pitchFamily="49" charset="-122"/>
                <a:ea typeface="楷体_GB2312" pitchFamily="49" charset="-122"/>
              </a:rPr>
              <a:t>号（今南昌路</a:t>
            </a:r>
            <a:r>
              <a:rPr lang="en-US" altLang="zh-CN" sz="2800" dirty="0">
                <a:solidFill>
                  <a:schemeClr val="bg1"/>
                </a:solidFill>
                <a:latin typeface="楷体_GB2312" pitchFamily="49" charset="-122"/>
                <a:ea typeface="楷体_GB2312" pitchFamily="49" charset="-122"/>
              </a:rPr>
              <a:t>100</a:t>
            </a:r>
            <a:r>
              <a:rPr lang="zh-CN" altLang="zh-CN" sz="2800" dirty="0">
                <a:solidFill>
                  <a:schemeClr val="bg1"/>
                </a:solidFill>
                <a:latin typeface="楷体_GB2312" pitchFamily="49" charset="-122"/>
                <a:ea typeface="楷体_GB2312" pitchFamily="49" charset="-122"/>
              </a:rPr>
              <a:t>弄</a:t>
            </a:r>
            <a:r>
              <a:rPr lang="en-US" altLang="zh-CN" sz="2800" dirty="0">
                <a:solidFill>
                  <a:schemeClr val="bg1"/>
                </a:solidFill>
                <a:latin typeface="楷体_GB2312" pitchFamily="49" charset="-122"/>
                <a:ea typeface="楷体_GB2312" pitchFamily="49" charset="-122"/>
              </a:rPr>
              <a:t>2</a:t>
            </a:r>
            <a:r>
              <a:rPr lang="zh-CN" altLang="zh-CN" sz="2800" dirty="0">
                <a:solidFill>
                  <a:schemeClr val="bg1"/>
                </a:solidFill>
                <a:latin typeface="楷体_GB2312" pitchFamily="49" charset="-122"/>
                <a:ea typeface="楷体_GB2312" pitchFamily="49" charset="-122"/>
              </a:rPr>
              <a:t>号），在这个被誉为“中国共产主义运动先驱的落脚地”、“中国共产党孕育期和哺乳期的所在地”，重点探究陈独秀以此为居住和工作地点，创建中国共产党并领导中共中央早期工作的若干重要史实，叙述</a:t>
            </a:r>
            <a:r>
              <a:rPr lang="zh-CN" altLang="zh-CN" sz="2800" dirty="0">
                <a:solidFill>
                  <a:srgbClr val="FFFF00"/>
                </a:solidFill>
                <a:latin typeface="楷体_GB2312" pitchFamily="49" charset="-122"/>
                <a:ea typeface="楷体_GB2312" pitchFamily="49" charset="-122"/>
              </a:rPr>
              <a:t>一座普通私宅与一件建党伟业的传奇佳话</a:t>
            </a:r>
            <a:r>
              <a:rPr lang="zh-CN" altLang="zh-CN" sz="2800" dirty="0">
                <a:solidFill>
                  <a:schemeClr val="bg1"/>
                </a:solidFill>
                <a:latin typeface="楷体_GB2312" pitchFamily="49" charset="-122"/>
                <a:ea typeface="楷体_GB2312" pitchFamily="49" charset="-122"/>
              </a:rPr>
              <a:t>。</a:t>
            </a:r>
          </a:p>
          <a:p>
            <a:endParaRPr lang="en-US" altLang="zh-CN" sz="2800" b="1" dirty="0">
              <a:solidFill>
                <a:schemeClr val="bg1"/>
              </a:solidFill>
              <a:latin typeface="楷体_GB2312" pitchFamily="49" charset="-122"/>
              <a:ea typeface="楷体_GB2312"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徐光寿：</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陈独秀在上海的往事</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惊鸿一瞥</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上海老渔阳里的“开天辟地”</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档案春秋</a:t>
            </a:r>
            <a:r>
              <a:rPr lang="en-US" altLang="zh-CN" sz="2400" b="1" dirty="0">
                <a:solidFill>
                  <a:schemeClr val="bg1"/>
                </a:solidFill>
                <a:latin typeface="楷体" panose="02010609060101010101" pitchFamily="49" charset="-122"/>
                <a:ea typeface="楷体" panose="02010609060101010101" pitchFamily="49" charset="-122"/>
              </a:rPr>
              <a:t>》2016</a:t>
            </a:r>
            <a:r>
              <a:rPr lang="zh-CN" altLang="en-US" sz="2400" b="1" dirty="0">
                <a:solidFill>
                  <a:schemeClr val="bg1"/>
                </a:solidFill>
                <a:latin typeface="楷体" panose="02010609060101010101" pitchFamily="49" charset="-122"/>
                <a:ea typeface="楷体" panose="02010609060101010101" pitchFamily="49" charset="-122"/>
              </a:rPr>
              <a:t>年第</a:t>
            </a:r>
            <a:r>
              <a:rPr lang="en-US" altLang="zh-CN" sz="2400" b="1" dirty="0">
                <a:solidFill>
                  <a:schemeClr val="bg1"/>
                </a:solidFill>
                <a:latin typeface="楷体" panose="02010609060101010101" pitchFamily="49" charset="-122"/>
                <a:ea typeface="楷体" panose="02010609060101010101" pitchFamily="49" charset="-122"/>
              </a:rPr>
              <a:t>7</a:t>
            </a:r>
            <a:r>
              <a:rPr lang="zh-CN" altLang="en-US" sz="2400" b="1" dirty="0">
                <a:solidFill>
                  <a:schemeClr val="bg1"/>
                </a:solidFill>
                <a:latin typeface="楷体" panose="02010609060101010101" pitchFamily="49" charset="-122"/>
                <a:ea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rPr>
              <a:t>11</a:t>
            </a:r>
            <a:r>
              <a:rPr lang="zh-CN" altLang="en-US" sz="2400" b="1" dirty="0">
                <a:solidFill>
                  <a:schemeClr val="bg1"/>
                </a:solidFill>
                <a:latin typeface="楷体" panose="02010609060101010101" pitchFamily="49" charset="-122"/>
                <a:ea typeface="楷体" panose="02010609060101010101" pitchFamily="49" charset="-122"/>
              </a:rPr>
              <a:t>期）</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a:xfrm>
            <a:off x="172085" y="116202"/>
            <a:ext cx="8841103" cy="824865"/>
          </a:xfrm>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2015</a:t>
            </a: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年</a:t>
            </a:r>
            <a: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9</a:t>
            </a: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月重修的北京《新青年》编辑部与</a:t>
            </a:r>
            <a: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
            </a:r>
            <a:b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b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陈独秀北京旧居</a:t>
            </a:r>
            <a:endParaRPr kumimoji="0" lang="zh-CN" altLang="en-US" sz="3200" b="0" i="0" u="none" strike="noStrike" kern="1200" cap="none" spc="0" normalizeH="0" baseline="0" noProof="1">
              <a:ln>
                <a:noFill/>
              </a:ln>
              <a:solidFill>
                <a:schemeClr val="tx1"/>
              </a:solidFill>
              <a:effectLst/>
              <a:uLnTx/>
              <a:uFillTx/>
              <a:latin typeface="+mj-lt"/>
              <a:ea typeface="+mj-ea"/>
              <a:cs typeface="+mj-cs"/>
            </a:endParaRPr>
          </a:p>
        </p:txBody>
      </p:sp>
      <p:pic>
        <p:nvPicPr>
          <p:cNvPr id="21507" name="内容占位符 3"/>
          <p:cNvPicPr>
            <a:picLocks noGrp="1" noChangeAspect="1"/>
          </p:cNvPicPr>
          <p:nvPr>
            <p:ph idx="1"/>
            <p:custDataLst>
              <p:tags r:id="rId1"/>
            </p:custDataLst>
          </p:nvPr>
        </p:nvPicPr>
        <p:blipFill>
          <a:blip r:embed="rId3"/>
          <a:srcRect/>
          <a:stretch>
            <a:fillRect/>
          </a:stretch>
        </p:blipFill>
        <p:spPr>
          <a:xfrm>
            <a:off x="-14287" y="1155700"/>
            <a:ext cx="9158287" cy="5697538"/>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a:xfrm>
            <a:off x="186053" y="274952"/>
            <a:ext cx="8805547" cy="814706"/>
          </a:xfrm>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这是</a:t>
            </a:r>
            <a: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2020</a:t>
            </a: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年</a:t>
            </a:r>
            <a: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7</a:t>
            </a: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月</a:t>
            </a:r>
            <a: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1</a:t>
            </a: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日老渔阳里</a:t>
            </a:r>
            <a:r>
              <a:rPr kumimoji="0" lang="en-US" altLang="zh-CN"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2</a:t>
            </a: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sym typeface="+mn-ea"/>
              </a:rPr>
              <a:t>号门前重挂的牌子</a:t>
            </a:r>
          </a:p>
        </p:txBody>
      </p:sp>
      <p:pic>
        <p:nvPicPr>
          <p:cNvPr id="22531" name="内容占位符 3"/>
          <p:cNvPicPr>
            <a:picLocks noGrp="1" noChangeAspect="1"/>
          </p:cNvPicPr>
          <p:nvPr>
            <p:ph idx="1"/>
          </p:nvPr>
        </p:nvPicPr>
        <p:blipFill>
          <a:blip r:embed="rId2"/>
          <a:srcRect/>
          <a:stretch>
            <a:fillRect/>
          </a:stretch>
        </p:blipFill>
        <p:spPr>
          <a:xfrm>
            <a:off x="-11112" y="1417638"/>
            <a:ext cx="9155112" cy="5411787"/>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a:xfrm>
            <a:off x="457200" y="274951"/>
            <a:ext cx="8229600" cy="876300"/>
          </a:xfrm>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1200" cap="none" spc="0" normalizeH="0" baseline="0" noProof="1">
                <a:ln>
                  <a:noFill/>
                </a:ln>
                <a:solidFill>
                  <a:schemeClr val="tx1"/>
                </a:solidFill>
                <a:effectLst/>
                <a:highlight>
                  <a:srgbClr val="FFFF00"/>
                </a:highlight>
                <a:uLnTx/>
                <a:uFillTx/>
                <a:latin typeface="微软雅黑" panose="020B0503020204020204" pitchFamily="34" charset="-122"/>
                <a:ea typeface="微软雅黑" panose="020B0503020204020204" pitchFamily="34" charset="-122"/>
                <a:cs typeface="+mj-cs"/>
              </a:rPr>
              <a:t>在这方面上海应向北京学习、向中央看齐</a:t>
            </a:r>
          </a:p>
        </p:txBody>
      </p:sp>
      <p:pic>
        <p:nvPicPr>
          <p:cNvPr id="23555" name="内容占位符 3"/>
          <p:cNvPicPr>
            <a:picLocks noGrp="1" noChangeAspect="1"/>
          </p:cNvPicPr>
          <p:nvPr>
            <p:ph idx="1"/>
          </p:nvPr>
        </p:nvPicPr>
        <p:blipFill>
          <a:blip r:embed="rId2"/>
          <a:srcRect/>
          <a:stretch>
            <a:fillRect/>
          </a:stretch>
        </p:blipFill>
        <p:spPr>
          <a:xfrm>
            <a:off x="0" y="1281113"/>
            <a:ext cx="9180513" cy="5546725"/>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79388" y="260350"/>
            <a:ext cx="8594725" cy="1143000"/>
          </a:xfrm>
        </p:spPr>
        <p:txBody>
          <a:bodyPr vert="horz" wrap="square" lIns="91440" tIns="45720" rIns="91440" bIns="45720" anchor="ctr" anchorCtr="0"/>
          <a:lstStyle/>
          <a:p>
            <a:r>
              <a:rPr lang="zh-CN" altLang="en-US" sz="3600" b="1" dirty="0">
                <a:solidFill>
                  <a:srgbClr val="FFFF00"/>
                </a:solidFill>
                <a:latin typeface="华文中宋" panose="02010600040101010101" pitchFamily="2" charset="-122"/>
                <a:ea typeface="华文中宋" panose="02010600040101010101" pitchFamily="2" charset="-122"/>
              </a:rPr>
              <a:t>（二）成为中共主要创始人和</a:t>
            </a:r>
            <a:br>
              <a:rPr lang="zh-CN" altLang="en-US" sz="3600" b="1" dirty="0">
                <a:solidFill>
                  <a:srgbClr val="FFFF00"/>
                </a:solidFill>
                <a:latin typeface="华文中宋" panose="02010600040101010101" pitchFamily="2" charset="-122"/>
                <a:ea typeface="华文中宋" panose="02010600040101010101" pitchFamily="2" charset="-122"/>
              </a:rPr>
            </a:br>
            <a:r>
              <a:rPr lang="zh-CN" altLang="en-US" sz="3600" b="1" dirty="0">
                <a:solidFill>
                  <a:srgbClr val="FFFF00"/>
                </a:solidFill>
                <a:latin typeface="华文中宋" panose="02010600040101010101" pitchFamily="2" charset="-122"/>
                <a:ea typeface="华文中宋" panose="02010600040101010101" pitchFamily="2" charset="-122"/>
              </a:rPr>
              <a:t>早期主要领导人</a:t>
            </a:r>
          </a:p>
        </p:txBody>
      </p:sp>
      <p:sp>
        <p:nvSpPr>
          <p:cNvPr id="24579" name="内容占位符 2"/>
          <p:cNvSpPr>
            <a:spLocks noGrp="1"/>
          </p:cNvSpPr>
          <p:nvPr>
            <p:ph idx="1"/>
          </p:nvPr>
        </p:nvSpPr>
        <p:spPr>
          <a:xfrm>
            <a:off x="457200" y="1600200"/>
            <a:ext cx="8229600" cy="4878388"/>
          </a:xfrm>
        </p:spPr>
        <p:txBody>
          <a:bodyPr vert="horz" wrap="square" lIns="91440" tIns="45720" rIns="91440" bIns="45720" anchor="t" anchorCtr="0"/>
          <a:lstStyle/>
          <a:p>
            <a:r>
              <a:rPr lang="zh-CN" altLang="zh-CN" sz="2800" b="1" dirty="0">
                <a:solidFill>
                  <a:schemeClr val="bg1"/>
                </a:solidFill>
                <a:latin typeface="楷体_GB2312" pitchFamily="49" charset="-122"/>
                <a:ea typeface="楷体_GB2312" pitchFamily="49" charset="-122"/>
              </a:rPr>
              <a:t>1.作为中国社会名流，不仅受到俄共（布）中央和共产国际的一致推崇，而且受到党内各方面的一致拥戴，</a:t>
            </a:r>
            <a:r>
              <a:rPr lang="zh-CN" altLang="zh-CN" sz="2800" b="1" dirty="0">
                <a:solidFill>
                  <a:srgbClr val="FFFF00"/>
                </a:solidFill>
                <a:latin typeface="楷体_GB2312" pitchFamily="49" charset="-122"/>
                <a:ea typeface="楷体_GB2312" pitchFamily="49" charset="-122"/>
              </a:rPr>
              <a:t>主持建党非他莫属</a:t>
            </a:r>
            <a:r>
              <a:rPr lang="zh-CN" altLang="zh-CN" sz="2800" b="1" dirty="0">
                <a:solidFill>
                  <a:schemeClr val="bg1"/>
                </a:solidFill>
                <a:latin typeface="楷体_GB2312" pitchFamily="49" charset="-122"/>
                <a:ea typeface="楷体_GB2312" pitchFamily="49" charset="-122"/>
              </a:rPr>
              <a:t>。</a:t>
            </a:r>
            <a:endParaRPr lang="zh-CN" altLang="en-US" sz="2800" b="1" dirty="0">
              <a:solidFill>
                <a:schemeClr val="bg1"/>
              </a:solidFill>
              <a:latin typeface="楷体_GB2312" pitchFamily="49" charset="-122"/>
              <a:ea typeface="楷体_GB2312" pitchFamily="49" charset="-122"/>
            </a:endParaRPr>
          </a:p>
          <a:p>
            <a:endParaRPr lang="zh-CN" altLang="en-US"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2.</a:t>
            </a:r>
            <a:r>
              <a:rPr lang="zh-CN" altLang="zh-CN" sz="2800" b="1" dirty="0">
                <a:solidFill>
                  <a:schemeClr val="bg1"/>
                </a:solidFill>
                <a:latin typeface="楷体_GB2312" pitchFamily="49" charset="-122"/>
                <a:ea typeface="楷体_GB2312" pitchFamily="49" charset="-122"/>
              </a:rPr>
              <a:t>虽未出席党的一大，但成立了党的第一个组织，推动了各地党组织的成立，一大前夕委托陈公博带到会上的</a:t>
            </a:r>
            <a:r>
              <a:rPr lang="en-US" altLang="zh-CN" sz="2800" b="1" dirty="0">
                <a:solidFill>
                  <a:schemeClr val="bg1"/>
                </a:solidFill>
                <a:latin typeface="楷体_GB2312" pitchFamily="49" charset="-122"/>
                <a:ea typeface="楷体_GB2312" pitchFamily="49" charset="-122"/>
              </a:rPr>
              <a:t>“</a:t>
            </a:r>
            <a:r>
              <a:rPr lang="zh-CN" altLang="zh-CN" sz="2800" b="1" dirty="0">
                <a:solidFill>
                  <a:srgbClr val="FFFF00"/>
                </a:solidFill>
                <a:latin typeface="楷体_GB2312" pitchFamily="49" charset="-122"/>
                <a:ea typeface="楷体_GB2312" pitchFamily="49" charset="-122"/>
              </a:rPr>
              <a:t>四点意见</a:t>
            </a:r>
            <a:r>
              <a:rPr lang="en-US" altLang="zh-CN" sz="2800" b="1" dirty="0">
                <a:solidFill>
                  <a:schemeClr val="bg1"/>
                </a:solidFill>
                <a:latin typeface="楷体_GB2312" pitchFamily="49" charset="-122"/>
                <a:ea typeface="楷体_GB2312" pitchFamily="49" charset="-122"/>
              </a:rPr>
              <a:t>”</a:t>
            </a:r>
            <a:r>
              <a:rPr lang="zh-CN" altLang="en-US" sz="2800" b="1" dirty="0">
                <a:solidFill>
                  <a:schemeClr val="bg1"/>
                </a:solidFill>
                <a:latin typeface="楷体_GB2312" pitchFamily="49" charset="-122"/>
                <a:ea typeface="楷体_GB2312" pitchFamily="49" charset="-122"/>
              </a:rPr>
              <a:t>成了大会的主旨；</a:t>
            </a:r>
          </a:p>
          <a:p>
            <a:endParaRPr lang="zh-CN" altLang="en-US"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3.</a:t>
            </a:r>
            <a:r>
              <a:rPr lang="zh-CN" altLang="zh-CN" sz="2800" b="1" dirty="0">
                <a:solidFill>
                  <a:schemeClr val="bg1"/>
                </a:solidFill>
                <a:latin typeface="楷体_GB2312" pitchFamily="49" charset="-122"/>
                <a:ea typeface="楷体_GB2312" pitchFamily="49" charset="-122"/>
                <a:sym typeface="宋体" panose="02010600030101010101" pitchFamily="2" charset="-122"/>
              </a:rPr>
              <a:t>虽缺席党的一大，但仍众望所归地被推选为中央局书记，党的中央局机关就设在他家。</a:t>
            </a:r>
            <a:endParaRPr lang="en-US" altLang="zh-CN" sz="2800"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矩形 1"/>
          <p:cNvSpPr/>
          <p:nvPr/>
        </p:nvSpPr>
        <p:spPr>
          <a:xfrm>
            <a:off x="107315" y="260350"/>
            <a:ext cx="8954770" cy="844142"/>
          </a:xfrm>
          <a:prstGeom prst="rect">
            <a:avLst/>
          </a:prstGeom>
          <a:noFill/>
          <a:ln w="9525">
            <a:noFill/>
          </a:ln>
        </p:spPr>
        <p:txBody>
          <a:bodyPr wrap="square" anchor="t" anchorCtr="0">
            <a:spAutoFit/>
          </a:bodyPr>
          <a:lstStyle/>
          <a:p>
            <a:pPr marL="0" marR="0" lvl="0" indent="0" algn="ctr" defTabSz="914400" rtl="0" eaLnBrk="0" fontAlgn="base" latinLnBrk="0" hangingPunct="0">
              <a:lnSpc>
                <a:spcPct val="150000"/>
              </a:lnSpc>
              <a:spcBef>
                <a:spcPct val="0"/>
              </a:spcBef>
              <a:spcAft>
                <a:spcPct val="0"/>
              </a:spcAft>
              <a:buClrTx/>
              <a:buSzTx/>
              <a:buFontTx/>
              <a:buNone/>
              <a:tabLst/>
              <a:defRPr/>
            </a:pPr>
            <a:r>
              <a:rPr kumimoji="0" lang="zh-CN" altLang="en-US" sz="3600" b="0" i="0" u="none" strike="noStrike" kern="1200" cap="none" spc="0" normalizeH="0" baseline="0" noProof="0" dirty="0" smtClean="0">
                <a:ln>
                  <a:noFill/>
                </a:ln>
                <a:solidFill>
                  <a:srgbClr val="FFFFFF"/>
                </a:solidFill>
                <a:effectLst/>
                <a:uLnTx/>
                <a:uFillTx/>
                <a:latin typeface="华文新魏" panose="02010800040101010101" pitchFamily="2" charset="-122"/>
                <a:ea typeface="华文新魏" panose="02010800040101010101" pitchFamily="2" charset="-122"/>
                <a:cs typeface="+mn-cs"/>
                <a:sym typeface="+mn-ea"/>
              </a:rPr>
              <a:t>陈独秀在中共一大缺席当选领导人</a:t>
            </a:r>
            <a:endParaRPr kumimoji="0" lang="zh-CN" altLang="en-US" sz="3600" b="1" i="0" u="none" strike="noStrike" kern="1200" cap="none" spc="0" normalizeH="0" baseline="0" noProof="0" dirty="0">
              <a:ln>
                <a:noFill/>
              </a:ln>
              <a:solidFill>
                <a:srgbClr val="FFFFFF"/>
              </a:solidFill>
              <a:effectLst/>
              <a:uLnTx/>
              <a:uFillTx/>
              <a:latin typeface="华文新魏" panose="02010800040101010101" pitchFamily="2" charset="-122"/>
              <a:ea typeface="华文新魏" panose="02010800040101010101" pitchFamily="2" charset="-122"/>
              <a:cs typeface="楷体" panose="02010609060101010101" pitchFamily="49" charset="-122"/>
              <a:sym typeface="+mn-ea"/>
            </a:endParaRPr>
          </a:p>
        </p:txBody>
      </p:sp>
      <p:sp>
        <p:nvSpPr>
          <p:cNvPr id="10242" name="Rectangle 3"/>
          <p:cNvSpPr txBox="1"/>
          <p:nvPr/>
        </p:nvSpPr>
        <p:spPr>
          <a:xfrm>
            <a:off x="107315" y="1556791"/>
            <a:ext cx="8857173" cy="4608513"/>
          </a:xfrm>
          <a:prstGeom prst="rect">
            <a:avLst/>
          </a:prstGeom>
          <a:noFill/>
          <a:ln w="9525">
            <a:noFill/>
          </a:ln>
        </p:spPr>
        <p:txBody>
          <a:bodyPr anchor="t" anchorCtr="0"/>
          <a:lstStyle/>
          <a:p>
            <a:pPr marL="0" marR="0" lvl="0" indent="0" algn="l" defTabSz="914400" rtl="0" eaLnBrk="0" fontAlgn="base" latinLnBrk="0" hangingPunct="0">
              <a:lnSpc>
                <a:spcPts val="178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首先，中共一大在上海召开，“南陈北李”不仅知情而且同意。</a:t>
            </a:r>
          </a:p>
          <a:p>
            <a:pPr marL="0" marR="0" lvl="0" indent="0" algn="l" defTabSz="914400" rtl="0" eaLnBrk="0" fontAlgn="base" latinLnBrk="0" hangingPunct="0">
              <a:lnSpc>
                <a:spcPts val="1880"/>
              </a:lnSpc>
              <a:spcBef>
                <a:spcPct val="0"/>
              </a:spcBef>
              <a:spcAft>
                <a:spcPct val="0"/>
              </a:spcAft>
              <a:buClrTx/>
              <a:buSzTx/>
              <a:buFontTx/>
              <a:buNone/>
              <a:tabLst/>
              <a:defRPr/>
            </a:pPr>
            <a:endPar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sz="2400" b="0" i="0" u="none" strike="noStrike" kern="1200" cap="none" spc="0" normalizeH="0" baseline="0" noProof="0" dirty="0" err="1"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共产国际代表马林</a:t>
            </a:r>
            <a:r>
              <a:rPr kumimoji="0" lang="zh-CN" altLang="en-US" sz="2400" b="0"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等</a:t>
            </a:r>
            <a:r>
              <a:rPr kumimoji="0" sz="2400" b="0"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来到上海老渔阳里</a:t>
            </a:r>
            <a:r>
              <a:rPr kumimoji="0" lang="en-US"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2</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号，通过上海共产党早期组织召集党的第一次全国代表大会时，书记陈独秀正在广州，代理书记李汉俊因故“愤而辞去代理书记的职务，交由李达代理书记”</a:t>
            </a:r>
            <a:r>
              <a:rPr kumimoji="0" lang="zh-CN" altLang="en-US"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sz="2400" b="0" i="0" u="none" strike="noStrike" kern="1200" cap="none" spc="0" normalizeH="0" baseline="0" noProof="0" dirty="0" err="1">
                <a:ln>
                  <a:noFill/>
                </a:ln>
                <a:solidFill>
                  <a:srgbClr val="FFFFFF"/>
                </a:solidFill>
                <a:effectLst/>
                <a:uLnTx/>
                <a:uFillTx/>
                <a:latin typeface="楷体" panose="02010609060101010101" pitchFamily="49" charset="-122"/>
                <a:ea typeface="楷体" panose="02010609060101010101" pitchFamily="49" charset="-122"/>
                <a:cs typeface="+mn-cs"/>
                <a:sym typeface="+mn-ea"/>
              </a:rPr>
              <a:t>组党的集会”经李达与李汉俊商量后，先向北京的李大钊和广州的陈独秀汇报，并邀请二位出席大会</a:t>
            </a:r>
            <a:r>
              <a:rPr kumimoji="0" sz="2400" b="0"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endParaRPr kumimoji="0" lang="en-US" sz="2400" b="0"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sz="2400" b="1" i="0" u="none" strike="noStrike" kern="1200" cap="none" spc="0" normalizeH="0" baseline="0" noProof="0" dirty="0" smtClean="0">
                <a:ln>
                  <a:noFill/>
                </a:ln>
                <a:solidFill>
                  <a:srgbClr val="FFFF00"/>
                </a:solidFill>
                <a:effectLst/>
                <a:uLnTx/>
                <a:uFillTx/>
                <a:latin typeface="楷体" panose="02010609060101010101" pitchFamily="49" charset="-122"/>
                <a:ea typeface="楷体" panose="02010609060101010101" pitchFamily="49" charset="-122"/>
                <a:cs typeface="+mn-cs"/>
                <a:sym typeface="+mn-ea"/>
              </a:rPr>
              <a:t>“</a:t>
            </a:r>
            <a:r>
              <a:rPr kumimoji="0"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南陈北李”虽均以客观原因表示不能出席，但同意大会按期召开</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。当事人张国焘回忆：“各地同志都盼望李大钊同志能亲自出席，但他因为正值北大学年终结期间，校务纷繁，不能抽身前往。结果由我和刘仁静代表北京支部出席大会。”</a:t>
            </a:r>
          </a:p>
        </p:txBody>
      </p:sp>
      <p:sp useBgFill="1">
        <p:nvSpPr>
          <p:cNvPr id="2" name="矩形 1"/>
          <p:cNvSpPr/>
          <p:nvPr/>
        </p:nvSpPr>
        <p:spPr>
          <a:xfrm>
            <a:off x="7812405" y="2540"/>
            <a:ext cx="1331595" cy="378460"/>
          </a:xfrm>
          <a:prstGeom prst="rect">
            <a:avLst/>
          </a:prstGeom>
          <a:ln>
            <a:solidFill>
              <a:srgbClr val="FF74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a:cs typeface="+mn-cs"/>
            </a:endParaRPr>
          </a:p>
        </p:txBody>
      </p:sp>
    </p:spTree>
    <p:extLst>
      <p:ext uri="{BB962C8B-B14F-4D97-AF65-F5344CB8AC3E}">
        <p14:creationId xmlns:p14="http://schemas.microsoft.com/office/powerpoint/2010/main" val="30609087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矩形 1"/>
          <p:cNvSpPr/>
          <p:nvPr/>
        </p:nvSpPr>
        <p:spPr>
          <a:xfrm>
            <a:off x="107315" y="260350"/>
            <a:ext cx="8954770" cy="923330"/>
          </a:xfrm>
          <a:prstGeom prst="rect">
            <a:avLst/>
          </a:prstGeom>
          <a:noFill/>
          <a:ln w="9525">
            <a:noFill/>
          </a:ln>
        </p:spPr>
        <p:txBody>
          <a:bodyPr wrap="square" anchor="t" anchorCtr="0">
            <a:spAutoFit/>
          </a:bodyPr>
          <a:lstStyle/>
          <a:p>
            <a:pPr lvl="0" algn="ctr">
              <a:lnSpc>
                <a:spcPct val="150000"/>
              </a:lnSpc>
              <a:defRPr/>
            </a:pPr>
            <a:r>
              <a:rPr lang="zh-CN" altLang="en-US" sz="3600" dirty="0" smtClean="0">
                <a:solidFill>
                  <a:srgbClr val="FFFFFF"/>
                </a:solidFill>
                <a:latin typeface="华文新魏" panose="02010800040101010101" pitchFamily="2" charset="-122"/>
                <a:ea typeface="华文新魏" panose="02010800040101010101" pitchFamily="2" charset="-122"/>
                <a:sym typeface="+mn-ea"/>
              </a:rPr>
              <a:t>陈独秀</a:t>
            </a:r>
            <a:r>
              <a:rPr lang="zh-CN" altLang="en-US" sz="3600" dirty="0">
                <a:solidFill>
                  <a:srgbClr val="FFFFFF"/>
                </a:solidFill>
                <a:latin typeface="华文新魏" panose="02010800040101010101" pitchFamily="2" charset="-122"/>
                <a:ea typeface="华文新魏" panose="02010800040101010101" pitchFamily="2" charset="-122"/>
                <a:sym typeface="+mn-ea"/>
              </a:rPr>
              <a:t>在中共一</a:t>
            </a:r>
            <a:r>
              <a:rPr lang="zh-CN" altLang="en-US" sz="3600" dirty="0" smtClean="0">
                <a:solidFill>
                  <a:srgbClr val="FFFFFF"/>
                </a:solidFill>
                <a:latin typeface="华文新魏" panose="02010800040101010101" pitchFamily="2" charset="-122"/>
                <a:ea typeface="华文新魏" panose="02010800040101010101" pitchFamily="2" charset="-122"/>
                <a:sym typeface="+mn-ea"/>
              </a:rPr>
              <a:t>大缺席当选领导人</a:t>
            </a:r>
            <a:endParaRPr lang="zh-CN" altLang="en-US" sz="3600" b="1" dirty="0">
              <a:solidFill>
                <a:srgbClr val="FFFFFF"/>
              </a:solidFill>
              <a:latin typeface="华文新魏" panose="02010800040101010101" pitchFamily="2" charset="-122"/>
              <a:ea typeface="华文新魏" panose="02010800040101010101" pitchFamily="2" charset="-122"/>
              <a:cs typeface="楷体" panose="02010609060101010101" pitchFamily="49" charset="-122"/>
              <a:sym typeface="+mn-ea"/>
            </a:endParaRPr>
          </a:p>
        </p:txBody>
      </p:sp>
      <p:sp>
        <p:nvSpPr>
          <p:cNvPr id="10242" name="Rectangle 3"/>
          <p:cNvSpPr txBox="1"/>
          <p:nvPr/>
        </p:nvSpPr>
        <p:spPr>
          <a:xfrm>
            <a:off x="395605" y="997585"/>
            <a:ext cx="8346440" cy="5529580"/>
          </a:xfrm>
          <a:prstGeom prst="rect">
            <a:avLst/>
          </a:prstGeom>
          <a:noFill/>
          <a:ln w="9525">
            <a:noFill/>
          </a:ln>
        </p:spPr>
        <p:txBody>
          <a:bodyPr anchor="t" anchorCtr="0"/>
          <a:lstStyle/>
          <a:p>
            <a:pPr marL="0" marR="0" lvl="0" indent="0" algn="l" defTabSz="914400" rtl="0" eaLnBrk="0" fontAlgn="base" latinLnBrk="0" hangingPunct="0">
              <a:lnSpc>
                <a:spcPts val="178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其次，陈独秀提出的党纲成为大会讨论的中心问题。</a:t>
            </a:r>
          </a:p>
          <a:p>
            <a:pPr marL="0" marR="0" lvl="0" indent="0" algn="l" defTabSz="914400" rtl="0" eaLnBrk="0" fontAlgn="base" latinLnBrk="0" hangingPunct="0">
              <a:lnSpc>
                <a:spcPts val="1880"/>
              </a:lnSpc>
              <a:spcBef>
                <a:spcPct val="0"/>
              </a:spcBef>
              <a:spcAft>
                <a:spcPct val="0"/>
              </a:spcAft>
              <a:buClrTx/>
              <a:buSzTx/>
              <a:buFontTx/>
              <a:buNone/>
              <a:tabLst/>
              <a:defRPr/>
            </a:pPr>
            <a:endPar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陈独秀虽未出席大会，但也为大会预做准备。他不仅请沈雁冰翻译《俄国共产党党章》“作为第一次党代表大会的参考”，还亲自草拟了“关于组织和政策的四点意见”让广东代表陈公博带到会上（一说“寄到上海”），要求在讨论党纲时予以注意。这四点意见，一是“</a:t>
            </a:r>
            <a:r>
              <a:rPr kumimoji="0" sz="2400" b="0"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培植党员</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”，二是“</a:t>
            </a:r>
            <a:r>
              <a:rPr kumimoji="0" sz="2400" b="0"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民权主义之指导</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”，三是“</a:t>
            </a:r>
            <a:r>
              <a:rPr kumimoji="0" sz="2400" b="0"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纪纲</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”，四是“</a:t>
            </a:r>
            <a:r>
              <a:rPr kumimoji="0" sz="2400" b="0"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慎重进行征服群众政权问题</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四点意见”侧重于党员教育、党内民主、党的纪律和争取群众的必要性等问题，引起了大会的激烈讨论，成为李汉俊、陈公博与多数代表辩论的焦点问题。最终除个别难以达成一致意见的问题决定留给下一届代表大会决定外，一大</a:t>
            </a:r>
            <a:r>
              <a:rPr kumimoji="0"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制定了《中国共产党第一个纲领》和《中国共产党第一个决议》等文件，成为一大的重要成果</a:t>
            </a:r>
            <a:r>
              <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p>
        </p:txBody>
      </p:sp>
      <p:sp useBgFill="1">
        <p:nvSpPr>
          <p:cNvPr id="2" name="矩形 1"/>
          <p:cNvSpPr/>
          <p:nvPr/>
        </p:nvSpPr>
        <p:spPr>
          <a:xfrm>
            <a:off x="7812405" y="2540"/>
            <a:ext cx="1331595" cy="378460"/>
          </a:xfrm>
          <a:prstGeom prst="rect">
            <a:avLst/>
          </a:prstGeom>
          <a:ln>
            <a:solidFill>
              <a:srgbClr val="FF74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a:cs typeface="+mn-cs"/>
            </a:endParaRPr>
          </a:p>
        </p:txBody>
      </p:sp>
    </p:spTree>
    <p:extLst>
      <p:ext uri="{BB962C8B-B14F-4D97-AF65-F5344CB8AC3E}">
        <p14:creationId xmlns:p14="http://schemas.microsoft.com/office/powerpoint/2010/main" val="19442666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矩形 1"/>
          <p:cNvSpPr/>
          <p:nvPr/>
        </p:nvSpPr>
        <p:spPr>
          <a:xfrm>
            <a:off x="107315" y="260350"/>
            <a:ext cx="8954770" cy="923330"/>
          </a:xfrm>
          <a:prstGeom prst="rect">
            <a:avLst/>
          </a:prstGeom>
          <a:noFill/>
          <a:ln w="9525">
            <a:noFill/>
          </a:ln>
        </p:spPr>
        <p:txBody>
          <a:bodyPr wrap="square" anchor="t" anchorCtr="0">
            <a:spAutoFit/>
          </a:bodyPr>
          <a:lstStyle/>
          <a:p>
            <a:pPr lvl="0" algn="ctr">
              <a:lnSpc>
                <a:spcPct val="150000"/>
              </a:lnSpc>
              <a:defRPr/>
            </a:pPr>
            <a:r>
              <a:rPr lang="zh-CN" altLang="en-US" sz="3600" dirty="0" smtClean="0">
                <a:solidFill>
                  <a:srgbClr val="FFFFFF"/>
                </a:solidFill>
                <a:latin typeface="华文新魏" panose="02010800040101010101" pitchFamily="2" charset="-122"/>
                <a:ea typeface="华文新魏" panose="02010800040101010101" pitchFamily="2" charset="-122"/>
                <a:sym typeface="+mn-ea"/>
              </a:rPr>
              <a:t>陈独秀</a:t>
            </a:r>
            <a:r>
              <a:rPr lang="zh-CN" altLang="en-US" sz="3600" dirty="0">
                <a:solidFill>
                  <a:srgbClr val="FFFFFF"/>
                </a:solidFill>
                <a:latin typeface="华文新魏" panose="02010800040101010101" pitchFamily="2" charset="-122"/>
                <a:ea typeface="华文新魏" panose="02010800040101010101" pitchFamily="2" charset="-122"/>
                <a:sym typeface="+mn-ea"/>
              </a:rPr>
              <a:t>在中共一</a:t>
            </a:r>
            <a:r>
              <a:rPr lang="zh-CN" altLang="en-US" sz="3600" dirty="0" smtClean="0">
                <a:solidFill>
                  <a:srgbClr val="FFFFFF"/>
                </a:solidFill>
                <a:latin typeface="华文新魏" panose="02010800040101010101" pitchFamily="2" charset="-122"/>
                <a:ea typeface="华文新魏" panose="02010800040101010101" pitchFamily="2" charset="-122"/>
                <a:sym typeface="+mn-ea"/>
              </a:rPr>
              <a:t>大缺席当选领导人</a:t>
            </a:r>
            <a:endParaRPr lang="zh-CN" altLang="en-US" sz="3600" b="1" dirty="0">
              <a:solidFill>
                <a:srgbClr val="FFFFFF"/>
              </a:solidFill>
              <a:latin typeface="华文新魏" panose="02010800040101010101" pitchFamily="2" charset="-122"/>
              <a:ea typeface="华文新魏" panose="02010800040101010101" pitchFamily="2" charset="-122"/>
              <a:cs typeface="楷体" panose="02010609060101010101" pitchFamily="49" charset="-122"/>
              <a:sym typeface="+mn-ea"/>
            </a:endParaRPr>
          </a:p>
        </p:txBody>
      </p:sp>
      <p:sp>
        <p:nvSpPr>
          <p:cNvPr id="10242" name="Rectangle 3"/>
          <p:cNvSpPr txBox="1"/>
          <p:nvPr/>
        </p:nvSpPr>
        <p:spPr>
          <a:xfrm>
            <a:off x="261620" y="1412875"/>
            <a:ext cx="8655050" cy="4483735"/>
          </a:xfrm>
          <a:prstGeom prst="rect">
            <a:avLst/>
          </a:prstGeom>
          <a:noFill/>
          <a:ln w="9525">
            <a:noFill/>
          </a:ln>
        </p:spPr>
        <p:txBody>
          <a:bodyPr anchor="t" anchorCtr="0"/>
          <a:lstStyle/>
          <a:p>
            <a:pPr marL="0" marR="0" lvl="0" indent="0" algn="l" defTabSz="914400" rtl="0" eaLnBrk="0" fontAlgn="base" latinLnBrk="0" hangingPunct="0">
              <a:lnSpc>
                <a:spcPts val="178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最后，一大后陈独秀离开广州返回上海履职尽责。</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sz="2400" b="1" i="0" u="none" strike="noStrike" kern="1200" cap="none" spc="0" normalizeH="0" baseline="0" noProof="0" dirty="0" err="1">
                <a:ln>
                  <a:noFill/>
                </a:ln>
                <a:solidFill>
                  <a:srgbClr val="FFFFFF"/>
                </a:solidFill>
                <a:effectLst/>
                <a:uLnTx/>
                <a:uFillTx/>
                <a:latin typeface="楷体" panose="02010609060101010101" pitchFamily="49" charset="-122"/>
                <a:ea typeface="楷体" panose="02010609060101010101" pitchFamily="49" charset="-122"/>
                <a:cs typeface="+mn-cs"/>
                <a:sym typeface="+mn-ea"/>
              </a:rPr>
              <a:t>一大闭幕后，</a:t>
            </a:r>
            <a:r>
              <a:rPr kumimoji="0" sz="2400" b="1" i="0" u="none" strike="noStrike" kern="1200" cap="none" spc="0" normalizeH="0" baseline="0" noProof="0" dirty="0" err="1"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缺席当选为中央局书记的陈独秀</a:t>
            </a:r>
            <a:r>
              <a:rPr kumimoji="0" lang="zh-CN" altLang="en-US" sz="2400" b="1"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sz="2400" b="1"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被</a:t>
            </a:r>
            <a:r>
              <a:rPr kumimoji="0" lang="zh-CN" altLang="en-US" sz="2400" b="1"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共产国际代表马林</a:t>
            </a:r>
            <a:r>
              <a:rPr kumimoji="0" sz="2400" b="1" i="0" u="none" strike="noStrike" kern="1200" cap="none" spc="0" normalizeH="0" baseline="0" noProof="0" dirty="0" err="1"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要求返回上海</a:t>
            </a:r>
            <a:r>
              <a:rPr kumimoji="0" lang="zh-CN" altLang="en-US" sz="2400" b="1" i="0" u="none" strike="noStrike" kern="1200" cap="none" spc="0" normalizeH="0" baseline="0" noProof="0" dirty="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以切实履职尽责</a:t>
            </a:r>
            <a:r>
              <a:rPr kumimoji="0" sz="2400" b="1" i="0" u="none" strike="noStrike" kern="1200" cap="none" spc="0" normalizeH="0" baseline="0" noProof="0" smtClean="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endPar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一是</a:t>
            </a:r>
            <a:r>
              <a:rPr kumimoji="0"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中共中央的第一份工作通告</a:t>
            </a: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全面部署工作</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1921</a:t>
            </a: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年</a:t>
            </a:r>
            <a:r>
              <a:rPr kumimoji="0" 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11</a:t>
            </a: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月，陈独秀通过一大中央局发出《中国共产党</a:t>
            </a:r>
            <a:r>
              <a:rPr kumimoji="0"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中央局通告</a:t>
            </a: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——关于建立和发展党团工会组织及宣传工作等》，</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既</a:t>
            </a: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部署了</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工人、农民、青年、妇女</a:t>
            </a: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工作，</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又</a:t>
            </a: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要求党的地方</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大力</a:t>
            </a:r>
            <a:r>
              <a:rPr kumimoji="0"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组织发展党员，以早日成立区执行委员会。</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p:txBody>
      </p:sp>
      <p:sp useBgFill="1">
        <p:nvSpPr>
          <p:cNvPr id="2" name="矩形 1"/>
          <p:cNvSpPr/>
          <p:nvPr/>
        </p:nvSpPr>
        <p:spPr>
          <a:xfrm>
            <a:off x="7812405" y="2540"/>
            <a:ext cx="1331595" cy="378460"/>
          </a:xfrm>
          <a:prstGeom prst="rect">
            <a:avLst/>
          </a:prstGeom>
          <a:ln>
            <a:solidFill>
              <a:srgbClr val="FF74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a:cs typeface="+mn-cs"/>
            </a:endParaRPr>
          </a:p>
        </p:txBody>
      </p:sp>
    </p:spTree>
    <p:extLst>
      <p:ext uri="{BB962C8B-B14F-4D97-AF65-F5344CB8AC3E}">
        <p14:creationId xmlns:p14="http://schemas.microsoft.com/office/powerpoint/2010/main" val="28340695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矩形 1"/>
          <p:cNvSpPr/>
          <p:nvPr/>
        </p:nvSpPr>
        <p:spPr>
          <a:xfrm>
            <a:off x="107315" y="188595"/>
            <a:ext cx="8954770" cy="923330"/>
          </a:xfrm>
          <a:prstGeom prst="rect">
            <a:avLst/>
          </a:prstGeom>
          <a:noFill/>
          <a:ln w="9525">
            <a:noFill/>
          </a:ln>
        </p:spPr>
        <p:txBody>
          <a:bodyPr wrap="square" anchor="t" anchorCtr="0">
            <a:spAutoFit/>
          </a:bodyPr>
          <a:lstStyle/>
          <a:p>
            <a:pPr lvl="0" algn="ctr">
              <a:lnSpc>
                <a:spcPct val="150000"/>
              </a:lnSpc>
              <a:defRPr/>
            </a:pPr>
            <a:r>
              <a:rPr lang="zh-CN" altLang="en-US" sz="3600" dirty="0" smtClean="0">
                <a:solidFill>
                  <a:srgbClr val="FFFFFF"/>
                </a:solidFill>
                <a:latin typeface="华文新魏" panose="02010800040101010101" pitchFamily="2" charset="-122"/>
                <a:ea typeface="华文新魏" panose="02010800040101010101" pitchFamily="2" charset="-122"/>
                <a:sym typeface="+mn-ea"/>
              </a:rPr>
              <a:t>陈独秀</a:t>
            </a:r>
            <a:r>
              <a:rPr lang="zh-CN" altLang="en-US" sz="3600" dirty="0">
                <a:solidFill>
                  <a:srgbClr val="FFFFFF"/>
                </a:solidFill>
                <a:latin typeface="华文新魏" panose="02010800040101010101" pitchFamily="2" charset="-122"/>
                <a:ea typeface="华文新魏" panose="02010800040101010101" pitchFamily="2" charset="-122"/>
                <a:sym typeface="+mn-ea"/>
              </a:rPr>
              <a:t>在中共一</a:t>
            </a:r>
            <a:r>
              <a:rPr lang="zh-CN" altLang="en-US" sz="3600" dirty="0" smtClean="0">
                <a:solidFill>
                  <a:srgbClr val="FFFFFF"/>
                </a:solidFill>
                <a:latin typeface="华文新魏" panose="02010800040101010101" pitchFamily="2" charset="-122"/>
                <a:ea typeface="华文新魏" panose="02010800040101010101" pitchFamily="2" charset="-122"/>
                <a:sym typeface="+mn-ea"/>
              </a:rPr>
              <a:t>大缺席当选领导人</a:t>
            </a:r>
            <a:endParaRPr lang="zh-CN" altLang="en-US" sz="3600" b="1" dirty="0">
              <a:solidFill>
                <a:srgbClr val="FFFFFF"/>
              </a:solidFill>
              <a:latin typeface="华文新魏" panose="02010800040101010101" pitchFamily="2" charset="-122"/>
              <a:ea typeface="华文新魏" panose="02010800040101010101" pitchFamily="2" charset="-122"/>
              <a:cs typeface="楷体" panose="02010609060101010101" pitchFamily="49" charset="-122"/>
              <a:sym typeface="+mn-ea"/>
            </a:endParaRPr>
          </a:p>
        </p:txBody>
      </p:sp>
      <p:sp>
        <p:nvSpPr>
          <p:cNvPr id="10242" name="Rectangle 3"/>
          <p:cNvSpPr txBox="1"/>
          <p:nvPr/>
        </p:nvSpPr>
        <p:spPr>
          <a:xfrm>
            <a:off x="261620" y="1110615"/>
            <a:ext cx="8655050" cy="5529580"/>
          </a:xfrm>
          <a:prstGeom prst="rect">
            <a:avLst/>
          </a:prstGeom>
          <a:noFill/>
          <a:ln w="9525">
            <a:noFill/>
          </a:ln>
        </p:spPr>
        <p:txBody>
          <a:bodyPr anchor="t" anchorCtr="0"/>
          <a:lstStyle/>
          <a:p>
            <a:pPr marL="0" marR="0" lvl="0" indent="0" algn="l" defTabSz="914400" rtl="0" eaLnBrk="0" fontAlgn="base" latinLnBrk="0" hangingPunct="0">
              <a:lnSpc>
                <a:spcPts val="178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二是</a:t>
            </a:r>
            <a:r>
              <a:rPr kumimoji="0"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着手解决一大议而未决的</a:t>
            </a: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重要</a:t>
            </a:r>
            <a:r>
              <a:rPr kumimoji="0"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事项</a:t>
            </a:r>
            <a:r>
              <a:rPr kumimoji="0" lang="zh-CN" altLang="en-US"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针对</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不与其他政党发生任何联系</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1922</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年</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5</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月</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23</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日陈独秀发表《共产党在目前劳动运动中应取的态度》一文，提出</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在同一目的之下，共产党、无政府党、国民党及其他党派在劳动运动的工作上，应该互相提携，结成一个联合战线（</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United Front)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，才免的互相冲突，才能够指导劳动者作有力的战斗</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。从而在中共二大召开之前</a:t>
            </a: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首次创制了</a:t>
            </a:r>
            <a:r>
              <a:rPr kumimoji="0" lang="en-US" altLang="zh-CN"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联合战线</a:t>
            </a:r>
            <a:r>
              <a:rPr kumimoji="0" lang="en-US" altLang="zh-CN"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这一专门术语。</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6</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月</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15</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日《我们对于时局的主张》更是提出</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民主的联合阵线</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主张，为中共二大首次制定统一战线奠定了基础。</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三是向共产国际提交工作报告汇报工作</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1922</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年</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6</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月</a:t>
            </a:r>
            <a:r>
              <a:rPr kumimoji="0" lang="en-US" altLang="zh-CN"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30</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日陈独秀向共产国际提交专门报告，汇报了一大以来党的工作情况，包括</a:t>
            </a:r>
            <a:r>
              <a:rPr kumimoji="0" lang="zh-CN" altLang="en-US" sz="2400" b="1" i="0" u="none" strike="noStrike" kern="120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sym typeface="+mn-ea"/>
              </a:rPr>
              <a:t>经费收支情况</a:t>
            </a:r>
            <a:r>
              <a:rPr kumimoji="0" lang="zh-CN" altLang="en-US" sz="2400" b="1" i="0" u="none" strike="noStrike" kern="1200" cap="none" spc="0" normalizeH="0" baseline="0" noProof="0" dirty="0">
                <a:ln>
                  <a:noFill/>
                </a:ln>
                <a:solidFill>
                  <a:srgbClr val="FFFFFF"/>
                </a:solidFill>
                <a:effectLst/>
                <a:uLnTx/>
                <a:uFillTx/>
                <a:latin typeface="楷体" panose="02010609060101010101" pitchFamily="49" charset="-122"/>
                <a:ea typeface="楷体" panose="02010609060101010101" pitchFamily="49" charset="-122"/>
                <a:cs typeface="+mn-cs"/>
                <a:sym typeface="+mn-ea"/>
              </a:rPr>
              <a:t>，十分详尽。</a:t>
            </a:r>
          </a:p>
        </p:txBody>
      </p:sp>
      <p:sp useBgFill="1">
        <p:nvSpPr>
          <p:cNvPr id="2" name="矩形 1"/>
          <p:cNvSpPr/>
          <p:nvPr/>
        </p:nvSpPr>
        <p:spPr>
          <a:xfrm>
            <a:off x="7812405" y="2540"/>
            <a:ext cx="1331595" cy="378460"/>
          </a:xfrm>
          <a:prstGeom prst="rect">
            <a:avLst/>
          </a:prstGeom>
          <a:ln>
            <a:solidFill>
              <a:srgbClr val="FF74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a:cs typeface="+mn-cs"/>
            </a:endParaRPr>
          </a:p>
        </p:txBody>
      </p:sp>
    </p:spTree>
    <p:extLst>
      <p:ext uri="{BB962C8B-B14F-4D97-AF65-F5344CB8AC3E}">
        <p14:creationId xmlns:p14="http://schemas.microsoft.com/office/powerpoint/2010/main" val="41290613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37" y="0"/>
            <a:ext cx="9144000" cy="864096"/>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mn-ea"/>
                <a:ea typeface="+mn-ea"/>
                <a:cs typeface="+mj-cs"/>
              </a:rPr>
              <a:t>2024</a:t>
            </a:r>
            <a:r>
              <a:rPr kumimoji="0" lang="zh-CN" altLang="en-US" sz="2400" b="1" i="0" u="none" strike="noStrike" kern="1200" cap="none" spc="0" normalizeH="0" baseline="0" noProof="0" dirty="0">
                <a:ln>
                  <a:noFill/>
                </a:ln>
                <a:solidFill>
                  <a:schemeClr val="bg1"/>
                </a:solidFill>
                <a:effectLst/>
                <a:uLnTx/>
                <a:uFillTx/>
                <a:latin typeface="+mn-ea"/>
                <a:ea typeface="+mn-ea"/>
                <a:cs typeface="+mj-cs"/>
              </a:rPr>
              <a:t>年</a:t>
            </a:r>
            <a:r>
              <a:rPr kumimoji="0" lang="en-US" altLang="zh-CN" sz="2400" b="1" i="0" u="none" strike="noStrike" kern="1200" cap="none" spc="0" normalizeH="0" baseline="0" noProof="0" dirty="0">
                <a:ln>
                  <a:noFill/>
                </a:ln>
                <a:solidFill>
                  <a:schemeClr val="bg1"/>
                </a:solidFill>
                <a:effectLst/>
                <a:uLnTx/>
                <a:uFillTx/>
                <a:latin typeface="+mn-ea"/>
                <a:ea typeface="+mn-ea"/>
                <a:cs typeface="+mj-cs"/>
              </a:rPr>
              <a:t>12</a:t>
            </a:r>
            <a:r>
              <a:rPr kumimoji="0" lang="zh-CN" altLang="en-US" sz="2400" b="1" i="0" u="none" strike="noStrike" kern="1200" cap="none" spc="0" normalizeH="0" baseline="0" noProof="0" dirty="0">
                <a:ln>
                  <a:noFill/>
                </a:ln>
                <a:solidFill>
                  <a:schemeClr val="bg1"/>
                </a:solidFill>
                <a:effectLst/>
                <a:uLnTx/>
                <a:uFillTx/>
                <a:latin typeface="+mn-ea"/>
                <a:ea typeface="+mn-ea"/>
                <a:cs typeface="+mj-cs"/>
              </a:rPr>
              <a:t>月</a:t>
            </a:r>
            <a:r>
              <a:rPr kumimoji="0" lang="en-US" altLang="zh-CN" sz="2400" b="1" i="0" u="none" strike="noStrike" kern="1200" cap="none" spc="0" normalizeH="0" baseline="0" noProof="0" dirty="0">
                <a:ln>
                  <a:noFill/>
                </a:ln>
                <a:solidFill>
                  <a:schemeClr val="bg1"/>
                </a:solidFill>
                <a:effectLst/>
                <a:uLnTx/>
                <a:uFillTx/>
                <a:latin typeface="+mn-ea"/>
                <a:ea typeface="+mn-ea"/>
                <a:cs typeface="+mj-cs"/>
              </a:rPr>
              <a:t>1</a:t>
            </a:r>
            <a:r>
              <a:rPr kumimoji="0" lang="zh-CN" altLang="en-US" sz="2400" b="1" i="0" u="none" strike="noStrike" kern="1200" cap="none" spc="0" normalizeH="0" baseline="0" noProof="0" dirty="0">
                <a:ln>
                  <a:noFill/>
                </a:ln>
                <a:solidFill>
                  <a:schemeClr val="bg1"/>
                </a:solidFill>
                <a:effectLst/>
                <a:uLnTx/>
                <a:uFillTx/>
                <a:latin typeface="+mn-ea"/>
                <a:ea typeface="+mn-ea"/>
                <a:cs typeface="+mj-cs"/>
              </a:rPr>
              <a:t>日，全天陪同北京大学原</a:t>
            </a:r>
            <a:r>
              <a:rPr kumimoji="0" lang="zh-CN" altLang="en-US" sz="2400" b="1" i="0" u="none" strike="noStrike" kern="1200" cap="none" spc="0" normalizeH="0" baseline="0" noProof="0" dirty="0" smtClean="0">
                <a:ln>
                  <a:noFill/>
                </a:ln>
                <a:solidFill>
                  <a:schemeClr val="bg1"/>
                </a:solidFill>
                <a:effectLst/>
                <a:uLnTx/>
                <a:uFillTx/>
                <a:latin typeface="+mn-ea"/>
                <a:ea typeface="+mn-ea"/>
                <a:cs typeface="+mj-cs"/>
              </a:rPr>
              <a:t>党委书记、中国李大钊研究会会长朱善璐</a:t>
            </a:r>
            <a:r>
              <a:rPr kumimoji="0" lang="zh-CN" altLang="en-US" sz="2400" b="1" i="0" u="none" strike="noStrike" kern="1200" cap="none" spc="0" normalizeH="0" baseline="0" noProof="0" dirty="0">
                <a:ln>
                  <a:noFill/>
                </a:ln>
                <a:solidFill>
                  <a:schemeClr val="bg1"/>
                </a:solidFill>
                <a:effectLst/>
                <a:uLnTx/>
                <a:uFillTx/>
                <a:latin typeface="+mn-ea"/>
                <a:ea typeface="+mn-ea"/>
                <a:cs typeface="+mj-cs"/>
              </a:rPr>
              <a:t>教授参观、调研中共一大纪念馆</a:t>
            </a:r>
          </a:p>
        </p:txBody>
      </p:sp>
      <p:pic>
        <p:nvPicPr>
          <p:cNvPr id="25603" name="内容占位符 3"/>
          <p:cNvPicPr>
            <a:picLocks noGrp="1" noChangeAspect="1"/>
          </p:cNvPicPr>
          <p:nvPr>
            <p:ph idx="1"/>
          </p:nvPr>
        </p:nvPicPr>
        <p:blipFill>
          <a:blip r:embed="rId2"/>
          <a:srcRect/>
          <a:stretch>
            <a:fillRect/>
          </a:stretch>
        </p:blipFill>
        <p:spPr>
          <a:xfrm>
            <a:off x="0" y="773741"/>
            <a:ext cx="9144000" cy="6092825"/>
          </a:xfr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vert="horz" wrap="square" lIns="91440" tIns="45720" rIns="91440" bIns="45720" anchor="ctr" anchorCtr="0"/>
          <a:lstStyle/>
          <a:p>
            <a:endParaRPr lang="zh-CN" altLang="en-US" dirty="0"/>
          </a:p>
        </p:txBody>
      </p:sp>
      <p:pic>
        <p:nvPicPr>
          <p:cNvPr id="26627" name="内容占位符 3"/>
          <p:cNvPicPr>
            <a:picLocks noGrp="1" noChangeAspect="1"/>
          </p:cNvPicPr>
          <p:nvPr>
            <p:ph idx="1"/>
          </p:nvPr>
        </p:nvPicPr>
        <p:blipFill>
          <a:blip r:embed="rId2"/>
          <a:srcRect/>
          <a:stretch>
            <a:fillRect/>
          </a:stretch>
        </p:blipFill>
        <p:spPr>
          <a:xfrm>
            <a:off x="0" y="0"/>
            <a:ext cx="4572000" cy="3429000"/>
          </a:xfrm>
        </p:spPr>
      </p:pic>
      <p:pic>
        <p:nvPicPr>
          <p:cNvPr id="26628" name="图片 4"/>
          <p:cNvPicPr>
            <a:picLocks noChangeAspect="1"/>
          </p:cNvPicPr>
          <p:nvPr/>
        </p:nvPicPr>
        <p:blipFill>
          <a:blip r:embed="rId3"/>
          <a:stretch>
            <a:fillRect/>
          </a:stretch>
        </p:blipFill>
        <p:spPr>
          <a:xfrm>
            <a:off x="4579938" y="44450"/>
            <a:ext cx="4564062" cy="3429000"/>
          </a:xfrm>
          <a:prstGeom prst="rect">
            <a:avLst/>
          </a:prstGeom>
          <a:noFill/>
          <a:ln w="9525">
            <a:noFill/>
          </a:ln>
        </p:spPr>
      </p:pic>
      <p:pic>
        <p:nvPicPr>
          <p:cNvPr id="26629" name="图片 7"/>
          <p:cNvPicPr>
            <a:picLocks noChangeAspect="1"/>
          </p:cNvPicPr>
          <p:nvPr/>
        </p:nvPicPr>
        <p:blipFill>
          <a:blip r:embed="rId4"/>
          <a:stretch>
            <a:fillRect/>
          </a:stretch>
        </p:blipFill>
        <p:spPr>
          <a:xfrm>
            <a:off x="0" y="3429000"/>
            <a:ext cx="4643438" cy="3429000"/>
          </a:xfrm>
          <a:prstGeom prst="rect">
            <a:avLst/>
          </a:prstGeom>
          <a:noFill/>
          <a:ln w="9525">
            <a:noFill/>
          </a:ln>
        </p:spPr>
      </p:pic>
      <p:pic>
        <p:nvPicPr>
          <p:cNvPr id="26630" name="图片 8"/>
          <p:cNvPicPr>
            <a:picLocks noChangeAspect="1"/>
          </p:cNvPicPr>
          <p:nvPr/>
        </p:nvPicPr>
        <p:blipFill>
          <a:blip r:embed="rId5"/>
          <a:stretch>
            <a:fillRect/>
          </a:stretch>
        </p:blipFill>
        <p:spPr>
          <a:xfrm>
            <a:off x="4643438" y="3429000"/>
            <a:ext cx="4500562" cy="3429000"/>
          </a:xfrm>
          <a:prstGeom prst="rect">
            <a:avLst/>
          </a:prstGeom>
          <a:noFill/>
          <a:ln w="9525">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4932363" y="155575"/>
            <a:ext cx="4211637" cy="777875"/>
          </a:xfrm>
        </p:spPr>
        <p:txBody>
          <a:bodyPr vert="horz" wrap="square" lIns="91440" tIns="45720" rIns="91440" bIns="45720" anchor="ctr" anchorCtr="0"/>
          <a:lstStyle/>
          <a:p>
            <a:r>
              <a:rPr lang="zh-CN" altLang="en-US" sz="3200" b="1" dirty="0"/>
              <a:t>两件珍贵藏品</a:t>
            </a:r>
          </a:p>
        </p:txBody>
      </p:sp>
      <p:pic>
        <p:nvPicPr>
          <p:cNvPr id="27651" name="内容占位符 3"/>
          <p:cNvPicPr>
            <a:picLocks noGrp="1" noChangeAspect="1"/>
          </p:cNvPicPr>
          <p:nvPr>
            <p:ph idx="1"/>
          </p:nvPr>
        </p:nvPicPr>
        <p:blipFill>
          <a:blip r:embed="rId2"/>
          <a:srcRect/>
          <a:stretch>
            <a:fillRect/>
          </a:stretch>
        </p:blipFill>
        <p:spPr>
          <a:xfrm>
            <a:off x="0" y="0"/>
            <a:ext cx="4859338" cy="6858000"/>
          </a:xfrm>
        </p:spPr>
      </p:pic>
      <p:pic>
        <p:nvPicPr>
          <p:cNvPr id="27652" name="图片 4"/>
          <p:cNvPicPr>
            <a:picLocks noChangeAspect="1"/>
          </p:cNvPicPr>
          <p:nvPr/>
        </p:nvPicPr>
        <p:blipFill>
          <a:blip r:embed="rId3"/>
          <a:stretch>
            <a:fillRect/>
          </a:stretch>
        </p:blipFill>
        <p:spPr>
          <a:xfrm>
            <a:off x="4859338" y="1052513"/>
            <a:ext cx="4284662" cy="5805487"/>
          </a:xfrm>
          <a:prstGeom prst="rect">
            <a:avLst/>
          </a:prstGeom>
          <a:noFill/>
          <a:ln w="9525">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42875" y="115888"/>
            <a:ext cx="8858250" cy="792162"/>
          </a:xfrm>
        </p:spPr>
        <p:txBody>
          <a:bodyPr vert="horz" wrap="square" lIns="91440" tIns="45720" rIns="91440" bIns="45720" anchor="ctr" anchorCtr="0"/>
          <a:lstStyle/>
          <a:p>
            <a:r>
              <a:rPr lang="zh-CN" altLang="en-US" sz="2800" b="1" dirty="0"/>
              <a:t>中共一大纪念馆珍藏的陈公博硕士论文英文版附件之</a:t>
            </a:r>
            <a:r>
              <a:rPr lang="en-US" altLang="zh-CN" sz="2800" b="1" dirty="0"/>
              <a:t/>
            </a:r>
            <a:br>
              <a:rPr lang="en-US" altLang="zh-CN" sz="2800" b="1" dirty="0"/>
            </a:br>
            <a:r>
              <a:rPr lang="en-US" altLang="zh-CN" sz="2800" b="1" dirty="0"/>
              <a:t>《</a:t>
            </a:r>
            <a:r>
              <a:rPr lang="zh-CN" altLang="en-US" sz="2800" b="1" dirty="0"/>
              <a:t>中国共产党第一个决议</a:t>
            </a:r>
            <a:r>
              <a:rPr lang="en-US" altLang="zh-CN" sz="2800" b="1" dirty="0"/>
              <a:t>》</a:t>
            </a:r>
            <a:endParaRPr lang="zh-CN" altLang="en-US" sz="2800" b="1" dirty="0"/>
          </a:p>
        </p:txBody>
      </p:sp>
      <p:pic>
        <p:nvPicPr>
          <p:cNvPr id="28675" name="内容占位符 3"/>
          <p:cNvPicPr>
            <a:picLocks noGrp="1" noChangeAspect="1"/>
          </p:cNvPicPr>
          <p:nvPr>
            <p:ph idx="1"/>
          </p:nvPr>
        </p:nvPicPr>
        <p:blipFill>
          <a:blip r:embed="rId2"/>
          <a:srcRect/>
          <a:stretch>
            <a:fillRect/>
          </a:stretch>
        </p:blipFill>
        <p:spPr>
          <a:xfrm>
            <a:off x="0" y="981075"/>
            <a:ext cx="9144000" cy="5876925"/>
          </a:xfr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206375" y="211138"/>
            <a:ext cx="3897313" cy="995362"/>
          </a:xfrm>
        </p:spPr>
        <p:txBody>
          <a:bodyPr vert="horz" wrap="square" lIns="91440" tIns="45720" rIns="91440" bIns="45720" anchor="ctr" anchorCtr="0"/>
          <a:lstStyle/>
          <a:p>
            <a:r>
              <a:rPr lang="zh-CN" altLang="en-US" sz="3200" b="1" dirty="0"/>
              <a:t>南陈北李相约建党</a:t>
            </a:r>
          </a:p>
        </p:txBody>
      </p:sp>
      <p:pic>
        <p:nvPicPr>
          <p:cNvPr id="29699" name="内容占位符 3"/>
          <p:cNvPicPr>
            <a:picLocks noGrp="1" noChangeAspect="1"/>
          </p:cNvPicPr>
          <p:nvPr>
            <p:ph idx="1"/>
          </p:nvPr>
        </p:nvPicPr>
        <p:blipFill>
          <a:blip r:embed="rId2"/>
          <a:srcRect/>
          <a:stretch>
            <a:fillRect/>
          </a:stretch>
        </p:blipFill>
        <p:spPr>
          <a:xfrm>
            <a:off x="0" y="1417638"/>
            <a:ext cx="4356100" cy="5440362"/>
          </a:xfrm>
        </p:spPr>
      </p:pic>
      <p:pic>
        <p:nvPicPr>
          <p:cNvPr id="29700" name="图片 4"/>
          <p:cNvPicPr>
            <a:picLocks noChangeAspect="1"/>
          </p:cNvPicPr>
          <p:nvPr/>
        </p:nvPicPr>
        <p:blipFill>
          <a:blip r:embed="rId3"/>
          <a:stretch>
            <a:fillRect/>
          </a:stretch>
        </p:blipFill>
        <p:spPr>
          <a:xfrm>
            <a:off x="4356100" y="0"/>
            <a:ext cx="4791075" cy="6858000"/>
          </a:xfrm>
          <a:prstGeom prst="rect">
            <a:avLst/>
          </a:prstGeom>
          <a:noFill/>
          <a:ln w="9525">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203200" y="260350"/>
            <a:ext cx="8594725" cy="1143000"/>
          </a:xfrm>
        </p:spPr>
        <p:txBody>
          <a:bodyPr vert="horz" wrap="square" lIns="91440" tIns="45720" rIns="91440" bIns="45720" anchor="ctr" anchorCtr="0"/>
          <a:lstStyle/>
          <a:p>
            <a:r>
              <a:rPr lang="zh-CN" altLang="en-US" sz="3600" b="1" dirty="0">
                <a:solidFill>
                  <a:srgbClr val="FFFF00"/>
                </a:solidFill>
                <a:latin typeface="华文中宋" panose="02010600040101010101" pitchFamily="2" charset="-122"/>
                <a:ea typeface="华文中宋" panose="02010600040101010101" pitchFamily="2" charset="-122"/>
              </a:rPr>
              <a:t>（二</a:t>
            </a:r>
            <a:r>
              <a:rPr lang="zh-CN" altLang="en-US" sz="3600" b="1" dirty="0" smtClean="0">
                <a:solidFill>
                  <a:srgbClr val="FFFF00"/>
                </a:solidFill>
                <a:latin typeface="华文中宋" panose="02010600040101010101" pitchFamily="2" charset="-122"/>
                <a:ea typeface="华文中宋" panose="02010600040101010101" pitchFamily="2" charset="-122"/>
              </a:rPr>
              <a:t>）被誉为</a:t>
            </a:r>
            <a:r>
              <a:rPr lang="zh-CN" altLang="en-US" sz="3600" b="1" dirty="0">
                <a:solidFill>
                  <a:srgbClr val="FFFF00"/>
                </a:solidFill>
                <a:latin typeface="华文中宋" panose="02010600040101010101" pitchFamily="2" charset="-122"/>
                <a:ea typeface="华文中宋" panose="02010600040101010101" pitchFamily="2" charset="-122"/>
              </a:rPr>
              <a:t>中共主要创始人和</a:t>
            </a:r>
            <a:br>
              <a:rPr lang="zh-CN" altLang="en-US" sz="3600" b="1" dirty="0">
                <a:solidFill>
                  <a:srgbClr val="FFFF00"/>
                </a:solidFill>
                <a:latin typeface="华文中宋" panose="02010600040101010101" pitchFamily="2" charset="-122"/>
                <a:ea typeface="华文中宋" panose="02010600040101010101" pitchFamily="2" charset="-122"/>
              </a:rPr>
            </a:br>
            <a:r>
              <a:rPr lang="zh-CN" altLang="en-US" sz="3600" b="1" dirty="0">
                <a:solidFill>
                  <a:srgbClr val="FFFF00"/>
                </a:solidFill>
                <a:latin typeface="华文中宋" panose="02010600040101010101" pitchFamily="2" charset="-122"/>
                <a:ea typeface="华文中宋" panose="02010600040101010101" pitchFamily="2" charset="-122"/>
              </a:rPr>
              <a:t>早期主要领导人</a:t>
            </a:r>
            <a:endParaRPr lang="zh-CN" altLang="en-US" sz="3200" b="1" dirty="0">
              <a:solidFill>
                <a:schemeClr val="bg1"/>
              </a:solidFill>
            </a:endParaRPr>
          </a:p>
        </p:txBody>
      </p:sp>
      <p:sp>
        <p:nvSpPr>
          <p:cNvPr id="31747" name="内容占位符 2"/>
          <p:cNvSpPr>
            <a:spLocks noGrp="1"/>
          </p:cNvSpPr>
          <p:nvPr>
            <p:ph idx="1"/>
          </p:nvPr>
        </p:nvSpPr>
        <p:spPr>
          <a:xfrm>
            <a:off x="107950" y="1600200"/>
            <a:ext cx="8856663" cy="4878388"/>
          </a:xfrm>
        </p:spPr>
        <p:txBody>
          <a:bodyPr vert="horz" wrap="square" lIns="91440" tIns="45720" rIns="91440" bIns="45720" anchor="t" anchorCtr="0"/>
          <a:lstStyle/>
          <a:p>
            <a:r>
              <a:rPr lang="en-US" altLang="zh-CN" sz="2800" b="1" dirty="0">
                <a:solidFill>
                  <a:schemeClr val="bg1"/>
                </a:solidFill>
                <a:latin typeface="楷体_GB2312" pitchFamily="49" charset="-122"/>
                <a:ea typeface="楷体_GB2312" pitchFamily="49" charset="-122"/>
              </a:rPr>
              <a:t>4</a:t>
            </a:r>
            <a:r>
              <a:rPr lang="zh-CN" altLang="zh-CN" sz="2800" b="1" dirty="0">
                <a:solidFill>
                  <a:schemeClr val="bg1"/>
                </a:solidFill>
                <a:latin typeface="楷体_GB2312" pitchFamily="49" charset="-122"/>
                <a:ea typeface="楷体_GB2312" pitchFamily="49" charset="-122"/>
              </a:rPr>
              <a:t>.</a:t>
            </a:r>
            <a:r>
              <a:rPr lang="en-US" altLang="zh-CN" sz="2800" b="1" dirty="0">
                <a:solidFill>
                  <a:schemeClr val="bg1"/>
                </a:solidFill>
                <a:latin typeface="楷体_GB2312" pitchFamily="49" charset="-122"/>
                <a:ea typeface="楷体_GB2312" pitchFamily="49" charset="-122"/>
              </a:rPr>
              <a:t>1921</a:t>
            </a:r>
            <a:r>
              <a:rPr lang="zh-CN" altLang="en-US" sz="2800" b="1" dirty="0">
                <a:solidFill>
                  <a:schemeClr val="bg1"/>
                </a:solidFill>
                <a:latin typeface="楷体_GB2312" pitchFamily="49" charset="-122"/>
                <a:ea typeface="楷体_GB2312" pitchFamily="49" charset="-122"/>
              </a:rPr>
              <a:t>年</a:t>
            </a:r>
            <a:r>
              <a:rPr lang="en-US" altLang="zh-CN" sz="2800" b="1" dirty="0">
                <a:solidFill>
                  <a:schemeClr val="bg1"/>
                </a:solidFill>
                <a:latin typeface="楷体_GB2312" pitchFamily="49" charset="-122"/>
                <a:ea typeface="楷体_GB2312" pitchFamily="49" charset="-122"/>
              </a:rPr>
              <a:t>9</a:t>
            </a:r>
            <a:r>
              <a:rPr lang="zh-CN" altLang="en-US" sz="2800" b="1" dirty="0">
                <a:solidFill>
                  <a:schemeClr val="bg1"/>
                </a:solidFill>
                <a:latin typeface="楷体_GB2312" pitchFamily="49" charset="-122"/>
                <a:ea typeface="楷体_GB2312" pitchFamily="49" charset="-122"/>
              </a:rPr>
              <a:t>月初，陈独秀奉马林之召返回上海，履职中共一大中央局书记，从此成为职业革命家</a:t>
            </a:r>
            <a:r>
              <a:rPr lang="zh-CN" altLang="zh-CN" sz="2800" b="1" dirty="0">
                <a:solidFill>
                  <a:schemeClr val="bg1"/>
                </a:solidFill>
                <a:latin typeface="楷体_GB2312" pitchFamily="49" charset="-122"/>
                <a:ea typeface="楷体_GB2312" pitchFamily="49" charset="-122"/>
              </a:rPr>
              <a:t>。</a:t>
            </a:r>
            <a:endParaRPr lang="zh-CN" altLang="en-US" sz="2800" b="1" dirty="0">
              <a:solidFill>
                <a:schemeClr val="bg1"/>
              </a:solidFill>
              <a:latin typeface="楷体_GB2312" pitchFamily="49" charset="-122"/>
              <a:ea typeface="楷体_GB2312" pitchFamily="49" charset="-122"/>
            </a:endParaRPr>
          </a:p>
          <a:p>
            <a:endParaRPr lang="zh-CN" altLang="en-US"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5.</a:t>
            </a:r>
            <a:r>
              <a:rPr lang="zh-CN" altLang="zh-CN" sz="2800" b="1" dirty="0">
                <a:solidFill>
                  <a:schemeClr val="bg1"/>
                </a:solidFill>
                <a:latin typeface="楷体_GB2312" pitchFamily="49" charset="-122"/>
                <a:ea typeface="楷体_GB2312" pitchFamily="49" charset="-122"/>
              </a:rPr>
              <a:t>工作期间，试图坚持独立自主原则，但</a:t>
            </a:r>
            <a:r>
              <a:rPr lang="zh-CN" altLang="zh-CN" sz="2800" b="1" dirty="0">
                <a:solidFill>
                  <a:srgbClr val="FFFF00"/>
                </a:solidFill>
                <a:latin typeface="楷体_GB2312" pitchFamily="49" charset="-122"/>
                <a:ea typeface="楷体_GB2312" pitchFamily="49" charset="-122"/>
              </a:rPr>
              <a:t>各种因素</a:t>
            </a:r>
            <a:r>
              <a:rPr lang="zh-CN" altLang="zh-CN" sz="2800" b="1" dirty="0">
                <a:solidFill>
                  <a:schemeClr val="bg1"/>
                </a:solidFill>
                <a:latin typeface="楷体_GB2312" pitchFamily="49" charset="-122"/>
                <a:ea typeface="楷体_GB2312" pitchFamily="49" charset="-122"/>
              </a:rPr>
              <a:t>使得他最终接受共产国际政治指导和经费资助</a:t>
            </a:r>
            <a:r>
              <a:rPr lang="zh-CN" altLang="en-US" sz="2800" b="1" dirty="0">
                <a:solidFill>
                  <a:schemeClr val="bg1"/>
                </a:solidFill>
                <a:latin typeface="楷体_GB2312" pitchFamily="49" charset="-122"/>
                <a:ea typeface="楷体_GB2312" pitchFamily="49" charset="-122"/>
              </a:rPr>
              <a:t>。</a:t>
            </a:r>
          </a:p>
          <a:p>
            <a:endParaRPr lang="zh-CN" altLang="en-US" sz="2800" b="1" dirty="0">
              <a:solidFill>
                <a:schemeClr val="bg1"/>
              </a:solidFill>
              <a:latin typeface="楷体_GB2312" pitchFamily="49" charset="-122"/>
              <a:ea typeface="楷体_GB2312" pitchFamily="49" charset="-122"/>
            </a:endParaRPr>
          </a:p>
          <a:p>
            <a:r>
              <a:rPr lang="en-US" altLang="zh-CN" sz="2800" b="1" dirty="0">
                <a:solidFill>
                  <a:schemeClr val="bg1"/>
                </a:solidFill>
                <a:latin typeface="楷体_GB2312" pitchFamily="49" charset="-122"/>
                <a:ea typeface="楷体_GB2312" pitchFamily="49" charset="-122"/>
              </a:rPr>
              <a:t>6.</a:t>
            </a:r>
            <a:r>
              <a:rPr lang="zh-CN" altLang="zh-CN" sz="2800" b="1" dirty="0">
                <a:solidFill>
                  <a:schemeClr val="bg1"/>
                </a:solidFill>
                <a:latin typeface="楷体_GB2312" pitchFamily="49" charset="-122"/>
                <a:ea typeface="楷体_GB2312" pitchFamily="49" charset="-122"/>
                <a:sym typeface="宋体" panose="02010600030101010101" pitchFamily="2" charset="-122"/>
              </a:rPr>
              <a:t>从上海发起组成立到</a:t>
            </a:r>
            <a:r>
              <a:rPr lang="en-US" altLang="zh-CN" sz="2800" b="1" dirty="0">
                <a:solidFill>
                  <a:schemeClr val="bg1"/>
                </a:solidFill>
                <a:latin typeface="楷体_GB2312" pitchFamily="49" charset="-122"/>
                <a:ea typeface="楷体_GB2312" pitchFamily="49" charset="-122"/>
                <a:sym typeface="宋体" panose="02010600030101010101" pitchFamily="2" charset="-122"/>
              </a:rPr>
              <a:t>1927</a:t>
            </a:r>
            <a:r>
              <a:rPr lang="zh-CN" altLang="en-US" sz="2800" b="1" dirty="0">
                <a:solidFill>
                  <a:schemeClr val="bg1"/>
                </a:solidFill>
                <a:latin typeface="楷体_GB2312" pitchFamily="49" charset="-122"/>
                <a:ea typeface="楷体_GB2312" pitchFamily="49" charset="-122"/>
                <a:sym typeface="宋体" panose="02010600030101010101" pitchFamily="2" charset="-122"/>
              </a:rPr>
              <a:t>年党的五大，陈独秀不仅是中国共产党的主要创始人，也是党的主要领导人，直到</a:t>
            </a:r>
            <a:r>
              <a:rPr lang="en-US" altLang="zh-CN" sz="2800" b="1" dirty="0">
                <a:solidFill>
                  <a:schemeClr val="bg1"/>
                </a:solidFill>
                <a:latin typeface="楷体_GB2312" pitchFamily="49" charset="-122"/>
                <a:ea typeface="楷体_GB2312" pitchFamily="49" charset="-122"/>
                <a:sym typeface="宋体" panose="02010600030101010101" pitchFamily="2" charset="-122"/>
              </a:rPr>
              <a:t>1927</a:t>
            </a:r>
            <a:r>
              <a:rPr lang="zh-CN" altLang="en-US" sz="2800" b="1" dirty="0">
                <a:solidFill>
                  <a:schemeClr val="bg1"/>
                </a:solidFill>
                <a:latin typeface="楷体_GB2312" pitchFamily="49" charset="-122"/>
                <a:ea typeface="楷体_GB2312" pitchFamily="49" charset="-122"/>
                <a:sym typeface="宋体" panose="02010600030101010101" pitchFamily="2" charset="-122"/>
              </a:rPr>
              <a:t>年八七会议前夕的</a:t>
            </a:r>
            <a:r>
              <a:rPr lang="en-US" altLang="zh-CN" sz="2800" b="1" dirty="0">
                <a:solidFill>
                  <a:srgbClr val="FFFF00"/>
                </a:solidFill>
                <a:latin typeface="楷体_GB2312" pitchFamily="49" charset="-122"/>
                <a:ea typeface="楷体_GB2312" pitchFamily="49" charset="-122"/>
                <a:sym typeface="宋体" panose="02010600030101010101" pitchFamily="2" charset="-122"/>
              </a:rPr>
              <a:t>7</a:t>
            </a:r>
            <a:r>
              <a:rPr lang="zh-CN" altLang="en-US" sz="2800" b="1" dirty="0">
                <a:solidFill>
                  <a:srgbClr val="FFFF00"/>
                </a:solidFill>
                <a:latin typeface="楷体_GB2312" pitchFamily="49" charset="-122"/>
                <a:ea typeface="楷体_GB2312" pitchFamily="49" charset="-122"/>
                <a:sym typeface="宋体" panose="02010600030101010101" pitchFamily="2" charset="-122"/>
              </a:rPr>
              <a:t>月</a:t>
            </a:r>
            <a:r>
              <a:rPr lang="en-US" altLang="zh-CN" sz="2800" b="1" dirty="0">
                <a:solidFill>
                  <a:srgbClr val="FFFF00"/>
                </a:solidFill>
                <a:latin typeface="楷体_GB2312" pitchFamily="49" charset="-122"/>
                <a:ea typeface="楷体_GB2312" pitchFamily="49" charset="-122"/>
                <a:sym typeface="宋体" panose="02010600030101010101" pitchFamily="2" charset="-122"/>
              </a:rPr>
              <a:t>12</a:t>
            </a:r>
            <a:r>
              <a:rPr lang="zh-CN" altLang="en-US" sz="2800" b="1" dirty="0">
                <a:solidFill>
                  <a:srgbClr val="FFFF00"/>
                </a:solidFill>
                <a:latin typeface="楷体_GB2312" pitchFamily="49" charset="-122"/>
                <a:ea typeface="楷体_GB2312" pitchFamily="49" charset="-122"/>
                <a:sym typeface="宋体" panose="02010600030101010101" pitchFamily="2" charset="-122"/>
              </a:rPr>
              <a:t>日</a:t>
            </a:r>
            <a:r>
              <a:rPr lang="zh-CN" altLang="en-US" sz="2800" b="1" dirty="0">
                <a:solidFill>
                  <a:schemeClr val="bg1"/>
                </a:solidFill>
                <a:latin typeface="楷体_GB2312" pitchFamily="49" charset="-122"/>
                <a:ea typeface="楷体_GB2312" pitchFamily="49" charset="-122"/>
                <a:sym typeface="宋体" panose="02010600030101010101" pitchFamily="2" charset="-122"/>
              </a:rPr>
              <a:t>共产国际代表宣布党内领导人重新分工，他</a:t>
            </a:r>
            <a:r>
              <a:rPr lang="zh-CN" altLang="en-US" sz="2800" dirty="0">
                <a:solidFill>
                  <a:schemeClr val="bg1"/>
                </a:solidFill>
                <a:latin typeface="楷体_GB2312" pitchFamily="49" charset="-122"/>
                <a:ea typeface="楷体_GB2312" pitchFamily="49" charset="-122"/>
                <a:sym typeface="宋体" panose="02010600030101010101" pitchFamily="2" charset="-122"/>
              </a:rPr>
              <a:t>“</a:t>
            </a:r>
            <a:r>
              <a:rPr lang="zh-CN" altLang="en-US" sz="2800" b="1" dirty="0">
                <a:solidFill>
                  <a:srgbClr val="FFFF00"/>
                </a:solidFill>
                <a:latin typeface="楷体_GB2312" pitchFamily="49" charset="-122"/>
                <a:ea typeface="楷体_GB2312" pitchFamily="49" charset="-122"/>
                <a:sym typeface="宋体" panose="02010600030101010101" pitchFamily="2" charset="-122"/>
              </a:rPr>
              <a:t>自此即不视事</a:t>
            </a:r>
            <a:r>
              <a:rPr lang="zh-CN" altLang="en-US" sz="2800" dirty="0">
                <a:solidFill>
                  <a:schemeClr val="bg1"/>
                </a:solidFill>
                <a:latin typeface="楷体_GB2312" pitchFamily="49" charset="-122"/>
                <a:ea typeface="楷体_GB2312" pitchFamily="49" charset="-122"/>
                <a:sym typeface="宋体" panose="02010600030101010101" pitchFamily="2" charset="-122"/>
              </a:rPr>
              <a:t>”</a:t>
            </a:r>
            <a:r>
              <a:rPr lang="zh-CN" altLang="zh-CN" sz="2800" b="1" dirty="0">
                <a:solidFill>
                  <a:schemeClr val="bg1"/>
                </a:solidFill>
                <a:latin typeface="楷体_GB2312" pitchFamily="49" charset="-122"/>
                <a:ea typeface="楷体_GB2312" pitchFamily="49" charset="-122"/>
                <a:sym typeface="宋体" panose="02010600030101010101" pitchFamily="2" charset="-122"/>
              </a:rPr>
              <a:t>。</a:t>
            </a:r>
            <a:endParaRPr lang="en-US" altLang="zh-CN" sz="2800"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9538" y="260350"/>
            <a:ext cx="8915400" cy="1143000"/>
          </a:xfrm>
        </p:spPr>
        <p:txBody>
          <a:bodyPr vert="horz" wrap="square" lIns="91440" tIns="45720" rIns="91440" bIns="45720" anchor="ctr" anchorCtr="0"/>
          <a:lstStyle/>
          <a:p>
            <a:r>
              <a:rPr lang="zh-CN" altLang="en-US" sz="3600" b="1" dirty="0" smtClean="0">
                <a:solidFill>
                  <a:schemeClr val="bg1"/>
                </a:solidFill>
              </a:rPr>
              <a:t>中共一</a:t>
            </a:r>
            <a:r>
              <a:rPr lang="zh-CN" altLang="en-US" sz="3600" b="1" dirty="0">
                <a:solidFill>
                  <a:schemeClr val="bg1"/>
                </a:solidFill>
              </a:rPr>
              <a:t>大在上海法租界和浙江嘉兴南湖召开</a:t>
            </a:r>
          </a:p>
        </p:txBody>
      </p:sp>
      <p:sp>
        <p:nvSpPr>
          <p:cNvPr id="32771" name="内容占位符 2"/>
          <p:cNvSpPr>
            <a:spLocks noGrp="1"/>
          </p:cNvSpPr>
          <p:nvPr>
            <p:ph idx="1"/>
          </p:nvPr>
        </p:nvSpPr>
        <p:spPr/>
        <p:txBody>
          <a:bodyPr vert="horz" wrap="square" lIns="91440" tIns="45720" rIns="91440" bIns="45720" anchor="t" anchorCtr="0"/>
          <a:lstStyle/>
          <a:p>
            <a:endParaRPr lang="zh-CN" altLang="en-US" dirty="0"/>
          </a:p>
        </p:txBody>
      </p:sp>
      <p:pic>
        <p:nvPicPr>
          <p:cNvPr id="32772" name="Picture 2" descr="http://img.hexun.com/2011-06-30/131033728.jpg"/>
          <p:cNvPicPr>
            <a:picLocks noChangeAspect="1"/>
          </p:cNvPicPr>
          <p:nvPr/>
        </p:nvPicPr>
        <p:blipFill>
          <a:blip r:embed="rId2"/>
          <a:stretch>
            <a:fillRect/>
          </a:stretch>
        </p:blipFill>
        <p:spPr>
          <a:xfrm>
            <a:off x="500063" y="1571625"/>
            <a:ext cx="8215312" cy="4857750"/>
          </a:xfrm>
          <a:prstGeom prst="rect">
            <a:avLst/>
          </a:prstGeom>
          <a:noFill/>
          <a:ln w="9525">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155575" y="274638"/>
            <a:ext cx="8926513" cy="846137"/>
          </a:xfrm>
        </p:spPr>
        <p:txBody>
          <a:bodyPr vert="horz" wrap="square" lIns="91440" tIns="45720" rIns="91440" bIns="45720" anchor="ctr" anchorCtr="0"/>
          <a:lstStyle/>
          <a:p>
            <a:r>
              <a:rPr lang="zh-CN" altLang="en-US" sz="3600" b="1" dirty="0">
                <a:solidFill>
                  <a:srgbClr val="FFFF00"/>
                </a:solidFill>
                <a:latin typeface="华文中宋" panose="02010600040101010101" pitchFamily="2" charset="-122"/>
                <a:ea typeface="华文中宋" panose="02010600040101010101" pitchFamily="2" charset="-122"/>
              </a:rPr>
              <a:t>2021年6月3日启用的中共一大纪念馆新貌</a:t>
            </a:r>
          </a:p>
        </p:txBody>
      </p:sp>
      <p:pic>
        <p:nvPicPr>
          <p:cNvPr id="33795" name="内容占位符 3"/>
          <p:cNvPicPr>
            <a:picLocks noGrp="1" noChangeAspect="1"/>
          </p:cNvPicPr>
          <p:nvPr>
            <p:ph idx="1"/>
          </p:nvPr>
        </p:nvPicPr>
        <p:blipFill>
          <a:blip r:embed="rId2"/>
          <a:srcRect/>
          <a:stretch>
            <a:fillRect/>
          </a:stretch>
        </p:blipFill>
        <p:spPr>
          <a:xfrm>
            <a:off x="0" y="1419225"/>
            <a:ext cx="9144000" cy="5427663"/>
          </a:xfr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idx="4294967295"/>
          </p:nvPr>
        </p:nvSpPr>
        <p:spPr>
          <a:xfrm>
            <a:off x="285750" y="274638"/>
            <a:ext cx="8572500" cy="1143000"/>
          </a:xfrm>
        </p:spPr>
        <p:txBody>
          <a:bodyPr vert="horz" wrap="square" lIns="91440" tIns="45720" rIns="91440" bIns="45720" anchor="ctr" anchorCtr="0"/>
          <a:lstStyle/>
          <a:p>
            <a:r>
              <a:rPr lang="zh-CN" altLang="en-US" sz="3600" b="1" dirty="0">
                <a:solidFill>
                  <a:srgbClr val="FFFF00"/>
                </a:solidFill>
                <a:latin typeface="华文中宋" panose="02010600040101010101" pitchFamily="2" charset="-122"/>
                <a:ea typeface="华文中宋" panose="02010600040101010101" pitchFamily="2" charset="-122"/>
              </a:rPr>
              <a:t>（三）亲自主持召开中共二大制定党章</a:t>
            </a:r>
          </a:p>
        </p:txBody>
      </p:sp>
      <p:sp>
        <p:nvSpPr>
          <p:cNvPr id="34819" name="Rectangle 3"/>
          <p:cNvSpPr>
            <a:spLocks noGrp="1"/>
          </p:cNvSpPr>
          <p:nvPr>
            <p:ph idx="4294967295"/>
          </p:nvPr>
        </p:nvSpPr>
        <p:spPr>
          <a:xfrm>
            <a:off x="285750" y="1428750"/>
            <a:ext cx="8572500" cy="4929188"/>
          </a:xfrm>
        </p:spPr>
        <p:txBody>
          <a:bodyPr vert="horz" wrap="square" lIns="91440" tIns="45720" rIns="91440" bIns="45720" anchor="t" anchorCtr="0"/>
          <a:lstStyle/>
          <a:p>
            <a:r>
              <a:rPr lang="en-US" altLang="zh-CN" sz="2400" b="1" dirty="0">
                <a:solidFill>
                  <a:schemeClr val="bg1"/>
                </a:solidFill>
              </a:rPr>
              <a:t>1922.7.16-7.23</a:t>
            </a:r>
            <a:r>
              <a:rPr lang="zh-CN" altLang="en-US" sz="2400" b="1" dirty="0">
                <a:solidFill>
                  <a:schemeClr val="bg1"/>
                </a:solidFill>
              </a:rPr>
              <a:t>，</a:t>
            </a:r>
            <a:r>
              <a:rPr lang="zh-CN" altLang="zh-CN" sz="2400" b="1" dirty="0">
                <a:solidFill>
                  <a:schemeClr val="bg1"/>
                </a:solidFill>
              </a:rPr>
              <a:t>在上海公共租界，陈独秀主持召开</a:t>
            </a:r>
            <a:r>
              <a:rPr lang="zh-CN" altLang="en-US" sz="2400" b="1" dirty="0">
                <a:solidFill>
                  <a:schemeClr val="bg1"/>
                </a:solidFill>
              </a:rPr>
              <a:t>了党的二大</a:t>
            </a:r>
            <a:r>
              <a:rPr lang="zh-CN" altLang="zh-CN" sz="2400" b="1" dirty="0">
                <a:solidFill>
                  <a:schemeClr val="bg1"/>
                </a:solidFill>
              </a:rPr>
              <a:t>。取得了一系列重大成果，有人归纳</a:t>
            </a:r>
            <a:r>
              <a:rPr lang="zh-CN" altLang="zh-CN" sz="2400" b="1" dirty="0" smtClean="0">
                <a:solidFill>
                  <a:schemeClr val="bg1"/>
                </a:solidFill>
              </a:rPr>
              <a:t>为</a:t>
            </a:r>
            <a:r>
              <a:rPr lang="zh-CN" altLang="en-US" sz="2400" b="1" dirty="0" smtClean="0">
                <a:solidFill>
                  <a:schemeClr val="bg1"/>
                </a:solidFill>
              </a:rPr>
              <a:t>六</a:t>
            </a:r>
            <a:r>
              <a:rPr lang="zh-CN" altLang="zh-CN" sz="2400" b="1" dirty="0" smtClean="0">
                <a:solidFill>
                  <a:schemeClr val="bg1"/>
                </a:solidFill>
              </a:rPr>
              <a:t>个</a:t>
            </a:r>
            <a:r>
              <a:rPr lang="zh-CN" altLang="zh-CN" sz="2400" b="1" dirty="0">
                <a:solidFill>
                  <a:schemeClr val="bg1"/>
                </a:solidFill>
              </a:rPr>
              <a:t>“第一”：</a:t>
            </a:r>
            <a:endParaRPr lang="en-US" altLang="zh-CN" sz="2400" b="1" dirty="0">
              <a:solidFill>
                <a:schemeClr val="bg1"/>
              </a:solidFill>
            </a:endParaRPr>
          </a:p>
          <a:p>
            <a:r>
              <a:rPr lang="zh-CN" altLang="zh-CN" sz="2400" b="1" u="sng" dirty="0">
                <a:solidFill>
                  <a:schemeClr val="bg1"/>
                </a:solidFill>
                <a:latin typeface="楷体_GB2312" pitchFamily="49" charset="-122"/>
                <a:ea typeface="楷体_GB2312" pitchFamily="49" charset="-122"/>
              </a:rPr>
              <a:t>第一次鲜明制定党的</a:t>
            </a:r>
            <a:r>
              <a:rPr lang="zh-CN" altLang="zh-CN" sz="2400" b="1" u="sng" dirty="0">
                <a:solidFill>
                  <a:srgbClr val="FFFF00"/>
                </a:solidFill>
                <a:latin typeface="楷体_GB2312" pitchFamily="49" charset="-122"/>
                <a:ea typeface="楷体_GB2312" pitchFamily="49" charset="-122"/>
              </a:rPr>
              <a:t>民主革命纲领</a:t>
            </a:r>
            <a:r>
              <a:rPr lang="zh-CN" altLang="zh-CN" sz="2400" b="1" dirty="0">
                <a:solidFill>
                  <a:schemeClr val="bg1"/>
                </a:solidFill>
                <a:latin typeface="楷体_GB2312" pitchFamily="49" charset="-122"/>
                <a:ea typeface="楷体_GB2312" pitchFamily="49" charset="-122"/>
              </a:rPr>
              <a:t>；</a:t>
            </a:r>
            <a:endParaRPr lang="en-US" altLang="zh-CN" sz="2400" b="1" dirty="0">
              <a:solidFill>
                <a:schemeClr val="bg1"/>
              </a:solidFill>
              <a:latin typeface="楷体_GB2312" pitchFamily="49" charset="-122"/>
              <a:ea typeface="楷体_GB2312" pitchFamily="49" charset="-122"/>
            </a:endParaRPr>
          </a:p>
          <a:p>
            <a:r>
              <a:rPr lang="zh-CN" altLang="zh-CN" sz="2400" b="1" u="sng" dirty="0">
                <a:solidFill>
                  <a:srgbClr val="FFFF00"/>
                </a:solidFill>
                <a:latin typeface="楷体_GB2312" pitchFamily="49" charset="-122"/>
                <a:ea typeface="楷体_GB2312" pitchFamily="49" charset="-122"/>
              </a:rPr>
              <a:t>第一次完整制定党的章程</a:t>
            </a:r>
            <a:r>
              <a:rPr lang="zh-CN" altLang="zh-CN" sz="2400" b="1" u="sng" dirty="0">
                <a:solidFill>
                  <a:schemeClr val="bg1"/>
                </a:solidFill>
                <a:latin typeface="楷体_GB2312" pitchFamily="49" charset="-122"/>
                <a:ea typeface="楷体_GB2312" pitchFamily="49" charset="-122"/>
              </a:rPr>
              <a:t>，首次写入党“铁的纪律”</a:t>
            </a:r>
            <a:r>
              <a:rPr lang="zh-CN" altLang="zh-CN" sz="2400" b="1" dirty="0">
                <a:solidFill>
                  <a:schemeClr val="bg1"/>
                </a:solidFill>
                <a:latin typeface="楷体_GB2312" pitchFamily="49" charset="-122"/>
                <a:ea typeface="楷体_GB2312" pitchFamily="49" charset="-122"/>
              </a:rPr>
              <a:t>；</a:t>
            </a:r>
            <a:endParaRPr lang="en-US" altLang="zh-CN" sz="2400" b="1" dirty="0">
              <a:solidFill>
                <a:schemeClr val="bg1"/>
              </a:solidFill>
              <a:latin typeface="楷体_GB2312" pitchFamily="49" charset="-122"/>
              <a:ea typeface="楷体_GB2312" pitchFamily="49" charset="-122"/>
            </a:endParaRPr>
          </a:p>
          <a:p>
            <a:r>
              <a:rPr lang="zh-CN" altLang="zh-CN" sz="2400" b="1" dirty="0">
                <a:solidFill>
                  <a:schemeClr val="bg1"/>
                </a:solidFill>
                <a:latin typeface="楷体_GB2312" pitchFamily="49" charset="-122"/>
                <a:ea typeface="楷体_GB2312" pitchFamily="49" charset="-122"/>
              </a:rPr>
              <a:t>第一次通过建立民主的联合战线的决定，最早提出关于</a:t>
            </a:r>
            <a:r>
              <a:rPr lang="zh-CN" altLang="zh-CN" sz="2400" b="1" u="sng" dirty="0">
                <a:solidFill>
                  <a:srgbClr val="FFFF00"/>
                </a:solidFill>
                <a:latin typeface="楷体_GB2312" pitchFamily="49" charset="-122"/>
                <a:ea typeface="楷体_GB2312" pitchFamily="49" charset="-122"/>
              </a:rPr>
              <a:t>统一战线的思想</a:t>
            </a:r>
            <a:r>
              <a:rPr lang="zh-CN" altLang="zh-CN" sz="2400" b="1" dirty="0">
                <a:solidFill>
                  <a:schemeClr val="bg1"/>
                </a:solidFill>
                <a:latin typeface="楷体_GB2312" pitchFamily="49" charset="-122"/>
                <a:ea typeface="楷体_GB2312" pitchFamily="49" charset="-122"/>
              </a:rPr>
              <a:t>和主张；</a:t>
            </a:r>
            <a:endParaRPr lang="en-US" altLang="zh-CN" sz="2400" b="1" dirty="0">
              <a:solidFill>
                <a:schemeClr val="bg1"/>
              </a:solidFill>
              <a:latin typeface="楷体_GB2312" pitchFamily="49" charset="-122"/>
              <a:ea typeface="楷体_GB2312" pitchFamily="49" charset="-122"/>
            </a:endParaRPr>
          </a:p>
          <a:p>
            <a:r>
              <a:rPr lang="zh-CN" altLang="zh-CN" sz="2400" b="1" dirty="0">
                <a:solidFill>
                  <a:schemeClr val="bg1"/>
                </a:solidFill>
                <a:latin typeface="楷体_GB2312" pitchFamily="49" charset="-122"/>
                <a:ea typeface="楷体_GB2312" pitchFamily="49" charset="-122"/>
              </a:rPr>
              <a:t>第一次对中国社会政治经济状况作出详细分析；</a:t>
            </a:r>
            <a:endParaRPr lang="en-US" altLang="zh-CN" sz="2400" b="1" dirty="0">
              <a:solidFill>
                <a:schemeClr val="bg1"/>
              </a:solidFill>
              <a:latin typeface="楷体_GB2312" pitchFamily="49" charset="-122"/>
              <a:ea typeface="楷体_GB2312" pitchFamily="49" charset="-122"/>
            </a:endParaRPr>
          </a:p>
          <a:p>
            <a:r>
              <a:rPr lang="zh-CN" altLang="zh-CN" sz="2400" b="1" dirty="0">
                <a:solidFill>
                  <a:schemeClr val="bg1"/>
                </a:solidFill>
                <a:latin typeface="楷体_GB2312" pitchFamily="49" charset="-122"/>
                <a:ea typeface="楷体_GB2312" pitchFamily="49" charset="-122"/>
              </a:rPr>
              <a:t>第一次比较完整地提出对工会、青年、妇女运动的要求；</a:t>
            </a:r>
            <a:endParaRPr lang="en-US" altLang="zh-CN" sz="2400" b="1" dirty="0">
              <a:solidFill>
                <a:schemeClr val="bg1"/>
              </a:solidFill>
              <a:latin typeface="楷体_GB2312" pitchFamily="49" charset="-122"/>
              <a:ea typeface="楷体_GB2312" pitchFamily="49" charset="-122"/>
            </a:endParaRPr>
          </a:p>
          <a:p>
            <a:r>
              <a:rPr lang="zh-CN" altLang="zh-CN" sz="2400" b="1" dirty="0">
                <a:solidFill>
                  <a:schemeClr val="bg1"/>
                </a:solidFill>
                <a:latin typeface="楷体_GB2312" pitchFamily="49" charset="-122"/>
                <a:ea typeface="楷体_GB2312" pitchFamily="49" charset="-122"/>
              </a:rPr>
              <a:t>第一次提出和通过</a:t>
            </a:r>
            <a:r>
              <a:rPr lang="zh-CN" altLang="zh-CN" sz="2400" b="1" u="sng" dirty="0">
                <a:solidFill>
                  <a:srgbClr val="FFFF00"/>
                </a:solidFill>
                <a:latin typeface="楷体_GB2312" pitchFamily="49" charset="-122"/>
                <a:ea typeface="楷体_GB2312" pitchFamily="49" charset="-122"/>
              </a:rPr>
              <a:t>加入共产国际</a:t>
            </a:r>
            <a:r>
              <a:rPr lang="zh-CN" altLang="zh-CN" sz="2400" b="1" dirty="0">
                <a:solidFill>
                  <a:schemeClr val="bg1"/>
                </a:solidFill>
                <a:latin typeface="楷体_GB2312" pitchFamily="49" charset="-122"/>
                <a:ea typeface="楷体_GB2312" pitchFamily="49" charset="-122"/>
              </a:rPr>
              <a:t>的决定</a:t>
            </a:r>
            <a:r>
              <a:rPr lang="zh-CN" altLang="en-US" sz="2400" b="1" dirty="0">
                <a:solidFill>
                  <a:schemeClr val="bg1"/>
                </a:solidFill>
                <a:latin typeface="楷体_GB2312" pitchFamily="49" charset="-122"/>
                <a:ea typeface="楷体_GB2312" pitchFamily="49" charset="-122"/>
              </a:rPr>
              <a:t>，等等。</a:t>
            </a:r>
            <a:endParaRPr lang="en-US" altLang="zh-CN" sz="2400" b="1" dirty="0">
              <a:solidFill>
                <a:schemeClr val="bg1"/>
              </a:solidFill>
              <a:latin typeface="楷体_GB2312" pitchFamily="49" charset="-122"/>
              <a:ea typeface="楷体_GB2312" pitchFamily="49" charset="-122"/>
            </a:endParaRPr>
          </a:p>
          <a:p>
            <a:r>
              <a:rPr lang="zh-CN" altLang="zh-CN" sz="2400" b="1" dirty="0">
                <a:solidFill>
                  <a:schemeClr val="bg1"/>
                </a:solidFill>
                <a:latin typeface="楷体_GB2312" pitchFamily="49" charset="-122"/>
                <a:ea typeface="楷体_GB2312" pitchFamily="49" charset="-122"/>
              </a:rPr>
              <a:t>中共“二大”是党的创建任务完成的界碑，使党定型</a:t>
            </a:r>
            <a:r>
              <a:rPr lang="zh-CN" altLang="en-US" sz="2400" b="1" dirty="0">
                <a:solidFill>
                  <a:schemeClr val="bg1"/>
                </a:solidFill>
                <a:latin typeface="楷体_GB2312" pitchFamily="49" charset="-122"/>
                <a:ea typeface="楷体_GB2312" pitchFamily="49" charset="-122"/>
              </a:rPr>
              <a:t>。</a:t>
            </a:r>
            <a:endParaRPr lang="en-US" altLang="zh-CN" sz="2400" b="1" dirty="0">
              <a:solidFill>
                <a:schemeClr val="bg1"/>
              </a:solidFill>
              <a:latin typeface="楷体_GB2312" pitchFamily="49" charset="-122"/>
              <a:ea typeface="楷体_GB2312" pitchFamily="49" charset="-122"/>
            </a:endParaRPr>
          </a:p>
          <a:p>
            <a:r>
              <a:rPr lang="zh-CN" altLang="zh-CN" sz="2400" b="1" dirty="0">
                <a:solidFill>
                  <a:schemeClr val="bg1"/>
                </a:solidFill>
                <a:latin typeface="楷体_GB2312" pitchFamily="49" charset="-122"/>
                <a:ea typeface="楷体_GB2312" pitchFamily="49" charset="-122"/>
              </a:rPr>
              <a:t>至此，中国共产党的创建大业宣告完成。</a:t>
            </a:r>
            <a:endParaRPr lang="zh-CN" altLang="en-US" sz="2400" b="1" dirty="0">
              <a:solidFill>
                <a:schemeClr val="bg1"/>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1"/>
          <p:cNvSpPr/>
          <p:nvPr/>
        </p:nvSpPr>
        <p:spPr>
          <a:xfrm>
            <a:off x="428625" y="428625"/>
            <a:ext cx="8286750" cy="5238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zh-CN" altLang="en-US" sz="2800" b="1" dirty="0">
                <a:solidFill>
                  <a:schemeClr val="bg1"/>
                </a:solidFill>
              </a:rPr>
              <a:t>上海南成都路辅德里</a:t>
            </a:r>
            <a:r>
              <a:rPr lang="en-US" altLang="zh-CN" sz="2800" b="1" dirty="0">
                <a:solidFill>
                  <a:schemeClr val="bg1"/>
                </a:solidFill>
              </a:rPr>
              <a:t>625</a:t>
            </a:r>
            <a:r>
              <a:rPr lang="zh-CN" altLang="en-US" sz="2800" b="1" dirty="0">
                <a:solidFill>
                  <a:schemeClr val="bg1"/>
                </a:solidFill>
              </a:rPr>
              <a:t>号（今老成都北路</a:t>
            </a:r>
            <a:r>
              <a:rPr lang="en-US" altLang="zh-CN" sz="2800" b="1" dirty="0">
                <a:solidFill>
                  <a:schemeClr val="bg1"/>
                </a:solidFill>
              </a:rPr>
              <a:t>7</a:t>
            </a:r>
            <a:r>
              <a:rPr lang="zh-CN" altLang="en-US" sz="2800" b="1" dirty="0">
                <a:solidFill>
                  <a:schemeClr val="bg1"/>
                </a:solidFill>
              </a:rPr>
              <a:t>弄</a:t>
            </a:r>
            <a:r>
              <a:rPr lang="en-US" altLang="zh-CN" sz="2800" b="1" dirty="0">
                <a:solidFill>
                  <a:schemeClr val="bg1"/>
                </a:solidFill>
              </a:rPr>
              <a:t>30</a:t>
            </a:r>
            <a:r>
              <a:rPr lang="zh-CN" altLang="en-US" sz="2800" b="1" dirty="0">
                <a:solidFill>
                  <a:schemeClr val="bg1"/>
                </a:solidFill>
              </a:rPr>
              <a:t>号）</a:t>
            </a:r>
          </a:p>
        </p:txBody>
      </p:sp>
      <p:pic>
        <p:nvPicPr>
          <p:cNvPr id="36867" name="Picture 2"/>
          <p:cNvPicPr>
            <a:picLocks noChangeAspect="1"/>
          </p:cNvPicPr>
          <p:nvPr/>
        </p:nvPicPr>
        <p:blipFill>
          <a:blip r:embed="rId2"/>
          <a:stretch>
            <a:fillRect/>
          </a:stretch>
        </p:blipFill>
        <p:spPr>
          <a:xfrm>
            <a:off x="571500" y="1247775"/>
            <a:ext cx="8001000" cy="5324475"/>
          </a:xfrm>
          <a:prstGeom prst="rect">
            <a:avLst/>
          </a:prstGeom>
          <a:noFill/>
          <a:ln w="9525">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54273"/>
          <p:cNvSpPr>
            <a:spLocks noGrp="1"/>
          </p:cNvSpPr>
          <p:nvPr>
            <p:ph type="title"/>
          </p:nvPr>
        </p:nvSpPr>
        <p:spPr/>
        <p:txBody>
          <a:bodyPr vert="horz" wrap="square" lIns="91440" tIns="45720" rIns="91440" bIns="45720" anchor="ctr" anchorCtr="0"/>
          <a:lstStyle/>
          <a:p>
            <a:r>
              <a:rPr lang="zh-CN" altLang="en-US" sz="3200" dirty="0">
                <a:solidFill>
                  <a:srgbClr val="FFFF00"/>
                </a:solidFill>
                <a:latin typeface="黑体" panose="02010609060101010101" pitchFamily="49" charset="-122"/>
                <a:ea typeface="黑体" panose="02010609060101010101" pitchFamily="49" charset="-122"/>
                <a:sym typeface="宋体" panose="02010600030101010101" pitchFamily="2" charset="-122"/>
              </a:rPr>
              <a:t>三、陈独秀建党与</a:t>
            </a:r>
            <a:r>
              <a:rPr lang="zh-CN" altLang="en-US" sz="3200" dirty="0" smtClean="0">
                <a:solidFill>
                  <a:srgbClr val="FFFF00"/>
                </a:solidFill>
                <a:latin typeface="黑体" panose="02010609060101010101" pitchFamily="49" charset="-122"/>
                <a:ea typeface="黑体" panose="02010609060101010101" pitchFamily="49" charset="-122"/>
                <a:sym typeface="宋体" panose="02010600030101010101" pitchFamily="2" charset="-122"/>
              </a:rPr>
              <a:t>“伟大建党精神”形成</a:t>
            </a:r>
            <a:endParaRPr lang="zh-CN" altLang="en-US" sz="3200" b="1" dirty="0">
              <a:solidFill>
                <a:schemeClr val="bg1"/>
              </a:solidFill>
              <a:latin typeface="华文中宋" panose="02010600040101010101" pitchFamily="2" charset="-122"/>
              <a:ea typeface="华文中宋" panose="02010600040101010101" pitchFamily="2" charset="-122"/>
            </a:endParaRPr>
          </a:p>
        </p:txBody>
      </p:sp>
      <p:sp>
        <p:nvSpPr>
          <p:cNvPr id="37891" name="文本占位符 54274"/>
          <p:cNvSpPr>
            <a:spLocks noGrp="1"/>
          </p:cNvSpPr>
          <p:nvPr>
            <p:ph idx="1"/>
          </p:nvPr>
        </p:nvSpPr>
        <p:spPr>
          <a:xfrm>
            <a:off x="201613" y="1533525"/>
            <a:ext cx="8570912" cy="4895850"/>
          </a:xfrm>
        </p:spPr>
        <p:txBody>
          <a:bodyPr vert="horz" wrap="square" lIns="91440" tIns="45720" rIns="91440" bIns="45720" anchor="t" anchorCtr="0"/>
          <a:lstStyle/>
          <a:p>
            <a:pPr>
              <a:lnSpc>
                <a:spcPct val="105000"/>
              </a:lnSpc>
              <a:spcBef>
                <a:spcPts val="25"/>
              </a:spcBef>
            </a:pPr>
            <a:r>
              <a:rPr lang="zh-CN" altLang="en-US" sz="2800" b="1" dirty="0">
                <a:solidFill>
                  <a:schemeClr val="bg1"/>
                </a:solidFill>
                <a:latin typeface="华文中宋" panose="02010600040101010101" pitchFamily="2" charset="-122"/>
                <a:ea typeface="华文中宋" panose="02010600040101010101" pitchFamily="2" charset="-122"/>
              </a:rPr>
              <a:t>（一）赢得高度评价</a:t>
            </a:r>
            <a:endParaRPr lang="zh-CN" altLang="en-US" sz="2400" b="1" dirty="0">
              <a:solidFill>
                <a:srgbClr val="FFFF00"/>
              </a:solidFill>
              <a:latin typeface="楷体" panose="02010609060101010101" pitchFamily="49" charset="-122"/>
              <a:ea typeface="楷体" panose="02010609060101010101" pitchFamily="49" charset="-122"/>
            </a:endParaRPr>
          </a:p>
          <a:p>
            <a:pPr>
              <a:lnSpc>
                <a:spcPct val="105000"/>
              </a:lnSpc>
              <a:spcBef>
                <a:spcPts val="25"/>
              </a:spcBef>
            </a:pPr>
            <a:r>
              <a:rPr lang="zh-CN" altLang="en-US" sz="2400" b="1" dirty="0">
                <a:solidFill>
                  <a:srgbClr val="FFFF00"/>
                </a:solidFill>
                <a:latin typeface="楷体" panose="02010609060101010101" pitchFamily="49" charset="-122"/>
                <a:ea typeface="楷体" panose="02010609060101010101" pitchFamily="49" charset="-122"/>
              </a:rPr>
              <a:t>毛泽东</a:t>
            </a:r>
            <a:r>
              <a:rPr lang="zh-CN" altLang="en-US" sz="2400" b="1" dirty="0">
                <a:solidFill>
                  <a:schemeClr val="bg1"/>
                </a:solidFill>
                <a:latin typeface="楷体" panose="02010609060101010101" pitchFamily="49" charset="-122"/>
                <a:ea typeface="楷体" panose="02010609060101010101" pitchFamily="49" charset="-122"/>
              </a:rPr>
              <a:t>在</a:t>
            </a:r>
            <a:r>
              <a:rPr lang="en-US" altLang="zh-CN" sz="2400" b="1" dirty="0">
                <a:solidFill>
                  <a:schemeClr val="bg1"/>
                </a:solidFill>
                <a:latin typeface="楷体" panose="02010609060101010101" pitchFamily="49" charset="-122"/>
                <a:ea typeface="楷体" panose="02010609060101010101" pitchFamily="49" charset="-122"/>
              </a:rPr>
              <a:t>1919</a:t>
            </a:r>
            <a:r>
              <a:rPr lang="zh-CN" altLang="en-US" sz="2400" b="1" dirty="0">
                <a:solidFill>
                  <a:schemeClr val="bg1"/>
                </a:solidFill>
                <a:latin typeface="楷体" panose="02010609060101010101" pitchFamily="49" charset="-122"/>
                <a:ea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rPr>
              <a:t>1936</a:t>
            </a:r>
            <a:r>
              <a:rPr lang="zh-CN" altLang="en-US" sz="2400" b="1" dirty="0">
                <a:solidFill>
                  <a:schemeClr val="bg1"/>
                </a:solidFill>
                <a:latin typeface="楷体" panose="02010609060101010101" pitchFamily="49" charset="-122"/>
                <a:ea typeface="楷体" panose="02010609060101010101" pitchFamily="49" charset="-122"/>
              </a:rPr>
              <a:t>、</a:t>
            </a:r>
            <a:r>
              <a:rPr lang="en-US" altLang="zh-CN" sz="2400" b="1" dirty="0">
                <a:solidFill>
                  <a:schemeClr val="bg1"/>
                </a:solidFill>
                <a:latin typeface="楷体" panose="02010609060101010101" pitchFamily="49" charset="-122"/>
                <a:ea typeface="楷体" panose="02010609060101010101" pitchFamily="49" charset="-122"/>
              </a:rPr>
              <a:t>1945</a:t>
            </a:r>
            <a:r>
              <a:rPr lang="zh-CN" altLang="en-US" sz="2400" b="1" dirty="0">
                <a:solidFill>
                  <a:schemeClr val="bg1"/>
                </a:solidFill>
                <a:latin typeface="楷体" panose="02010609060101010101" pitchFamily="49" charset="-122"/>
                <a:ea typeface="楷体" panose="02010609060101010101" pitchFamily="49" charset="-122"/>
              </a:rPr>
              <a:t>年曾三次高度评价陈独秀。但到建国以后，则主要作为反面典型，以批判为主。</a:t>
            </a:r>
          </a:p>
          <a:p>
            <a:pPr>
              <a:lnSpc>
                <a:spcPct val="105000"/>
              </a:lnSpc>
              <a:spcBef>
                <a:spcPts val="25"/>
              </a:spcBef>
            </a:pPr>
            <a:r>
              <a:rPr lang="zh-CN" altLang="en-US" sz="2400" b="1" dirty="0">
                <a:solidFill>
                  <a:srgbClr val="FFFF00"/>
                </a:solidFill>
                <a:latin typeface="楷体" panose="02010609060101010101" pitchFamily="49" charset="-122"/>
                <a:ea typeface="楷体" panose="02010609060101010101" pitchFamily="49" charset="-122"/>
              </a:rPr>
              <a:t>习近平</a:t>
            </a:r>
            <a:r>
              <a:rPr lang="zh-CN" altLang="en-US" sz="2400" b="1" dirty="0">
                <a:solidFill>
                  <a:schemeClr val="bg1"/>
                </a:solidFill>
                <a:latin typeface="楷体" panose="02010609060101010101" pitchFamily="49" charset="-122"/>
                <a:ea typeface="楷体" panose="02010609060101010101" pitchFamily="49" charset="-122"/>
              </a:rPr>
              <a:t>总书记</a:t>
            </a:r>
            <a:r>
              <a:rPr lang="en-US" altLang="zh-CN" sz="2400" b="1" dirty="0">
                <a:solidFill>
                  <a:schemeClr val="bg1"/>
                </a:solidFill>
                <a:latin typeface="楷体" panose="02010609060101010101" pitchFamily="49" charset="-122"/>
                <a:ea typeface="楷体" panose="02010609060101010101" pitchFamily="49" charset="-122"/>
              </a:rPr>
              <a:t>2013</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10</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21</a:t>
            </a:r>
            <a:r>
              <a:rPr lang="zh-CN" altLang="en-US" sz="2400" b="1" dirty="0">
                <a:solidFill>
                  <a:schemeClr val="bg1"/>
                </a:solidFill>
                <a:latin typeface="楷体" panose="02010609060101010101" pitchFamily="49" charset="-122"/>
                <a:ea typeface="楷体" panose="02010609060101010101" pitchFamily="49" charset="-122"/>
              </a:rPr>
              <a:t>日在欧美同学会成立</a:t>
            </a:r>
            <a:r>
              <a:rPr lang="en-US" altLang="zh-CN" sz="2400" b="1" dirty="0">
                <a:solidFill>
                  <a:schemeClr val="bg1"/>
                </a:solidFill>
                <a:latin typeface="楷体" panose="02010609060101010101" pitchFamily="49" charset="-122"/>
                <a:ea typeface="楷体" panose="02010609060101010101" pitchFamily="49" charset="-122"/>
              </a:rPr>
              <a:t>100</a:t>
            </a:r>
            <a:r>
              <a:rPr lang="zh-CN" altLang="en-US" sz="2400" b="1" dirty="0">
                <a:solidFill>
                  <a:schemeClr val="bg1"/>
                </a:solidFill>
                <a:latin typeface="楷体" panose="02010609060101010101" pitchFamily="49" charset="-122"/>
                <a:ea typeface="楷体" panose="02010609060101010101" pitchFamily="49" charset="-122"/>
              </a:rPr>
              <a:t>周年庆祝大会上的讲话中指出：“历史不会忘记，</a:t>
            </a:r>
            <a:r>
              <a:rPr lang="zh-CN" altLang="en-US" sz="2400" b="1" dirty="0">
                <a:solidFill>
                  <a:srgbClr val="FFFF00"/>
                </a:solidFill>
                <a:latin typeface="楷体" panose="02010609060101010101" pitchFamily="49" charset="-122"/>
                <a:ea typeface="楷体" panose="02010609060101010101" pitchFamily="49" charset="-122"/>
              </a:rPr>
              <a:t>陈独秀、李大钊</a:t>
            </a:r>
            <a:r>
              <a:rPr lang="zh-CN" altLang="en-US" sz="2400" b="1" dirty="0">
                <a:solidFill>
                  <a:schemeClr val="bg1"/>
                </a:solidFill>
                <a:latin typeface="楷体" panose="02010609060101010101" pitchFamily="49" charset="-122"/>
                <a:ea typeface="楷体" panose="02010609060101010101" pitchFamily="49" charset="-122"/>
              </a:rPr>
              <a:t>等一批具有留学经历的先进知识分子，同毛泽东同志等革命青年一道，大力宣传并积极促进马克思列宁主义同中国工人运动相结合，</a:t>
            </a:r>
            <a:r>
              <a:rPr lang="en-US" altLang="zh-CN" sz="2400" b="1" dirty="0">
                <a:solidFill>
                  <a:srgbClr val="FFFF00"/>
                </a:solidFill>
                <a:latin typeface="楷体" panose="02010609060101010101" pitchFamily="49" charset="-122"/>
                <a:ea typeface="楷体" panose="02010609060101010101" pitchFamily="49" charset="-122"/>
              </a:rPr>
              <a:t>创建了中国共产党</a:t>
            </a:r>
            <a:r>
              <a:rPr lang="zh-CN" altLang="en-US" sz="2400" b="1" dirty="0">
                <a:solidFill>
                  <a:schemeClr val="bg1"/>
                </a:solidFill>
                <a:latin typeface="楷体" panose="02010609060101010101" pitchFamily="49" charset="-122"/>
                <a:ea typeface="楷体" panose="02010609060101010101" pitchFamily="49" charset="-122"/>
              </a:rPr>
              <a:t>，使中国革命面貌为之一新。”</a:t>
            </a:r>
            <a:r>
              <a:rPr lang="en-US" altLang="zh-CN" sz="2400" b="1" dirty="0">
                <a:solidFill>
                  <a:schemeClr val="bg1"/>
                </a:solidFill>
                <a:latin typeface="楷体" panose="02010609060101010101" pitchFamily="49" charset="-122"/>
                <a:ea typeface="楷体" panose="02010609060101010101" pitchFamily="49" charset="-122"/>
              </a:rPr>
              <a:t>2019</a:t>
            </a:r>
            <a:r>
              <a:rPr lang="zh-CN" altLang="en-US" sz="2400" b="1" dirty="0">
                <a:solidFill>
                  <a:schemeClr val="bg1"/>
                </a:solidFill>
                <a:latin typeface="楷体" panose="02010609060101010101" pitchFamily="49" charset="-122"/>
                <a:ea typeface="楷体" panose="02010609060101010101" pitchFamily="49" charset="-122"/>
              </a:rPr>
              <a:t>年</a:t>
            </a:r>
            <a:r>
              <a:rPr lang="en-US" altLang="zh-CN" sz="2400" b="1" dirty="0">
                <a:solidFill>
                  <a:schemeClr val="bg1"/>
                </a:solidFill>
                <a:latin typeface="楷体" panose="02010609060101010101" pitchFamily="49" charset="-122"/>
                <a:ea typeface="楷体" panose="02010609060101010101" pitchFamily="49" charset="-122"/>
              </a:rPr>
              <a:t>9</a:t>
            </a:r>
            <a:r>
              <a:rPr lang="zh-CN" altLang="en-US" sz="2400" b="1" dirty="0">
                <a:solidFill>
                  <a:schemeClr val="bg1"/>
                </a:solidFill>
                <a:latin typeface="楷体" panose="02010609060101010101" pitchFamily="49" charset="-122"/>
                <a:ea typeface="楷体" panose="02010609060101010101" pitchFamily="49" charset="-122"/>
              </a:rPr>
              <a:t>月</a:t>
            </a:r>
            <a:r>
              <a:rPr lang="en-US" altLang="zh-CN" sz="2400" b="1" dirty="0">
                <a:solidFill>
                  <a:schemeClr val="bg1"/>
                </a:solidFill>
                <a:latin typeface="楷体" panose="02010609060101010101" pitchFamily="49" charset="-122"/>
                <a:ea typeface="楷体" panose="02010609060101010101" pitchFamily="49" charset="-122"/>
              </a:rPr>
              <a:t>18</a:t>
            </a:r>
            <a:r>
              <a:rPr lang="zh-CN" altLang="en-US" sz="2400" b="1" dirty="0">
                <a:solidFill>
                  <a:schemeClr val="bg1"/>
                </a:solidFill>
                <a:latin typeface="楷体" panose="02010609060101010101" pitchFamily="49" charset="-122"/>
                <a:ea typeface="楷体" panose="02010609060101010101" pitchFamily="49" charset="-122"/>
              </a:rPr>
              <a:t>日他在视察原</a:t>
            </a:r>
            <a:r>
              <a:rPr lang="en-US" altLang="zh-CN" sz="2400" b="1" dirty="0">
                <a:solidFill>
                  <a:schemeClr val="bg1"/>
                </a:solidFill>
                <a:latin typeface="楷体" panose="02010609060101010101" pitchFamily="49" charset="-122"/>
                <a:ea typeface="楷体" panose="02010609060101010101" pitchFamily="49" charset="-122"/>
              </a:rPr>
              <a:t>鄂豫皖苏区根据地</a:t>
            </a:r>
            <a:r>
              <a:rPr lang="zh-CN" altLang="en-US" sz="2400" b="1" dirty="0">
                <a:solidFill>
                  <a:schemeClr val="bg1"/>
                </a:solidFill>
                <a:latin typeface="楷体" panose="02010609060101010101" pitchFamily="49" charset="-122"/>
                <a:ea typeface="楷体" panose="02010609060101010101" pitchFamily="49" charset="-122"/>
              </a:rPr>
              <a:t>时指出：</a:t>
            </a:r>
            <a:r>
              <a:rPr lang="en-US" altLang="zh-CN"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a:t>
            </a:r>
            <a:r>
              <a:rPr lang="en-US" altLang="zh-CN" sz="2400" b="1" dirty="0">
                <a:solidFill>
                  <a:srgbClr val="FFFF00"/>
                </a:solidFill>
                <a:latin typeface="楷体" panose="02010609060101010101" pitchFamily="49" charset="-122"/>
                <a:ea typeface="楷体" panose="02010609060101010101" pitchFamily="49" charset="-122"/>
              </a:rPr>
              <a:t>党的创始人陈独秀、李大钊，</a:t>
            </a:r>
            <a:r>
              <a:rPr lang="en-US" altLang="zh-CN" sz="2400" b="1" dirty="0">
                <a:solidFill>
                  <a:schemeClr val="bg1"/>
                </a:solidFill>
                <a:latin typeface="楷体" panose="02010609060101010101" pitchFamily="49" charset="-122"/>
                <a:ea typeface="楷体" panose="02010609060101010101" pitchFamily="49" charset="-122"/>
              </a:rPr>
              <a:t>中共“一大”代表董必武、陈潭秋等亲自指导了这里的建党活动，徐向前、刘伯承、邓小平、李先念等老一辈革命家在这里留下了战斗足迹。”</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54273"/>
          <p:cNvSpPr>
            <a:spLocks noGrp="1"/>
          </p:cNvSpPr>
          <p:nvPr>
            <p:ph type="title"/>
          </p:nvPr>
        </p:nvSpPr>
        <p:spPr>
          <a:xfrm>
            <a:off x="457200" y="274638"/>
            <a:ext cx="8229600" cy="855662"/>
          </a:xfrm>
        </p:spPr>
        <p:txBody>
          <a:bodyPr vert="horz" wrap="square" lIns="91440" tIns="45720" rIns="91440" bIns="45720" anchor="ctr" anchorCtr="0"/>
          <a:lstStyle/>
          <a:p>
            <a:r>
              <a:rPr lang="zh-CN" altLang="en-US" sz="3200" dirty="0">
                <a:solidFill>
                  <a:srgbClr val="FFFF00"/>
                </a:solidFill>
                <a:latin typeface="黑体" panose="02010609060101010101" pitchFamily="49" charset="-122"/>
                <a:ea typeface="黑体" panose="02010609060101010101" pitchFamily="49" charset="-122"/>
                <a:sym typeface="宋体" panose="02010600030101010101" pitchFamily="2" charset="-122"/>
              </a:rPr>
              <a:t>三、陈独秀建党与“伟大建党精神”形成</a:t>
            </a:r>
            <a:endParaRPr lang="zh-CN" altLang="en-US" sz="3200" b="1" dirty="0">
              <a:solidFill>
                <a:schemeClr val="bg1"/>
              </a:solidFill>
              <a:latin typeface="宋体" panose="02010600030101010101" pitchFamily="2" charset="-122"/>
            </a:endParaRPr>
          </a:p>
        </p:txBody>
      </p:sp>
      <p:sp>
        <p:nvSpPr>
          <p:cNvPr id="38915" name="文本占位符 54274"/>
          <p:cNvSpPr>
            <a:spLocks noGrp="1"/>
          </p:cNvSpPr>
          <p:nvPr>
            <p:ph idx="1"/>
          </p:nvPr>
        </p:nvSpPr>
        <p:spPr>
          <a:xfrm>
            <a:off x="323850" y="1268413"/>
            <a:ext cx="8496300" cy="5329237"/>
          </a:xfrm>
        </p:spPr>
        <p:txBody>
          <a:bodyPr vert="horz" wrap="square" lIns="91440" tIns="45720" rIns="91440" bIns="45720" anchor="t" anchorCtr="0"/>
          <a:lstStyle/>
          <a:p>
            <a:r>
              <a:rPr lang="zh-CN" altLang="en-US" sz="2800" b="1" dirty="0">
                <a:solidFill>
                  <a:srgbClr val="FFFF00"/>
                </a:solidFill>
                <a:latin typeface="宋体" panose="02010600030101010101" pitchFamily="2" charset="-122"/>
              </a:rPr>
              <a:t>（一）赢得高度评价</a:t>
            </a:r>
            <a:endParaRPr lang="zh-CN" altLang="en-US" sz="2800" b="1" dirty="0">
              <a:solidFill>
                <a:srgbClr val="FFFF00"/>
              </a:solidFill>
              <a:latin typeface="楷体" panose="02010609060101010101" pitchFamily="49" charset="-122"/>
              <a:ea typeface="楷体" panose="02010609060101010101" pitchFamily="49" charset="-122"/>
            </a:endParaRPr>
          </a:p>
          <a:p>
            <a:r>
              <a:rPr lang="zh-CN" altLang="en-US" sz="2800" b="1" dirty="0">
                <a:solidFill>
                  <a:schemeClr val="bg1"/>
                </a:solidFill>
                <a:latin typeface="楷体" panose="02010609060101010101" pitchFamily="49" charset="-122"/>
                <a:ea typeface="楷体" panose="02010609060101010101" pitchFamily="49" charset="-122"/>
              </a:rPr>
              <a:t>“</a:t>
            </a:r>
            <a:r>
              <a:rPr lang="zh-CN" altLang="en-US" sz="2800" b="1" dirty="0">
                <a:solidFill>
                  <a:srgbClr val="FFFF00"/>
                </a:solidFill>
                <a:latin typeface="楷体" panose="02010609060101010101" pitchFamily="49" charset="-122"/>
                <a:ea typeface="楷体" panose="02010609060101010101" pitchFamily="49" charset="-122"/>
              </a:rPr>
              <a:t>新文化运动的精神领袖”</a:t>
            </a:r>
            <a:r>
              <a:rPr lang="zh-CN" altLang="en-US" sz="2800" b="1" dirty="0">
                <a:solidFill>
                  <a:schemeClr val="bg1"/>
                </a:solidFill>
                <a:latin typeface="楷体" panose="02010609060101010101" pitchFamily="49" charset="-122"/>
                <a:ea typeface="楷体" panose="02010609060101010101" pitchFamily="49" charset="-122"/>
              </a:rPr>
              <a:t>“</a:t>
            </a:r>
            <a:r>
              <a:rPr lang="zh-CN" altLang="en-US" sz="2800" b="1" dirty="0">
                <a:solidFill>
                  <a:srgbClr val="FFFF00"/>
                </a:solidFill>
                <a:latin typeface="楷体" panose="02010609060101010101" pitchFamily="49" charset="-122"/>
                <a:ea typeface="楷体" panose="02010609060101010101" pitchFamily="49" charset="-122"/>
              </a:rPr>
              <a:t>五四运动的总司令</a:t>
            </a:r>
            <a:r>
              <a:rPr lang="zh-CN" altLang="en-US" sz="2800" b="1" dirty="0">
                <a:solidFill>
                  <a:schemeClr val="bg1"/>
                </a:solidFill>
                <a:latin typeface="楷体" panose="02010609060101010101" pitchFamily="49" charset="-122"/>
                <a:ea typeface="楷体" panose="02010609060101010101" pitchFamily="49" charset="-122"/>
              </a:rPr>
              <a:t>”“</a:t>
            </a:r>
            <a:r>
              <a:rPr lang="zh-CN" altLang="en-US" sz="2800" b="1" dirty="0">
                <a:solidFill>
                  <a:srgbClr val="FFFF00"/>
                </a:solidFill>
                <a:latin typeface="楷体" panose="02010609060101010101" pitchFamily="49" charset="-122"/>
                <a:ea typeface="楷体" panose="02010609060101010101" pitchFamily="49" charset="-122"/>
              </a:rPr>
              <a:t>马克思主义的主要传播者</a:t>
            </a:r>
            <a:r>
              <a:rPr lang="zh-CN" altLang="en-US" sz="2800" b="1" dirty="0">
                <a:solidFill>
                  <a:schemeClr val="bg1"/>
                </a:solidFill>
                <a:latin typeface="楷体" panose="02010609060101010101" pitchFamily="49" charset="-122"/>
                <a:ea typeface="楷体" panose="02010609060101010101" pitchFamily="49" charset="-122"/>
              </a:rPr>
              <a:t>”“</a:t>
            </a:r>
            <a:r>
              <a:rPr lang="zh-CN" altLang="en-US" sz="2800" b="1" dirty="0">
                <a:solidFill>
                  <a:srgbClr val="FFFF00"/>
                </a:solidFill>
                <a:latin typeface="楷体" panose="02010609060101010101" pitchFamily="49" charset="-122"/>
                <a:ea typeface="楷体" panose="02010609060101010101" pitchFamily="49" charset="-122"/>
              </a:rPr>
              <a:t>中国共产党的主要创始人</a:t>
            </a:r>
            <a:r>
              <a:rPr lang="zh-CN" altLang="en-US" sz="2800" b="1" dirty="0">
                <a:solidFill>
                  <a:schemeClr val="bg1"/>
                </a:solidFill>
                <a:latin typeface="楷体" panose="02010609060101010101" pitchFamily="49" charset="-122"/>
                <a:ea typeface="楷体" panose="02010609060101010101" pitchFamily="49" charset="-122"/>
              </a:rPr>
              <a:t>”“</a:t>
            </a:r>
            <a:r>
              <a:rPr lang="zh-CN" altLang="en-US" sz="2800" b="1" dirty="0">
                <a:solidFill>
                  <a:srgbClr val="FFFF00"/>
                </a:solidFill>
                <a:latin typeface="楷体" panose="02010609060101010101" pitchFamily="49" charset="-122"/>
                <a:ea typeface="楷体" panose="02010609060101010101" pitchFamily="49" charset="-122"/>
              </a:rPr>
              <a:t>中国共产党早期的主要领导人</a:t>
            </a:r>
            <a:r>
              <a:rPr lang="zh-CN" altLang="en-US" sz="2800" b="1" dirty="0">
                <a:solidFill>
                  <a:schemeClr val="bg1"/>
                </a:solidFill>
                <a:latin typeface="楷体" panose="02010609060101010101" pitchFamily="49" charset="-122"/>
                <a:ea typeface="楷体" panose="02010609060101010101" pitchFamily="49" charset="-122"/>
              </a:rPr>
              <a:t>”。</a:t>
            </a:r>
            <a:endParaRPr lang="en-US" altLang="zh-CN" sz="2800" b="1" dirty="0">
              <a:solidFill>
                <a:schemeClr val="bg1"/>
              </a:solidFill>
              <a:latin typeface="楷体" panose="02010609060101010101" pitchFamily="49" charset="-122"/>
              <a:ea typeface="楷体" panose="02010609060101010101" pitchFamily="49" charset="-122"/>
            </a:endParaRPr>
          </a:p>
          <a:p>
            <a:r>
              <a:rPr lang="zh-CN" altLang="en-US" sz="2800" b="1" dirty="0">
                <a:solidFill>
                  <a:schemeClr val="bg1"/>
                </a:solidFill>
                <a:latin typeface="楷体" panose="02010609060101010101" pitchFamily="49" charset="-122"/>
                <a:ea typeface="楷体" panose="02010609060101010101" pitchFamily="49" charset="-122"/>
              </a:rPr>
              <a:t>“他是中国近代历史上特别是中国共产党早期历史上的杰出人物，也因其一生有过许多变化而成为复杂的历史人物。他由一位叱咤风云的革命者、早期的马克思主义者、中国共产党的领袖，转而接受托洛茨基主义，后来虽然脱离托派，但最终没有回到马克思主义的轨道上来。这是他的人生悲剧。”</a:t>
            </a:r>
            <a:r>
              <a:rPr lang="zh-CN" altLang="en-US" sz="2000" b="1" dirty="0">
                <a:solidFill>
                  <a:schemeClr val="bg1"/>
                </a:solidFill>
                <a:latin typeface="楷体" panose="02010609060101010101" pitchFamily="49" charset="-122"/>
                <a:ea typeface="楷体" panose="02010609060101010101" pitchFamily="49" charset="-122"/>
              </a:rPr>
              <a:t>  </a:t>
            </a:r>
            <a:endParaRPr lang="en-US" altLang="zh-CN" sz="2000" b="1" dirty="0">
              <a:solidFill>
                <a:schemeClr val="bg1"/>
              </a:solidFill>
              <a:latin typeface="楷体" panose="02010609060101010101" pitchFamily="49" charset="-122"/>
              <a:ea typeface="楷体" panose="02010609060101010101" pitchFamily="49" charset="-122"/>
            </a:endParaRPr>
          </a:p>
          <a:p>
            <a:r>
              <a:rPr lang="en-US" altLang="zh-CN" sz="2000" b="1" dirty="0">
                <a:solidFill>
                  <a:schemeClr val="bg1"/>
                </a:solidFill>
                <a:latin typeface="楷体" panose="02010609060101010101" pitchFamily="49" charset="-122"/>
                <a:ea typeface="楷体" panose="02010609060101010101" pitchFamily="49" charset="-122"/>
              </a:rPr>
              <a:t>----</a:t>
            </a:r>
            <a:r>
              <a:rPr lang="zh-CN" altLang="en-US" sz="2000" b="1" dirty="0">
                <a:solidFill>
                  <a:schemeClr val="bg1"/>
                </a:solidFill>
                <a:latin typeface="楷体" panose="02010609060101010101" pitchFamily="49" charset="-122"/>
                <a:ea typeface="楷体" panose="02010609060101010101" pitchFamily="49" charset="-122"/>
              </a:rPr>
              <a:t>中共中央党史和文献研究院第二研究部：</a:t>
            </a:r>
            <a:r>
              <a:rPr lang="en-US" altLang="zh-CN" sz="2000" b="1" dirty="0">
                <a:solidFill>
                  <a:schemeClr val="bg1"/>
                </a:solidFill>
                <a:latin typeface="楷体" panose="02010609060101010101" pitchFamily="49" charset="-122"/>
                <a:ea typeface="楷体" panose="02010609060101010101" pitchFamily="49" charset="-122"/>
              </a:rPr>
              <a:t>《</a:t>
            </a:r>
            <a:r>
              <a:rPr lang="zh-CN" altLang="en-US" sz="2000" b="1" dirty="0">
                <a:solidFill>
                  <a:schemeClr val="bg1"/>
                </a:solidFill>
                <a:latin typeface="楷体" panose="02010609060101010101" pitchFamily="49" charset="-122"/>
                <a:ea typeface="楷体" panose="02010609060101010101" pitchFamily="49" charset="-122"/>
              </a:rPr>
              <a:t>纪念陈独秀诞辰一百四十周年</a:t>
            </a:r>
            <a:r>
              <a:rPr lang="en-US" altLang="zh-CN" sz="2000" b="1" dirty="0">
                <a:solidFill>
                  <a:schemeClr val="bg1"/>
                </a:solidFill>
                <a:latin typeface="楷体" panose="02010609060101010101" pitchFamily="49" charset="-122"/>
                <a:ea typeface="楷体" panose="02010609060101010101" pitchFamily="49" charset="-122"/>
              </a:rPr>
              <a:t>》《</a:t>
            </a:r>
            <a:r>
              <a:rPr lang="zh-CN" altLang="en-US" sz="2000" b="1" dirty="0">
                <a:solidFill>
                  <a:schemeClr val="bg1"/>
                </a:solidFill>
                <a:latin typeface="楷体" panose="02010609060101010101" pitchFamily="49" charset="-122"/>
                <a:ea typeface="楷体" panose="02010609060101010101" pitchFamily="49" charset="-122"/>
              </a:rPr>
              <a:t>中共党史研究</a:t>
            </a:r>
            <a:r>
              <a:rPr lang="en-US" altLang="zh-CN" sz="2000" b="1" dirty="0">
                <a:solidFill>
                  <a:schemeClr val="bg1"/>
                </a:solidFill>
                <a:latin typeface="楷体" panose="02010609060101010101" pitchFamily="49" charset="-122"/>
                <a:ea typeface="楷体" panose="02010609060101010101" pitchFamily="49" charset="-122"/>
              </a:rPr>
              <a:t>》2019</a:t>
            </a:r>
            <a:r>
              <a:rPr lang="zh-CN" altLang="en-US" sz="2000" b="1" dirty="0">
                <a:solidFill>
                  <a:schemeClr val="bg1"/>
                </a:solidFill>
                <a:latin typeface="楷体" panose="02010609060101010101" pitchFamily="49" charset="-122"/>
                <a:ea typeface="楷体" panose="02010609060101010101" pitchFamily="49" charset="-122"/>
              </a:rPr>
              <a:t>年第</a:t>
            </a:r>
            <a:r>
              <a:rPr lang="en-US" altLang="zh-CN" sz="2000" b="1" dirty="0">
                <a:solidFill>
                  <a:schemeClr val="bg1"/>
                </a:solidFill>
                <a:latin typeface="楷体" panose="02010609060101010101" pitchFamily="49" charset="-122"/>
                <a:ea typeface="楷体" panose="02010609060101010101" pitchFamily="49" charset="-122"/>
              </a:rPr>
              <a:t>10</a:t>
            </a:r>
            <a:r>
              <a:rPr lang="zh-CN" altLang="en-US" sz="2000" b="1" dirty="0">
                <a:solidFill>
                  <a:schemeClr val="bg1"/>
                </a:solidFill>
                <a:latin typeface="楷体" panose="02010609060101010101" pitchFamily="49" charset="-122"/>
                <a:ea typeface="楷体" panose="02010609060101010101" pitchFamily="49" charset="-122"/>
              </a:rPr>
              <a:t>期。</a:t>
            </a:r>
            <a:endParaRPr lang="en-US" altLang="zh-CN" sz="2000" b="1" dirty="0">
              <a:solidFill>
                <a:schemeClr val="bg1"/>
              </a:solidFill>
              <a:latin typeface="楷体" panose="02010609060101010101" pitchFamily="49" charset="-122"/>
              <a:ea typeface="楷体" panose="02010609060101010101" pitchFamily="49" charset="-122"/>
            </a:endParaRPr>
          </a:p>
          <a:p>
            <a:endParaRPr lang="zh-CN" altLang="en-US" sz="28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50177"/>
          <p:cNvSpPr>
            <a:spLocks noGrp="1"/>
          </p:cNvSpPr>
          <p:nvPr>
            <p:ph type="title"/>
          </p:nvPr>
        </p:nvSpPr>
        <p:spPr>
          <a:xfrm>
            <a:off x="222250" y="260350"/>
            <a:ext cx="8670925" cy="1143000"/>
          </a:xfrm>
        </p:spPr>
        <p:txBody>
          <a:bodyPr vert="horz" wrap="square" lIns="91440" tIns="45720" rIns="91440" bIns="45720" anchor="ctr" anchorCtr="0"/>
          <a:lstStyle/>
          <a:p>
            <a:r>
              <a:rPr lang="zh-CN" altLang="en-US" sz="3600" dirty="0">
                <a:solidFill>
                  <a:srgbClr val="FFFF00"/>
                </a:solidFill>
                <a:latin typeface="黑体" panose="02010609060101010101" pitchFamily="49" charset="-122"/>
                <a:ea typeface="黑体" panose="02010609060101010101" pitchFamily="49" charset="-122"/>
                <a:sym typeface="宋体" panose="02010600030101010101" pitchFamily="2" charset="-122"/>
              </a:rPr>
              <a:t>三、陈独秀建党与“伟大建党精神”形成</a:t>
            </a:r>
            <a:endParaRPr lang="zh-CN" altLang="en-US" sz="3600" b="1" dirty="0">
              <a:solidFill>
                <a:srgbClr val="FFFF00"/>
              </a:solidFill>
              <a:latin typeface="华文中宋" panose="02010600040101010101" pitchFamily="2" charset="-122"/>
              <a:ea typeface="华文中宋" panose="02010600040101010101" pitchFamily="2" charset="-122"/>
            </a:endParaRPr>
          </a:p>
        </p:txBody>
      </p:sp>
      <p:sp>
        <p:nvSpPr>
          <p:cNvPr id="39939" name="文本占位符 50178"/>
          <p:cNvSpPr>
            <a:spLocks noGrp="1"/>
          </p:cNvSpPr>
          <p:nvPr>
            <p:ph idx="1"/>
          </p:nvPr>
        </p:nvSpPr>
        <p:spPr>
          <a:xfrm>
            <a:off x="265430" y="1600200"/>
            <a:ext cx="8627745" cy="4526280"/>
          </a:xfrm>
        </p:spPr>
        <p:txBody>
          <a:bodyPr vert="horz" wrap="square" lIns="91440" tIns="45720" rIns="91440" bIns="45720" anchor="t" anchorCtr="0"/>
          <a:lstStyle/>
          <a:p>
            <a:r>
              <a:rPr lang="zh-CN" altLang="en-US" sz="2800" b="1" dirty="0">
                <a:solidFill>
                  <a:srgbClr val="FFFF00"/>
                </a:solidFill>
                <a:latin typeface="华文中宋" panose="02010600040101010101" pitchFamily="2" charset="-122"/>
                <a:ea typeface="华文中宋" panose="02010600040101010101" pitchFamily="2" charset="-122"/>
              </a:rPr>
              <a:t>（二）在中共创建铸就优良家风</a:t>
            </a:r>
            <a:endParaRPr lang="zh-CN" altLang="en-US" sz="2800" b="1" dirty="0">
              <a:solidFill>
                <a:schemeClr val="bg1"/>
              </a:solidFill>
              <a:latin typeface="楷体" panose="02010609060101010101" pitchFamily="49" charset="-122"/>
              <a:ea typeface="楷体" panose="02010609060101010101" pitchFamily="49" charset="-122"/>
            </a:endParaRPr>
          </a:p>
          <a:p>
            <a:endParaRPr lang="zh-CN" altLang="en-US" sz="2400" b="1" dirty="0">
              <a:solidFill>
                <a:schemeClr val="bg1"/>
              </a:solidFill>
              <a:latin typeface="楷体" panose="02010609060101010101" pitchFamily="49" charset="-122"/>
              <a:ea typeface="楷体" panose="02010609060101010101"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在陈独秀等中共创建者们的共同努力下，中共创建</a:t>
            </a:r>
            <a:r>
              <a:rPr lang="zh-CN" altLang="en-US" sz="2400" b="1" dirty="0" smtClean="0">
                <a:solidFill>
                  <a:schemeClr val="bg1"/>
                </a:solidFill>
                <a:latin typeface="楷体" panose="02010609060101010101" pitchFamily="49" charset="-122"/>
                <a:ea typeface="楷体" panose="02010609060101010101" pitchFamily="49" charset="-122"/>
              </a:rPr>
              <a:t>伊始在党的建设方面就</a:t>
            </a:r>
            <a:r>
              <a:rPr lang="en-US" altLang="zh-CN" sz="2400" b="1" dirty="0" smtClean="0">
                <a:solidFill>
                  <a:srgbClr val="FFFF00"/>
                </a:solidFill>
                <a:latin typeface="楷体" panose="02010609060101010101" pitchFamily="49" charset="-122"/>
                <a:ea typeface="楷体" panose="02010609060101010101" pitchFamily="49" charset="-122"/>
              </a:rPr>
              <a:t>“</a:t>
            </a:r>
            <a:r>
              <a:rPr lang="zh-CN" altLang="en-US" sz="2400" b="1" dirty="0" smtClean="0">
                <a:solidFill>
                  <a:srgbClr val="FFFF00"/>
                </a:solidFill>
                <a:latin typeface="楷体" panose="02010609060101010101" pitchFamily="49" charset="-122"/>
                <a:ea typeface="楷体" panose="02010609060101010101" pitchFamily="49" charset="-122"/>
              </a:rPr>
              <a:t>走了直道</a:t>
            </a:r>
            <a:r>
              <a:rPr lang="en-US" altLang="zh-CN" sz="2400" b="1" dirty="0" smtClean="0">
                <a:solidFill>
                  <a:srgbClr val="FFFF00"/>
                </a:solidFill>
                <a:latin typeface="楷体" panose="02010609060101010101" pitchFamily="49" charset="-122"/>
                <a:ea typeface="楷体" panose="02010609060101010101" pitchFamily="49" charset="-122"/>
              </a:rPr>
              <a:t>”</a:t>
            </a:r>
            <a:r>
              <a:rPr lang="zh-CN" altLang="en-US" sz="2400" b="1" dirty="0" smtClean="0">
                <a:solidFill>
                  <a:schemeClr val="bg1"/>
                </a:solidFill>
                <a:latin typeface="楷体" panose="02010609060101010101" pitchFamily="49" charset="-122"/>
                <a:ea typeface="楷体" panose="02010609060101010101" pitchFamily="49" charset="-122"/>
              </a:rPr>
              <a:t>（刘少奇语）：</a:t>
            </a:r>
            <a:r>
              <a:rPr lang="zh-CN" altLang="en-US" sz="2400" b="1" dirty="0">
                <a:solidFill>
                  <a:schemeClr val="bg1"/>
                </a:solidFill>
                <a:latin typeface="楷体" panose="02010609060101010101" pitchFamily="49" charset="-122"/>
                <a:ea typeface="楷体" panose="02010609060101010101" pitchFamily="49" charset="-122"/>
              </a:rPr>
              <a:t>目标明确、信仰坚定、纪律严明、组织严密、作风过硬。</a:t>
            </a:r>
            <a:endParaRPr lang="en-US" altLang="zh-CN" sz="2400" b="1" dirty="0">
              <a:solidFill>
                <a:schemeClr val="bg1"/>
              </a:solidFill>
              <a:latin typeface="楷体" panose="02010609060101010101" pitchFamily="49" charset="-122"/>
              <a:ea typeface="楷体" panose="02010609060101010101" pitchFamily="49" charset="-122"/>
            </a:endParaRPr>
          </a:p>
          <a:p>
            <a:r>
              <a:rPr lang="zh-CN" altLang="en-US" sz="2400" b="1" dirty="0">
                <a:solidFill>
                  <a:schemeClr val="bg1"/>
                </a:solidFill>
                <a:latin typeface="楷体" panose="02010609060101010101" pitchFamily="49" charset="-122"/>
                <a:ea typeface="楷体" panose="02010609060101010101" pitchFamily="49" charset="-122"/>
              </a:rPr>
              <a:t>一个创建时仅有</a:t>
            </a:r>
            <a:r>
              <a:rPr lang="en-US" altLang="zh-CN" sz="2400" b="1" dirty="0">
                <a:solidFill>
                  <a:srgbClr val="FFFF00"/>
                </a:solidFill>
                <a:latin typeface="楷体" panose="02010609060101010101" pitchFamily="49" charset="-122"/>
                <a:ea typeface="楷体" panose="02010609060101010101" pitchFamily="49" charset="-122"/>
              </a:rPr>
              <a:t>50</a:t>
            </a:r>
            <a:r>
              <a:rPr lang="zh-CN" altLang="en-US" sz="2400" b="1" dirty="0">
                <a:solidFill>
                  <a:srgbClr val="FFFF00"/>
                </a:solidFill>
                <a:latin typeface="楷体" panose="02010609060101010101" pitchFamily="49" charset="-122"/>
                <a:ea typeface="楷体" panose="02010609060101010101" pitchFamily="49" charset="-122"/>
              </a:rPr>
              <a:t>多名</a:t>
            </a:r>
            <a:r>
              <a:rPr lang="zh-CN" altLang="en-US" sz="2400" b="1" dirty="0">
                <a:solidFill>
                  <a:schemeClr val="bg1"/>
                </a:solidFill>
                <a:latin typeface="楷体" panose="02010609060101010101" pitchFamily="49" charset="-122"/>
                <a:ea typeface="楷体" panose="02010609060101010101" pitchFamily="49" charset="-122"/>
              </a:rPr>
              <a:t>党员的</a:t>
            </a:r>
            <a:r>
              <a:rPr lang="zh-CN" altLang="en-US" sz="2400" b="1" dirty="0">
                <a:solidFill>
                  <a:srgbClr val="FFFF00"/>
                </a:solidFill>
                <a:latin typeface="楷体" panose="02010609060101010101" pitchFamily="49" charset="-122"/>
                <a:ea typeface="楷体" panose="02010609060101010101" pitchFamily="49" charset="-122"/>
              </a:rPr>
              <a:t>无产阶级政党</a:t>
            </a:r>
            <a:r>
              <a:rPr lang="zh-CN" altLang="en-US" sz="2400" b="1" dirty="0">
                <a:solidFill>
                  <a:schemeClr val="bg1"/>
                </a:solidFill>
                <a:latin typeface="楷体" panose="02010609060101010101" pitchFamily="49" charset="-122"/>
                <a:ea typeface="楷体" panose="02010609060101010101" pitchFamily="49" charset="-122"/>
              </a:rPr>
              <a:t>，经历了与</a:t>
            </a:r>
            <a:r>
              <a:rPr lang="zh-CN" altLang="en-US" sz="2400" b="1" dirty="0">
                <a:solidFill>
                  <a:srgbClr val="FFFF00"/>
                </a:solidFill>
                <a:latin typeface="楷体" panose="02010609060101010101" pitchFamily="49" charset="-122"/>
                <a:ea typeface="楷体" panose="02010609060101010101" pitchFamily="49" charset="-122"/>
              </a:rPr>
              <a:t>资产阶级政党</a:t>
            </a:r>
            <a:r>
              <a:rPr lang="zh-CN" altLang="en-US" sz="2400" b="1" dirty="0">
                <a:solidFill>
                  <a:schemeClr val="bg1"/>
                </a:solidFill>
                <a:latin typeface="楷体" panose="02010609060101010101" pitchFamily="49" charset="-122"/>
                <a:ea typeface="楷体" panose="02010609060101010101" pitchFamily="49" charset="-122"/>
              </a:rPr>
              <a:t>数年的“</a:t>
            </a:r>
            <a:r>
              <a:rPr lang="zh-CN" altLang="en-US" sz="2400" b="1" dirty="0">
                <a:solidFill>
                  <a:srgbClr val="FFFF00"/>
                </a:solidFill>
                <a:latin typeface="楷体" panose="02010609060101010101" pitchFamily="49" charset="-122"/>
                <a:ea typeface="楷体" panose="02010609060101010101" pitchFamily="49" charset="-122"/>
              </a:rPr>
              <a:t>党内合作</a:t>
            </a:r>
            <a:r>
              <a:rPr lang="zh-CN" altLang="en-US" sz="2400" b="1" dirty="0">
                <a:solidFill>
                  <a:schemeClr val="bg1"/>
                </a:solidFill>
                <a:latin typeface="楷体" panose="02010609060101010101" pitchFamily="49" charset="-122"/>
                <a:ea typeface="楷体" panose="02010609060101010101" pitchFamily="49" charset="-122"/>
              </a:rPr>
              <a:t>”，没被这个资产阶级政党所同化，也没被这个资产阶级政党所驱逐甚至追杀，却不但没有垮掉，反而愈挫愈奋，失败后也能迅速爬起来，开展起新的斗争，且找到一条</a:t>
            </a:r>
            <a:r>
              <a:rPr lang="zh-CN" altLang="en-US" sz="2400" b="1" dirty="0">
                <a:solidFill>
                  <a:srgbClr val="FFFF00"/>
                </a:solidFill>
                <a:latin typeface="楷体" panose="02010609060101010101" pitchFamily="49" charset="-122"/>
                <a:ea typeface="楷体" panose="02010609060101010101" pitchFamily="49" charset="-122"/>
              </a:rPr>
              <a:t>中国革命新道路</a:t>
            </a:r>
            <a:r>
              <a:rPr lang="zh-CN" altLang="en-US" sz="2400" b="1" dirty="0">
                <a:solidFill>
                  <a:schemeClr val="bg1"/>
                </a:solidFill>
                <a:latin typeface="楷体" panose="02010609060101010101" pitchFamily="49" charset="-122"/>
                <a:ea typeface="楷体" panose="02010609060101010101" pitchFamily="49" charset="-122"/>
              </a:rPr>
              <a:t>。不能不钦佩陈独秀等中共创建者们具备的</a:t>
            </a:r>
            <a:r>
              <a:rPr lang="zh-CN" altLang="en-US" sz="2400" b="1" dirty="0">
                <a:solidFill>
                  <a:schemeClr val="bg1"/>
                </a:solidFill>
                <a:latin typeface="楷体" panose="02010609060101010101" pitchFamily="49" charset="-122"/>
                <a:ea typeface="楷体" panose="02010609060101010101" pitchFamily="49" charset="-122"/>
                <a:sym typeface="宋体" panose="02010600030101010101" pitchFamily="2" charset="-122"/>
              </a:rPr>
              <a:t>优秀品质和</a:t>
            </a:r>
            <a:r>
              <a:rPr lang="zh-CN" altLang="en-US" sz="2400" b="1" dirty="0">
                <a:solidFill>
                  <a:schemeClr val="bg1"/>
                </a:solidFill>
                <a:latin typeface="楷体" panose="02010609060101010101" pitchFamily="49" charset="-122"/>
                <a:ea typeface="楷体" panose="02010609060101010101" pitchFamily="49" charset="-122"/>
              </a:rPr>
              <a:t>作出的正确选择。</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75777"/>
          <p:cNvSpPr>
            <a:spLocks noGrp="1"/>
          </p:cNvSpPr>
          <p:nvPr>
            <p:ph type="title"/>
          </p:nvPr>
        </p:nvSpPr>
        <p:spPr>
          <a:xfrm>
            <a:off x="179388" y="274638"/>
            <a:ext cx="8713787" cy="1143000"/>
          </a:xfrm>
        </p:spPr>
        <p:txBody>
          <a:bodyPr vert="horz" wrap="square" lIns="91440" tIns="45720" rIns="91440" bIns="45720" anchor="ctr" anchorCtr="0"/>
          <a:lstStyle/>
          <a:p>
            <a:r>
              <a:rPr lang="zh-CN" altLang="en-US" sz="3200" dirty="0">
                <a:solidFill>
                  <a:srgbClr val="FFFF00"/>
                </a:solidFill>
                <a:latin typeface="黑体" panose="02010609060101010101" pitchFamily="49" charset="-122"/>
                <a:ea typeface="黑体" panose="02010609060101010101" pitchFamily="49" charset="-122"/>
                <a:sym typeface="宋体" panose="02010600030101010101" pitchFamily="2" charset="-122"/>
              </a:rPr>
              <a:t>三、陈独秀建党与“伟大建党精神”形成</a:t>
            </a:r>
            <a:endParaRPr lang="zh-CN" altLang="en-US" sz="3200" b="1" dirty="0">
              <a:solidFill>
                <a:srgbClr val="FFFF00"/>
              </a:solidFill>
              <a:latin typeface="黑体" panose="02010609060101010101" pitchFamily="49" charset="-122"/>
              <a:ea typeface="黑体" panose="02010609060101010101" pitchFamily="49" charset="-122"/>
              <a:sym typeface="宋体" panose="02010600030101010101" pitchFamily="2" charset="-122"/>
            </a:endParaRPr>
          </a:p>
        </p:txBody>
      </p:sp>
      <p:sp>
        <p:nvSpPr>
          <p:cNvPr id="40963" name="文本占位符 75778"/>
          <p:cNvSpPr>
            <a:spLocks noGrp="1"/>
          </p:cNvSpPr>
          <p:nvPr>
            <p:ph idx="1"/>
          </p:nvPr>
        </p:nvSpPr>
        <p:spPr>
          <a:xfrm>
            <a:off x="231775" y="1600200"/>
            <a:ext cx="8618538" cy="4781550"/>
          </a:xfrm>
        </p:spPr>
        <p:txBody>
          <a:bodyPr vert="horz" wrap="square" lIns="91440" tIns="45720" rIns="91440" bIns="45720" anchor="t" anchorCtr="0"/>
          <a:lstStyle/>
          <a:p>
            <a:r>
              <a:rPr lang="zh-CN" altLang="en-US" sz="2800" b="1" dirty="0">
                <a:solidFill>
                  <a:srgbClr val="FFFF00"/>
                </a:solidFill>
              </a:rPr>
              <a:t>（三）形成了</a:t>
            </a:r>
            <a:r>
              <a:rPr lang="en-US" altLang="zh-CN" sz="2800" b="1" dirty="0">
                <a:solidFill>
                  <a:srgbClr val="FFFF00"/>
                </a:solidFill>
              </a:rPr>
              <a:t>“</a:t>
            </a:r>
            <a:r>
              <a:rPr lang="zh-CN" altLang="en-US" sz="2800" b="1" dirty="0">
                <a:solidFill>
                  <a:srgbClr val="FFFF00"/>
                </a:solidFill>
              </a:rPr>
              <a:t>伟大建党精神</a:t>
            </a:r>
            <a:r>
              <a:rPr lang="en-US" altLang="zh-CN" sz="2800" b="1" dirty="0">
                <a:solidFill>
                  <a:srgbClr val="FFFF00"/>
                </a:solidFill>
              </a:rPr>
              <a:t>”</a:t>
            </a:r>
            <a:endParaRPr lang="zh-CN" altLang="en-US" sz="2800" b="1" dirty="0">
              <a:solidFill>
                <a:srgbClr val="FFFF00"/>
              </a:solidFill>
            </a:endParaRPr>
          </a:p>
          <a:p>
            <a:endParaRPr lang="zh-CN" altLang="en-US" sz="2800" b="1" dirty="0">
              <a:solidFill>
                <a:schemeClr val="bg1"/>
              </a:solidFill>
            </a:endParaRPr>
          </a:p>
          <a:p>
            <a:r>
              <a:rPr lang="zh-CN" altLang="en-US" sz="2800" b="1" dirty="0" smtClean="0">
                <a:solidFill>
                  <a:schemeClr val="bg1"/>
                </a:solidFill>
              </a:rPr>
              <a:t>中央明确</a:t>
            </a:r>
            <a:r>
              <a:rPr lang="zh-CN" altLang="en-US" sz="2800" b="1" dirty="0">
                <a:solidFill>
                  <a:schemeClr val="bg1"/>
                </a:solidFill>
              </a:rPr>
              <a:t>指示“</a:t>
            </a:r>
            <a:r>
              <a:rPr lang="zh-CN" altLang="en-US" sz="2800" b="1" dirty="0">
                <a:solidFill>
                  <a:srgbClr val="FFFF00"/>
                </a:solidFill>
              </a:rPr>
              <a:t>红船精神不等于建党精神</a:t>
            </a:r>
            <a:r>
              <a:rPr lang="zh-CN" altLang="en-US" sz="2800" b="1" dirty="0" smtClean="0">
                <a:solidFill>
                  <a:schemeClr val="bg1"/>
                </a:solidFill>
              </a:rPr>
              <a:t>”</a:t>
            </a:r>
            <a:endParaRPr lang="en-US" altLang="zh-CN" sz="2800" b="1" dirty="0" smtClean="0">
              <a:solidFill>
                <a:schemeClr val="bg1"/>
              </a:solidFill>
            </a:endParaRPr>
          </a:p>
          <a:p>
            <a:endParaRPr lang="en-US" altLang="zh-CN" sz="2800" b="1" dirty="0">
              <a:solidFill>
                <a:schemeClr val="bg1"/>
              </a:solidFill>
            </a:endParaRPr>
          </a:p>
          <a:p>
            <a:r>
              <a:rPr lang="en-US" altLang="zh-CN" sz="2400" b="1" dirty="0">
                <a:solidFill>
                  <a:schemeClr val="bg1"/>
                </a:solidFill>
                <a:latin typeface="楷体" panose="02010609060101010101" pitchFamily="49" charset="-122"/>
                <a:ea typeface="楷体" panose="02010609060101010101" pitchFamily="49" charset="-122"/>
              </a:rPr>
              <a:t>2021</a:t>
            </a:r>
            <a:r>
              <a:rPr lang="zh-CN" altLang="en-US" sz="2400" b="1" dirty="0">
                <a:solidFill>
                  <a:schemeClr val="bg1"/>
                </a:solidFill>
                <a:latin typeface="楷体" panose="02010609060101010101" pitchFamily="49" charset="-122"/>
                <a:ea typeface="楷体" panose="02010609060101010101" pitchFamily="49" charset="-122"/>
              </a:rPr>
              <a:t>年建党百年之际，习近平总书记在</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七一</a:t>
            </a:r>
            <a:r>
              <a:rPr lang="en-US" altLang="zh-CN" sz="2400" b="1" dirty="0">
                <a:solidFill>
                  <a:schemeClr val="bg1"/>
                </a:solidFill>
                <a:latin typeface="楷体" panose="02010609060101010101" pitchFamily="49" charset="-122"/>
                <a:ea typeface="楷体" panose="02010609060101010101" pitchFamily="49" charset="-122"/>
              </a:rPr>
              <a:t>”</a:t>
            </a:r>
            <a:r>
              <a:rPr lang="zh-CN" altLang="en-US" sz="2400" b="1" dirty="0">
                <a:solidFill>
                  <a:schemeClr val="bg1"/>
                </a:solidFill>
                <a:latin typeface="楷体" panose="02010609060101010101" pitchFamily="49" charset="-122"/>
                <a:ea typeface="楷体" panose="02010609060101010101" pitchFamily="49" charset="-122"/>
              </a:rPr>
              <a:t>讲话中指出</a:t>
            </a:r>
            <a:endParaRPr lang="en-US" altLang="zh-CN" sz="2400" b="1" dirty="0">
              <a:solidFill>
                <a:schemeClr val="bg1"/>
              </a:solidFill>
              <a:latin typeface="楷体" panose="02010609060101010101" pitchFamily="49" charset="-122"/>
              <a:ea typeface="楷体" panose="02010609060101010101" pitchFamily="49" charset="-122"/>
            </a:endParaRPr>
          </a:p>
          <a:p>
            <a:pPr>
              <a:lnSpc>
                <a:spcPct val="130000"/>
              </a:lnSpc>
              <a:spcBef>
                <a:spcPts val="25"/>
              </a:spcBef>
            </a:pPr>
            <a:r>
              <a:rPr lang="zh-CN" altLang="en-US" sz="2800" b="1" dirty="0" smtClean="0">
                <a:solidFill>
                  <a:srgbClr val="FFFF00"/>
                </a:solidFill>
                <a:latin typeface="楷体" panose="02010609060101010101" pitchFamily="49" charset="-122"/>
                <a:ea typeface="楷体" panose="02010609060101010101" pitchFamily="49" charset="-122"/>
              </a:rPr>
              <a:t>坚持</a:t>
            </a:r>
            <a:r>
              <a:rPr lang="zh-CN" altLang="en-US" sz="2800" b="1" dirty="0">
                <a:solidFill>
                  <a:srgbClr val="FFFF00"/>
                </a:solidFill>
                <a:latin typeface="楷体" panose="02010609060101010101" pitchFamily="49" charset="-122"/>
                <a:ea typeface="楷体" panose="02010609060101010101" pitchFamily="49" charset="-122"/>
              </a:rPr>
              <a:t>真理、坚守理想，践行初心、担当使命，不怕牺牲、英勇斗争，对党忠诚、不负人民。</a:t>
            </a:r>
            <a:endParaRPr lang="en-US" altLang="zh-CN" sz="2400" b="1" dirty="0">
              <a:solidFill>
                <a:schemeClr val="bg1"/>
              </a:solidFill>
              <a:latin typeface="楷体" panose="02010609060101010101" pitchFamily="49" charset="-122"/>
              <a:ea typeface="楷体" panose="02010609060101010101" pitchFamily="49" charset="-122"/>
            </a:endParaRPr>
          </a:p>
          <a:p>
            <a:pPr>
              <a:lnSpc>
                <a:spcPct val="130000"/>
              </a:lnSpc>
              <a:spcBef>
                <a:spcPts val="25"/>
              </a:spcBef>
            </a:pPr>
            <a:r>
              <a:rPr lang="zh-CN" altLang="en-US" sz="2400" b="1" dirty="0">
                <a:solidFill>
                  <a:schemeClr val="bg1"/>
                </a:solidFill>
                <a:latin typeface="楷体" panose="02010609060101010101" pitchFamily="49" charset="-122"/>
                <a:ea typeface="楷体" panose="02010609060101010101" pitchFamily="49" charset="-122"/>
              </a:rPr>
              <a:t>这是中国共产党的精神之源。体现了中华优秀传统文化的</a:t>
            </a:r>
            <a:r>
              <a:rPr lang="zh-CN" altLang="en-US" sz="2400" b="1" dirty="0">
                <a:solidFill>
                  <a:srgbClr val="FFFF00"/>
                </a:solidFill>
                <a:latin typeface="楷体" panose="02010609060101010101" pitchFamily="49" charset="-122"/>
                <a:ea typeface="楷体" panose="02010609060101010101" pitchFamily="49" charset="-122"/>
              </a:rPr>
              <a:t>厚度</a:t>
            </a:r>
            <a:r>
              <a:rPr lang="zh-CN" altLang="en-US" sz="2400" b="1" dirty="0">
                <a:solidFill>
                  <a:schemeClr val="bg1"/>
                </a:solidFill>
                <a:latin typeface="楷体" panose="02010609060101010101" pitchFamily="49" charset="-122"/>
                <a:ea typeface="楷体" panose="02010609060101010101" pitchFamily="49" charset="-122"/>
              </a:rPr>
              <a:t>、中国共产党百年史的</a:t>
            </a:r>
            <a:r>
              <a:rPr lang="zh-CN" altLang="en-US" sz="2400" b="1" dirty="0">
                <a:solidFill>
                  <a:srgbClr val="FFFF00"/>
                </a:solidFill>
                <a:latin typeface="楷体" panose="02010609060101010101" pitchFamily="49" charset="-122"/>
                <a:ea typeface="楷体" panose="02010609060101010101" pitchFamily="49" charset="-122"/>
              </a:rPr>
              <a:t>长度</a:t>
            </a:r>
            <a:r>
              <a:rPr lang="zh-CN" altLang="en-US" sz="2400" b="1" dirty="0">
                <a:solidFill>
                  <a:schemeClr val="bg1"/>
                </a:solidFill>
                <a:latin typeface="楷体" panose="02010609060101010101" pitchFamily="49" charset="-122"/>
                <a:ea typeface="楷体" panose="02010609060101010101" pitchFamily="49" charset="-122"/>
              </a:rPr>
              <a:t>、中国共产党精神谱系的</a:t>
            </a:r>
            <a:r>
              <a:rPr lang="zh-CN" altLang="en-US" sz="2400" b="1" dirty="0">
                <a:solidFill>
                  <a:srgbClr val="FFFF00"/>
                </a:solidFill>
                <a:latin typeface="楷体" panose="02010609060101010101" pitchFamily="49" charset="-122"/>
                <a:ea typeface="楷体" panose="02010609060101010101" pitchFamily="49" charset="-122"/>
              </a:rPr>
              <a:t>高度</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anchor="ctr" anchorCtr="0"/>
          <a:lstStyle/>
          <a:p>
            <a:endParaRPr lang="zh-CN" altLang="en-US" dirty="0"/>
          </a:p>
        </p:txBody>
      </p:sp>
      <p:pic>
        <p:nvPicPr>
          <p:cNvPr id="41987" name="内容占位符 3"/>
          <p:cNvPicPr>
            <a:picLocks noGrp="1" noChangeAspect="1"/>
          </p:cNvPicPr>
          <p:nvPr>
            <p:ph idx="1"/>
          </p:nvPr>
        </p:nvPicPr>
        <p:blipFill>
          <a:blip r:embed="rId2"/>
          <a:srcRect/>
          <a:stretch>
            <a:fillRect/>
          </a:stretch>
        </p:blipFill>
        <p:spPr>
          <a:xfrm>
            <a:off x="0" y="-171450"/>
            <a:ext cx="9144000" cy="7029450"/>
          </a:xfr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vert="horz" wrap="square" lIns="91440" tIns="45720" rIns="91440" bIns="45720" anchor="ctr" anchorCtr="0"/>
          <a:lstStyle/>
          <a:p>
            <a:r>
              <a:rPr lang="zh-CN" altLang="en-US" b="1" dirty="0">
                <a:solidFill>
                  <a:schemeClr val="bg1"/>
                </a:solidFill>
              </a:rPr>
              <a:t>思考题</a:t>
            </a:r>
          </a:p>
        </p:txBody>
      </p:sp>
      <p:sp>
        <p:nvSpPr>
          <p:cNvPr id="43011" name="内容占位符 2"/>
          <p:cNvSpPr>
            <a:spLocks noGrp="1"/>
          </p:cNvSpPr>
          <p:nvPr>
            <p:ph idx="1"/>
          </p:nvPr>
        </p:nvSpPr>
        <p:spPr>
          <a:xfrm>
            <a:off x="239713" y="1600200"/>
            <a:ext cx="8694737" cy="4525963"/>
          </a:xfrm>
        </p:spPr>
        <p:txBody>
          <a:bodyPr vert="horz" wrap="square" lIns="91440" tIns="45720" rIns="91440" bIns="45720" anchor="t" anchorCtr="0"/>
          <a:lstStyle/>
          <a:p>
            <a:endParaRPr lang="en-US" altLang="zh-CN" b="1" dirty="0">
              <a:solidFill>
                <a:schemeClr val="bg1"/>
              </a:solidFill>
              <a:latin typeface="楷体" panose="02010609060101010101" pitchFamily="49" charset="-122"/>
              <a:ea typeface="楷体" panose="02010609060101010101" pitchFamily="49" charset="-122"/>
            </a:endParaRPr>
          </a:p>
          <a:p>
            <a:endParaRPr lang="en-US" altLang="zh-CN" b="1" dirty="0">
              <a:solidFill>
                <a:schemeClr val="bg1"/>
              </a:solidFill>
              <a:latin typeface="楷体" panose="02010609060101010101" pitchFamily="49" charset="-122"/>
              <a:ea typeface="楷体" panose="02010609060101010101" pitchFamily="49" charset="-122"/>
            </a:endParaRPr>
          </a:p>
          <a:p>
            <a:r>
              <a:rPr lang="en-US" altLang="zh-CN" b="1" dirty="0">
                <a:solidFill>
                  <a:schemeClr val="bg1"/>
                </a:solidFill>
                <a:latin typeface="楷体" panose="02010609060101010101" pitchFamily="49" charset="-122"/>
                <a:ea typeface="楷体" panose="02010609060101010101" pitchFamily="49" charset="-122"/>
              </a:rPr>
              <a:t>1.</a:t>
            </a:r>
            <a:r>
              <a:rPr lang="zh-CN" altLang="en-US" b="1" dirty="0">
                <a:solidFill>
                  <a:schemeClr val="bg1"/>
                </a:solidFill>
                <a:latin typeface="楷体" panose="02010609060101010101" pitchFamily="49" charset="-122"/>
                <a:ea typeface="楷体" panose="02010609060101010101" pitchFamily="49" charset="-122"/>
              </a:rPr>
              <a:t>讲述陈独秀对中国共产党创建的历史贡献</a:t>
            </a:r>
          </a:p>
          <a:p>
            <a:endParaRPr lang="zh-CN" altLang="en-US" b="1" dirty="0">
              <a:solidFill>
                <a:schemeClr val="bg1"/>
              </a:solidFill>
              <a:latin typeface="楷体" panose="02010609060101010101" pitchFamily="49" charset="-122"/>
              <a:ea typeface="楷体" panose="02010609060101010101" pitchFamily="49" charset="-122"/>
            </a:endParaRPr>
          </a:p>
          <a:p>
            <a:r>
              <a:rPr lang="en-US" altLang="zh-CN" b="1" dirty="0">
                <a:solidFill>
                  <a:schemeClr val="bg1"/>
                </a:solidFill>
                <a:latin typeface="楷体" panose="02010609060101010101" pitchFamily="49" charset="-122"/>
                <a:ea typeface="楷体" panose="02010609060101010101" pitchFamily="49" charset="-122"/>
              </a:rPr>
              <a:t>2.</a:t>
            </a:r>
            <a:r>
              <a:rPr lang="zh-CN" altLang="en-US" b="1" dirty="0">
                <a:solidFill>
                  <a:schemeClr val="bg1"/>
                </a:solidFill>
                <a:latin typeface="楷体" panose="02010609060101010101" pitchFamily="49" charset="-122"/>
                <a:ea typeface="楷体" panose="02010609060101010101" pitchFamily="49" charset="-122"/>
              </a:rPr>
              <a:t>谈谈你对中国共产党创建与</a:t>
            </a:r>
            <a:r>
              <a:rPr lang="en-US" altLang="zh-CN" b="1" dirty="0">
                <a:solidFill>
                  <a:schemeClr val="bg1"/>
                </a:solidFill>
                <a:latin typeface="楷体" panose="02010609060101010101" pitchFamily="49" charset="-122"/>
                <a:ea typeface="楷体" panose="02010609060101010101" pitchFamily="49" charset="-122"/>
              </a:rPr>
              <a:t>“</a:t>
            </a:r>
            <a:r>
              <a:rPr lang="zh-CN" altLang="en-US" b="1" dirty="0">
                <a:solidFill>
                  <a:schemeClr val="bg1"/>
                </a:solidFill>
                <a:latin typeface="楷体" panose="02010609060101010101" pitchFamily="49" charset="-122"/>
                <a:ea typeface="楷体" panose="02010609060101010101" pitchFamily="49" charset="-122"/>
              </a:rPr>
              <a:t>伟大建党精神</a:t>
            </a:r>
            <a:r>
              <a:rPr lang="en-US" altLang="zh-CN" b="1" dirty="0" smtClean="0">
                <a:solidFill>
                  <a:schemeClr val="bg1"/>
                </a:solidFill>
                <a:latin typeface="楷体" panose="02010609060101010101" pitchFamily="49" charset="-122"/>
                <a:ea typeface="楷体" panose="02010609060101010101" pitchFamily="49" charset="-122"/>
              </a:rPr>
              <a:t>”</a:t>
            </a:r>
            <a:r>
              <a:rPr lang="zh-CN" altLang="en-US" b="1" dirty="0" smtClean="0">
                <a:solidFill>
                  <a:schemeClr val="bg1"/>
                </a:solidFill>
                <a:latin typeface="楷体" panose="02010609060101010101" pitchFamily="49" charset="-122"/>
                <a:ea typeface="楷体" panose="02010609060101010101" pitchFamily="49" charset="-122"/>
                <a:sym typeface="宋体" panose="02010600030101010101" pitchFamily="2" charset="-122"/>
              </a:rPr>
              <a:t>形成之间的</a:t>
            </a:r>
            <a:r>
              <a:rPr lang="zh-CN" altLang="en-US" b="1" dirty="0" smtClean="0">
                <a:solidFill>
                  <a:schemeClr val="bg1"/>
                </a:solidFill>
                <a:latin typeface="楷体" panose="02010609060101010101" pitchFamily="49" charset="-122"/>
                <a:ea typeface="楷体" panose="02010609060101010101" pitchFamily="49" charset="-122"/>
              </a:rPr>
              <a:t>关系</a:t>
            </a:r>
            <a:r>
              <a:rPr lang="zh-CN" altLang="en-US" b="1" dirty="0">
                <a:solidFill>
                  <a:schemeClr val="bg1"/>
                </a:solidFill>
                <a:latin typeface="楷体" panose="02010609060101010101" pitchFamily="49" charset="-122"/>
                <a:ea typeface="楷体" panose="02010609060101010101" pitchFamily="49" charset="-122"/>
              </a:rPr>
              <a:t>的理解</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3" descr="BS00554_"/>
          <p:cNvPicPr>
            <a:picLocks noChangeAspect="1"/>
          </p:cNvPicPr>
          <p:nvPr/>
        </p:nvPicPr>
        <p:blipFill>
          <a:blip r:embed="rId2"/>
          <a:stretch>
            <a:fillRect/>
          </a:stretch>
        </p:blipFill>
        <p:spPr>
          <a:xfrm>
            <a:off x="1403350" y="3789363"/>
            <a:ext cx="1752600" cy="1528762"/>
          </a:xfrm>
          <a:prstGeom prst="rect">
            <a:avLst/>
          </a:prstGeom>
          <a:noFill/>
          <a:ln w="9525">
            <a:noFill/>
          </a:ln>
        </p:spPr>
      </p:pic>
      <p:sp>
        <p:nvSpPr>
          <p:cNvPr id="44035" name="WordArt 7"/>
          <p:cNvSpPr>
            <a:spLocks noTextEdit="1"/>
          </p:cNvSpPr>
          <p:nvPr/>
        </p:nvSpPr>
        <p:spPr>
          <a:xfrm>
            <a:off x="3203575" y="2708275"/>
            <a:ext cx="3743325" cy="1503363"/>
          </a:xfrm>
          <a:prstGeom prst="rect">
            <a:avLst/>
          </a:prstGeom>
        </p:spPr>
        <p:txBody>
          <a:bodyPr wrap="none" fromWordArt="1">
            <a:prstTxWarp prst="textPlain">
              <a:avLst>
                <a:gd name="adj" fmla="val 50000"/>
              </a:avLst>
            </a:prstTxWarp>
            <a:normAutofit/>
          </a:bodyPr>
          <a:lstStyle/>
          <a:p>
            <a:pPr algn="ctr"/>
            <a:r>
              <a:rPr lang="zh-CN" altLang="en-US" sz="3600">
                <a:gradFill rotWithShape="1">
                  <a:gsLst>
                    <a:gs pos="0">
                      <a:srgbClr val="FFFF00"/>
                    </a:gs>
                    <a:gs pos="100000">
                      <a:srgbClr val="FF9933"/>
                    </a:gs>
                  </a:gsLst>
                  <a:path path="rect">
                    <a:fillToRect l="50000" t="50000" r="50000" b="50000"/>
                  </a:path>
                  <a:tileRect/>
                </a:gradFill>
                <a:effectLst>
                  <a:outerShdw dist="35921" dir="2699999" algn="ctr" rotWithShape="0">
                    <a:srgbClr val="C0C0C0">
                      <a:alpha val="75000"/>
                    </a:srgbClr>
                  </a:outerShdw>
                </a:effectLst>
                <a:latin typeface="宋体" panose="02010600030101010101" pitchFamily="2" charset="-122"/>
                <a:ea typeface="宋体" panose="02010600030101010101" pitchFamily="2" charset="-122"/>
              </a:rPr>
              <a:t>谢谢</a:t>
            </a: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43200000">
                                      <p:cBhvr>
                                        <p:cTn id="6" dur="5000" fill="hold"/>
                                        <p:tgtEl>
                                          <p:spTgt spid="44035"/>
                                        </p:tgtEl>
                                        <p:attrNameLst>
                                          <p:attrName>r</p:attrName>
                                        </p:attrNameLst>
                                      </p:cBhvr>
                                    </p:animRot>
                                  </p:childTnLst>
                                </p:cTn>
                              </p:par>
                            </p:childTnLst>
                          </p:cTn>
                        </p:par>
                        <p:par>
                          <p:cTn id="7" fill="hold">
                            <p:stCondLst>
                              <p:cond delay="5000"/>
                            </p:stCondLst>
                            <p:childTnLst>
                              <p:par>
                                <p:cTn id="8" presetID="19" presetClass="entr" presetSubtype="10" fill="hold" nodeType="afterEffect">
                                  <p:stCondLst>
                                    <p:cond delay="0"/>
                                  </p:stCondLst>
                                  <p:childTnLst>
                                    <p:set>
                                      <p:cBhvr>
                                        <p:cTn id="9" dur="1" fill="hold">
                                          <p:stCondLst>
                                            <p:cond delay="0"/>
                                          </p:stCondLst>
                                        </p:cTn>
                                        <p:tgtEl>
                                          <p:spTgt spid="32771"/>
                                        </p:tgtEl>
                                        <p:attrNameLst>
                                          <p:attrName>style.visibility</p:attrName>
                                        </p:attrNameLst>
                                      </p:cBhvr>
                                      <p:to>
                                        <p:strVal val="visible"/>
                                      </p:to>
                                    </p:set>
                                    <p:anim calcmode="lin" valueType="num">
                                      <p:cBhvr>
                                        <p:cTn id="10" dur="5000" fill="hold"/>
                                        <p:tgtEl>
                                          <p:spTgt spid="32771"/>
                                        </p:tgtEl>
                                        <p:attrNameLst>
                                          <p:attrName>ppt_w</p:attrName>
                                        </p:attrNameLst>
                                      </p:cBhvr>
                                      <p:tavLst>
                                        <p:tav tm="0" fmla="#ppt_w*sin(2.5*pi*$)">
                                          <p:val>
                                            <p:fltVal val="0"/>
                                          </p:val>
                                        </p:tav>
                                        <p:tav tm="100000">
                                          <p:val>
                                            <p:fltVal val="1"/>
                                          </p:val>
                                        </p:tav>
                                      </p:tavLst>
                                    </p:anim>
                                    <p:anim calcmode="lin" valueType="num">
                                      <p:cBhvr>
                                        <p:cTn id="11" dur="5000" fill="hold"/>
                                        <p:tgtEl>
                                          <p:spTgt spid="327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k1M2IyNTA3MjQyNjkyMjAzY2Y2MDJlNTk1OGI3YzE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128,&quot;width&quot;:10062}"/>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128,&quot;width&quot;:4881}"/>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128,&quot;width&quot;:10691}"/>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2492</Words>
  <Application>Microsoft Office PowerPoint</Application>
  <PresentationFormat>全屏显示(4:3)</PresentationFormat>
  <Paragraphs>157</Paragraphs>
  <Slides>39</Slides>
  <Notes>2</Notes>
  <HiddenSlides>0</HiddenSlides>
  <MMClips>0</MMClips>
  <ScaleCrop>false</ScaleCrop>
  <HeadingPairs>
    <vt:vector size="6" baseType="variant">
      <vt:variant>
        <vt:lpstr>已用的字体</vt:lpstr>
      </vt:variant>
      <vt:variant>
        <vt:i4>11</vt:i4>
      </vt:variant>
      <vt:variant>
        <vt:lpstr>主题</vt:lpstr>
      </vt:variant>
      <vt:variant>
        <vt:i4>8</vt:i4>
      </vt:variant>
      <vt:variant>
        <vt:lpstr>幻灯片标题</vt:lpstr>
      </vt:variant>
      <vt:variant>
        <vt:i4>39</vt:i4>
      </vt:variant>
    </vt:vector>
  </HeadingPairs>
  <TitlesOfParts>
    <vt:vector size="58" baseType="lpstr">
      <vt:lpstr>黑体</vt:lpstr>
      <vt:lpstr>华文琥珀</vt:lpstr>
      <vt:lpstr>华文新魏</vt:lpstr>
      <vt:lpstr>华文中宋</vt:lpstr>
      <vt:lpstr>楷体</vt:lpstr>
      <vt:lpstr>楷体_GB2312</vt:lpstr>
      <vt:lpstr>宋体</vt:lpstr>
      <vt:lpstr>微软雅黑</vt:lpstr>
      <vt:lpstr>Arial</vt:lpstr>
      <vt:lpstr>Calibri</vt:lpstr>
      <vt:lpstr>Wingdings</vt:lpstr>
      <vt:lpstr>Office 主题</vt:lpstr>
      <vt:lpstr>1_Office 主题</vt:lpstr>
      <vt:lpstr>3_Office 主题</vt:lpstr>
      <vt:lpstr>2_Office 主题</vt:lpstr>
      <vt:lpstr>4_Office 主题</vt:lpstr>
      <vt:lpstr>5_Office 主题</vt:lpstr>
      <vt:lpstr>6_Office 主题</vt:lpstr>
      <vt:lpstr>7_Office 主题</vt:lpstr>
      <vt:lpstr>第四讲 陈独秀在上海创建中国共产党</vt:lpstr>
      <vt:lpstr>一、为什么是陈独秀？</vt:lpstr>
      <vt:lpstr>《青年杂志》一卷一号</vt:lpstr>
      <vt:lpstr>PowerPoint 演示文稿</vt:lpstr>
      <vt:lpstr>一、为什么是陈独秀？</vt:lpstr>
      <vt:lpstr>PowerPoint 演示文稿</vt:lpstr>
      <vt:lpstr>（二）优秀的政治品质 1、坚持真理、信仰坚定</vt:lpstr>
      <vt:lpstr>2、无私奉献、一心为民</vt:lpstr>
      <vt:lpstr>2、无私奉献、一心为民</vt:lpstr>
      <vt:lpstr>PowerPoint 演示文稿</vt:lpstr>
      <vt:lpstr>3、襟怀坦荡、光明磊落</vt:lpstr>
      <vt:lpstr>一、为什么是陈独秀？</vt:lpstr>
      <vt:lpstr>PowerPoint 演示文稿</vt:lpstr>
      <vt:lpstr>（一）坐镇上海老渔阳里“开天辟地”</vt:lpstr>
      <vt:lpstr>2015年9月重修的北京《新青年》编辑部与 陈独秀北京旧居</vt:lpstr>
      <vt:lpstr>这是2020年7月1日老渔阳里2号门前重挂的牌子</vt:lpstr>
      <vt:lpstr>在这方面上海应向北京学习、向中央看齐</vt:lpstr>
      <vt:lpstr>（二）成为中共主要创始人和 早期主要领导人</vt:lpstr>
      <vt:lpstr>PowerPoint 演示文稿</vt:lpstr>
      <vt:lpstr>PowerPoint 演示文稿</vt:lpstr>
      <vt:lpstr>PowerPoint 演示文稿</vt:lpstr>
      <vt:lpstr>PowerPoint 演示文稿</vt:lpstr>
      <vt:lpstr>2024年12月1日，全天陪同北京大学原党委书记、中国李大钊研究会会长朱善璐教授参观、调研中共一大纪念馆</vt:lpstr>
      <vt:lpstr>PowerPoint 演示文稿</vt:lpstr>
      <vt:lpstr>两件珍贵藏品</vt:lpstr>
      <vt:lpstr>中共一大纪念馆珍藏的陈公博硕士论文英文版附件之 《中国共产党第一个决议》</vt:lpstr>
      <vt:lpstr>南陈北李相约建党</vt:lpstr>
      <vt:lpstr>（二）被誉为中共主要创始人和 早期主要领导人</vt:lpstr>
      <vt:lpstr>中共一大在上海法租界和浙江嘉兴南湖召开</vt:lpstr>
      <vt:lpstr>2021年6月3日启用的中共一大纪念馆新貌</vt:lpstr>
      <vt:lpstr>（三）亲自主持召开中共二大制定党章</vt:lpstr>
      <vt:lpstr>PowerPoint 演示文稿</vt:lpstr>
      <vt:lpstr>三、陈独秀建党与“伟大建党精神”形成</vt:lpstr>
      <vt:lpstr>三、陈独秀建党与“伟大建党精神”形成</vt:lpstr>
      <vt:lpstr>三、陈独秀建党与“伟大建党精神”形成</vt:lpstr>
      <vt:lpstr>三、陈独秀建党与“伟大建党精神”形成</vt:lpstr>
      <vt:lpstr>PowerPoint 演示文稿</vt:lpstr>
      <vt:lpstr>思考题</vt:lpstr>
      <vt:lpstr>PowerPoint 演示文稿</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于宪明</dc:creator>
  <cp:lastModifiedBy>user</cp:lastModifiedBy>
  <cp:revision>475</cp:revision>
  <dcterms:created xsi:type="dcterms:W3CDTF">2010-03-12T07:52:00Z</dcterms:created>
  <dcterms:modified xsi:type="dcterms:W3CDTF">2025-11-20T06:14:27Z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D6DCE9EE755B40F98C3334C5EBCFF809_12</vt:lpwstr>
  </property>
</Properties>
</file>