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webp" ContentType="image/webp"/>
  <Override PartName="/ppt/media/image17.webp" ContentType="image/webp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451" r:id="rId3"/>
    <p:sldId id="452" r:id="rId4"/>
    <p:sldId id="477" r:id="rId5"/>
    <p:sldId id="459" r:id="rId6"/>
    <p:sldId id="470" r:id="rId7"/>
    <p:sldId id="467" r:id="rId8"/>
    <p:sldId id="472" r:id="rId9"/>
    <p:sldId id="474" r:id="rId10"/>
    <p:sldId id="478" r:id="rId11"/>
    <p:sldId id="479" r:id="rId12"/>
    <p:sldId id="468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41F23"/>
    <a:srgbClr val="2E00BB"/>
    <a:srgbClr val="003AA3"/>
    <a:srgbClr val="FF4B4B"/>
    <a:srgbClr val="D8B9BA"/>
    <a:srgbClr val="99B3D7"/>
    <a:srgbClr val="DC9D9C"/>
    <a:srgbClr val="2800AE"/>
    <a:srgbClr val="014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6" autoAdjust="0"/>
    <p:restoredTop sz="94578" autoAdjust="0"/>
  </p:normalViewPr>
  <p:slideViewPr>
    <p:cSldViewPr snapToGrid="0">
      <p:cViewPr varScale="1">
        <p:scale>
          <a:sx n="84" d="100"/>
          <a:sy n="8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1013101"/>
            <a:ext cx="12192001" cy="5844899"/>
            <a:chOff x="-1" y="1092199"/>
            <a:chExt cx="12192001" cy="57658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" y="1092199"/>
              <a:ext cx="12192001" cy="5765801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1092199"/>
              <a:ext cx="12192000" cy="5765801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0" y="955951"/>
            <a:ext cx="12192000" cy="15638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72341"/>
            <a:ext cx="139700" cy="835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06657"/>
            <a:ext cx="2603500" cy="7013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7.webp"/><Relationship Id="rId1" Type="http://schemas.openxmlformats.org/officeDocument/2006/relationships/image" Target="../media/image16.web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1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1574800"/>
            <a:ext cx="12492355" cy="1296035"/>
          </a:xfrm>
        </p:spPr>
        <p:txBody>
          <a:bodyPr/>
          <a:p>
            <a:r>
              <a:rPr lang="en-US" altLang="zh-CN"/>
              <a:t>  </a:t>
            </a:r>
            <a:r>
              <a:rPr lang="zh-CN" altLang="en-US"/>
              <a:t>血火青春</a:t>
            </a:r>
            <a:br>
              <a:rPr lang="en-US" altLang="zh-CN"/>
            </a:br>
            <a:r>
              <a:rPr lang="en-US" altLang="zh-CN"/>
              <a:t>		</a:t>
            </a:r>
            <a:r>
              <a:rPr lang="en-US" altLang="zh-CN" sz="4800"/>
              <a:t>——</a:t>
            </a:r>
            <a:r>
              <a:rPr lang="zh-CN" altLang="en-US" sz="4400">
                <a:sym typeface="+mn-ea"/>
              </a:rPr>
              <a:t>陈延年与陈乔年兄弟的革命之路</a:t>
            </a:r>
            <a:endParaRPr lang="zh-CN" altLang="en-US" sz="440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205095" y="6321425"/>
            <a:ext cx="3329305" cy="454025"/>
          </a:xfrm>
        </p:spPr>
        <p:txBody>
          <a:bodyPr>
            <a:normAutofit fontScale="90000"/>
          </a:bodyPr>
          <a:p>
            <a:r>
              <a:rPr lang="zh-CN" altLang="en-US"/>
              <a:t>红色上海</a:t>
            </a:r>
            <a:r>
              <a:rPr lang="zh-CN" altLang="en-US"/>
              <a:t>史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7578090" y="2950210"/>
            <a:ext cx="4517390" cy="317373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2323465" y="2625725"/>
            <a:ext cx="5254625" cy="3564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                 </a:t>
            </a:r>
            <a:r>
              <a:rPr lang="zh-CN" altLang="en-US"/>
              <a:t>回顾：</a:t>
            </a:r>
            <a:r>
              <a:rPr lang="zh-CN" altLang="en-US"/>
              <a:t>陈独秀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025" y="1307465"/>
            <a:ext cx="4384675" cy="3538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/>
              <a:t>  </a:t>
            </a:r>
            <a:r>
              <a:rPr lang="zh-CN" altLang="en-US" sz="3200" b="1"/>
              <a:t>新文化运动的总司令</a:t>
            </a:r>
            <a:endParaRPr lang="zh-CN" altLang="en-US" sz="3200" b="1"/>
          </a:p>
          <a:p>
            <a:endParaRPr lang="zh-CN" altLang="en-US" sz="3200" b="1"/>
          </a:p>
          <a:p>
            <a:r>
              <a:rPr lang="en-US" altLang="zh-CN" sz="3200" b="1"/>
              <a:t>《</a:t>
            </a:r>
            <a:r>
              <a:rPr lang="zh-CN" altLang="en-US" sz="3200" b="1"/>
              <a:t>新青年</a:t>
            </a:r>
            <a:r>
              <a:rPr lang="en-US" altLang="zh-CN" sz="3200" b="1"/>
              <a:t>》</a:t>
            </a:r>
            <a:r>
              <a:rPr lang="zh-CN" altLang="en-US" sz="3200" b="1"/>
              <a:t>的主编</a:t>
            </a:r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8547735" y="1042035"/>
            <a:ext cx="3361690" cy="42519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7530" y="5514340"/>
            <a:ext cx="11351895" cy="735965"/>
          </a:xfrm>
          <a:prstGeom prst="rect">
            <a:avLst/>
          </a:prstGeom>
          <a:gradFill>
            <a:gsLst>
              <a:gs pos="0">
                <a:srgbClr val="D9717D"/>
              </a:gs>
              <a:gs pos="100000">
                <a:srgbClr val="E32E37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57530" y="5636895"/>
            <a:ext cx="11539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FF00"/>
                </a:solidFill>
                <a:latin typeface="华文行楷" panose="02010800040101010101" charset="-122"/>
                <a:ea typeface="华文行楷" panose="02010800040101010101" charset="-122"/>
              </a:rPr>
              <a:t>这团火焰，并没有止步于纸上。它照进了一个家庭，更燃烧进了两颗年轻的心。</a:t>
            </a:r>
            <a:endParaRPr lang="zh-CN" altLang="en-US" sz="2400">
              <a:solidFill>
                <a:srgbClr val="FFFF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rcRect l="4145" t="7954" r="5545" b="8565"/>
          <a:stretch>
            <a:fillRect/>
          </a:stretch>
        </p:blipFill>
        <p:spPr>
          <a:xfrm>
            <a:off x="5240655" y="1042035"/>
            <a:ext cx="3257550" cy="42938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03885" y="3006725"/>
            <a:ext cx="4107815" cy="2266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rcRect b="6820"/>
          <a:stretch>
            <a:fillRect/>
          </a:stretch>
        </p:blipFill>
        <p:spPr>
          <a:xfrm>
            <a:off x="2388235" y="975995"/>
            <a:ext cx="7531735" cy="5535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一、火光初现：思想的种子，少年的觉醒</a:t>
            </a:r>
            <a:endParaRPr lang="zh-CN" altLang="en-US" sz="2800" b="1"/>
          </a:p>
        </p:txBody>
      </p:sp>
      <p:sp>
        <p:nvSpPr>
          <p:cNvPr id="4" name="文本框 3"/>
          <p:cNvSpPr txBox="1"/>
          <p:nvPr/>
        </p:nvSpPr>
        <p:spPr>
          <a:xfrm>
            <a:off x="476885" y="1318260"/>
            <a:ext cx="57753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“</a:t>
            </a:r>
            <a:r>
              <a:rPr lang="zh-CN" altLang="en-US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你不是我的影子，你要找到属于你自己的光。</a:t>
            </a:r>
            <a:r>
              <a:rPr lang="en-US" altLang="zh-CN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”</a:t>
            </a:r>
            <a:endParaRPr lang="en-US" altLang="zh-CN" sz="40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56835" y="4709160"/>
            <a:ext cx="678688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“</a:t>
            </a:r>
            <a:r>
              <a:rPr lang="zh-CN" altLang="en-US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我们不做父亲的儿子，我们要做时代的儿子。</a:t>
            </a:r>
            <a:r>
              <a:rPr lang="en-US" altLang="zh-CN" sz="40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”</a:t>
            </a:r>
            <a:endParaRPr lang="en-US" altLang="zh-CN" sz="40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95720" y="1403985"/>
            <a:ext cx="5080000" cy="230695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>
            <a:spAutoFit/>
          </a:bodyPr>
          <a:p>
            <a:r>
              <a:rPr lang="zh-CN" altLang="en-US" sz="2400" b="1"/>
              <a:t>成长于充满思辨的家庭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父亲鼓励他们“不是影子，而是要找自己的光”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五四运动投身街头，牢狱中立下誓言</a:t>
            </a:r>
            <a:endParaRPr lang="zh-CN" altLang="en-US" sz="2400" b="1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20" y="2898140"/>
            <a:ext cx="2822575" cy="356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二、热血奔赴</a:t>
            </a:r>
            <a:r>
              <a:rPr lang="en-US" altLang="zh-CN" sz="2800" b="1"/>
              <a:t>——</a:t>
            </a:r>
            <a:r>
              <a:rPr lang="zh-CN" altLang="en-US" sz="2800" b="1"/>
              <a:t>奔向世界与革命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4794250" cy="22453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延年赴法加入法国共产党；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乔年活跃在共青团北方组织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青年如火种，播撒革命理想</a:t>
            </a:r>
            <a:endParaRPr lang="zh-CN" altLang="en-US" sz="28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643880" y="1462405"/>
            <a:ext cx="5594350" cy="40005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765810" y="4074795"/>
            <a:ext cx="3577590" cy="26193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96000" y="5554345"/>
            <a:ext cx="49352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“</a:t>
            </a:r>
            <a:r>
              <a:rPr lang="zh-CN" altLang="en-US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中国需要新的希望，而我们，</a:t>
            </a:r>
            <a:r>
              <a:rPr lang="en-US" altLang="zh-CN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  </a:t>
            </a:r>
            <a:r>
              <a:rPr lang="zh-CN" altLang="en-US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就是那微弱的灯火。</a:t>
            </a:r>
            <a:r>
              <a:rPr lang="en-US" altLang="zh-CN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”</a:t>
            </a:r>
            <a:endParaRPr lang="en-US" altLang="zh-CN" sz="28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717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“</a:t>
            </a:r>
            <a:r>
              <a:rPr lang="zh-CN" altLang="en-US" sz="2800" b="1">
                <a:sym typeface="+mn-ea"/>
              </a:rPr>
              <a:t>五卅之后，火种燎原</a:t>
            </a:r>
            <a:r>
              <a:rPr lang="en-US" altLang="zh-CN" sz="2800" b="1">
                <a:sym typeface="+mn-ea"/>
              </a:rPr>
              <a:t>”</a:t>
            </a:r>
            <a:endParaRPr lang="zh-CN" altLang="en-US" sz="2800" b="1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097145" y="6383020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4610" y="5034280"/>
            <a:ext cx="49352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“</a:t>
            </a:r>
            <a:r>
              <a:rPr lang="zh-CN" altLang="en-US" sz="36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这条路注定不归，但只要你在，我就不怕。</a:t>
            </a:r>
            <a:r>
              <a:rPr lang="en-US" altLang="zh-CN" sz="36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”</a:t>
            </a:r>
            <a:endParaRPr lang="en-US" altLang="zh-CN" sz="3600">
              <a:solidFill>
                <a:srgbClr val="C00000"/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1155" y="1365250"/>
            <a:ext cx="5438775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/>
              <a:t>延年组织上海罢工、任江苏省委书记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乔年任团中央书记，开展青年政治教育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南北分工，兄弟书信互励</a:t>
            </a:r>
            <a:endParaRPr lang="zh-CN" altLang="en-US" sz="2400" b="1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068695" y="1365250"/>
            <a:ext cx="5405755" cy="340931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351155" y="3331845"/>
            <a:ext cx="4450080" cy="3526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血色捕杀</a:t>
            </a:r>
            <a:r>
              <a:rPr lang="en-US" altLang="zh-CN" sz="2800" b="1"/>
              <a:t>——</a:t>
            </a:r>
            <a:r>
              <a:rPr lang="zh-CN" altLang="en-US" sz="2800" b="1"/>
              <a:t>延年的诀别</a:t>
            </a:r>
            <a:endParaRPr lang="zh-CN" altLang="en-US" sz="2800" b="1"/>
          </a:p>
          <a:p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316230" y="2045970"/>
            <a:ext cx="5997575" cy="31076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延年被捕，面对敌人毫不退让</a:t>
            </a:r>
            <a:endParaRPr lang="zh-CN" altLang="en-US" sz="2800" b="1"/>
          </a:p>
          <a:p>
            <a:endParaRPr lang="zh-CN" altLang="en-US" sz="2800" b="1"/>
          </a:p>
          <a:p>
            <a:endParaRPr lang="en-US" altLang="zh-CN" sz="2800" b="1"/>
          </a:p>
          <a:p>
            <a:r>
              <a:rPr lang="en-US" altLang="zh-CN" sz="2800" b="1"/>
              <a:t>“</a:t>
            </a:r>
            <a:r>
              <a:rPr lang="zh-CN" altLang="en-US" sz="2800" b="1"/>
              <a:t>正因为我是他儿子，更不能低头！</a:t>
            </a:r>
            <a:endParaRPr lang="zh-CN" altLang="en-US" sz="2800" b="1"/>
          </a:p>
          <a:p>
            <a:r>
              <a:rPr lang="en-US" altLang="zh-CN" sz="2800" b="1"/>
              <a:t>”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zh-CN" altLang="en-US" sz="2800" b="1"/>
              <a:t>被拖往后巷，英勇就义</a:t>
            </a:r>
            <a:endParaRPr lang="zh-CN" altLang="en-US" sz="2800" b="1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1664335"/>
            <a:ext cx="5610225" cy="3959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孤独守望</a:t>
            </a:r>
            <a:r>
              <a:rPr lang="en-US" altLang="zh-CN" sz="2800" b="1"/>
              <a:t>——</a:t>
            </a:r>
            <a:r>
              <a:rPr lang="zh-CN" altLang="en-US" sz="2800" b="1"/>
              <a:t>乔年的信与死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5709920" cy="3538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延年牺牲后，乔年坚强面对，写信：</a:t>
            </a:r>
            <a:r>
              <a:rPr lang="en-US" altLang="zh-CN" sz="2800" b="1"/>
              <a:t>“</a:t>
            </a:r>
            <a:r>
              <a:rPr lang="zh-CN" altLang="en-US" sz="2800" b="1"/>
              <a:t>我不能软弱</a:t>
            </a:r>
            <a:r>
              <a:rPr lang="en-US" altLang="zh-CN" sz="2800" b="1"/>
              <a:t>”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zh-CN" altLang="en-US" sz="2800" b="1"/>
              <a:t>雨花台受审，拒绝供出同志：</a:t>
            </a:r>
            <a:r>
              <a:rPr lang="en-US" altLang="zh-CN" sz="2800" b="1"/>
              <a:t>“</a:t>
            </a:r>
            <a:r>
              <a:rPr lang="zh-CN" altLang="en-US" sz="2800" b="1"/>
              <a:t>革命不是交易</a:t>
            </a:r>
            <a:r>
              <a:rPr lang="en-US" altLang="zh-CN" sz="2800" b="1"/>
              <a:t>”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zh-CN" altLang="en-US" sz="2800" b="1"/>
              <a:t>临终望向朝阳：</a:t>
            </a:r>
            <a:r>
              <a:rPr lang="en-US" altLang="zh-CN" sz="2800" b="1"/>
              <a:t>“</a:t>
            </a:r>
            <a:r>
              <a:rPr lang="zh-CN" altLang="en-US" sz="2800" b="1"/>
              <a:t>愿后人不再流我们这代人的血</a:t>
            </a:r>
            <a:r>
              <a:rPr lang="en-US" altLang="zh-CN" sz="2800" b="1"/>
              <a:t>”</a:t>
            </a:r>
            <a:endParaRPr lang="en-US" altLang="zh-CN" sz="28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635" y="1529715"/>
            <a:ext cx="4453255" cy="3328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父子诀别</a:t>
            </a:r>
            <a:r>
              <a:rPr lang="en-US" altLang="zh-CN" sz="2800" b="1"/>
              <a:t>——</a:t>
            </a:r>
            <a:r>
              <a:rPr lang="zh-CN" altLang="en-US" sz="2800" b="1"/>
              <a:t>信仰与血缘的碰撞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5709920" cy="31076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陈独秀晚年得知儿子死讯，沉默三日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写下：</a:t>
            </a:r>
            <a:r>
              <a:rPr lang="en-US" altLang="zh-CN" sz="2800" b="1"/>
              <a:t>“</a:t>
            </a:r>
            <a:r>
              <a:rPr lang="zh-CN" altLang="en-US" sz="2800" b="1"/>
              <a:t>他们非为我而死，乃为信仰而死</a:t>
            </a:r>
            <a:r>
              <a:rPr lang="en-US" altLang="zh-CN" sz="2800" b="1"/>
              <a:t>”</a:t>
            </a:r>
            <a:endParaRPr lang="en-US" altLang="zh-CN" sz="2800" b="1"/>
          </a:p>
          <a:p>
            <a:endParaRPr lang="en-US" altLang="zh-CN" sz="2800" b="1"/>
          </a:p>
          <a:p>
            <a:r>
              <a:rPr lang="en-US" altLang="zh-CN" sz="2800" b="1"/>
              <a:t>“</a:t>
            </a:r>
            <a:r>
              <a:rPr lang="zh-CN" altLang="en-US" sz="2800" b="1"/>
              <a:t>他们走得比我远，走得比我勇</a:t>
            </a:r>
            <a:r>
              <a:rPr lang="en-US" altLang="zh-CN" sz="2800" b="1"/>
              <a:t>”</a:t>
            </a:r>
            <a:endParaRPr lang="en-US" altLang="zh-CN" sz="28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109460" y="1303020"/>
            <a:ext cx="336169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3545" y="351155"/>
            <a:ext cx="8564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三个名字，一团火焰</a:t>
            </a:r>
            <a:endParaRPr lang="zh-CN" altLang="en-US" sz="2800" b="1"/>
          </a:p>
          <a:p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423545" y="1596390"/>
            <a:ext cx="5709920" cy="39693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陈独秀：点燃思想</a:t>
            </a:r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陈延年、陈乔年：燃烧生命</a:t>
            </a:r>
            <a:endParaRPr lang="zh-CN" altLang="en-US" sz="2800" b="1"/>
          </a:p>
          <a:p>
            <a:endParaRPr lang="zh-CN" altLang="en-US" sz="2800" b="1"/>
          </a:p>
          <a:p>
            <a:endParaRPr lang="zh-CN" altLang="en-US" sz="2800" b="1"/>
          </a:p>
          <a:p>
            <a:endParaRPr lang="zh-CN" altLang="en-US" sz="2800" b="1"/>
          </a:p>
          <a:p>
            <a:endParaRPr lang="en-US" altLang="zh-CN" sz="2800" b="1"/>
          </a:p>
          <a:p>
            <a:r>
              <a:rPr lang="zh-CN" altLang="en-US" sz="2800" b="1"/>
              <a:t>三人构成革命家庭的缩影，也是一代青年的绝响</a:t>
            </a:r>
            <a:endParaRPr lang="zh-CN" altLang="en-US" sz="28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289800" y="346075"/>
            <a:ext cx="2157730" cy="272923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513830" y="3141345"/>
            <a:ext cx="419417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551170" y="6461125"/>
            <a:ext cx="3329305" cy="39687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>
                <a:solidFill>
                  <a:schemeClr val="tx2"/>
                </a:solidFill>
              </a:rPr>
              <a:t>红色上海史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6765" y="1811655"/>
            <a:ext cx="6763385" cy="26765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/>
              <a:t>陈延年、陈乔年的梦想没有完成，但他们的精神永远不会熄灭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革命不只是历史，它是责任，是火种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“愿我们，不负那段燃烧过的青春！”</a:t>
            </a:r>
            <a:endParaRPr lang="zh-CN" altLang="en-US" sz="2800" b="1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874635" y="1062355"/>
            <a:ext cx="3743325" cy="56000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6765" y="34067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3200" b="1"/>
              <a:t>血火青春，不朽传承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3&quot;:[4563120]}"/>
</p:tagLst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宽屏</PresentationFormat>
  <Paragraphs>111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华文行楷</vt:lpstr>
      <vt:lpstr>Arial</vt:lpstr>
      <vt:lpstr>微软雅黑</vt:lpstr>
      <vt:lpstr>Arial Unicode MS</vt:lpstr>
      <vt:lpstr>等线</vt:lpstr>
      <vt:lpstr>Calibri</vt:lpstr>
      <vt:lpstr>汉仪超粗宋简</vt:lpstr>
      <vt:lpstr>汉仪行楷简</vt:lpstr>
      <vt:lpstr>字由点字腾凌体</vt:lpstr>
      <vt:lpstr>华康行楷体 W5</vt:lpstr>
      <vt:lpstr>华文中宋</vt:lpstr>
      <vt:lpstr>Office 主题​​</vt:lpstr>
      <vt:lpstr>“思想点火者” 		——陈独秀如何在上海点燃革命的火种？</vt:lpstr>
      <vt:lpstr>他是谁？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wps用户</cp:lastModifiedBy>
  <cp:revision>9</cp:revision>
  <dcterms:created xsi:type="dcterms:W3CDTF">2024-10-12T05:01:00Z</dcterms:created>
  <dcterms:modified xsi:type="dcterms:W3CDTF">2025-07-14T06:59:37Z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B716184A0BE74C838A7BCE8F949DD999_13</vt:lpwstr>
  </property>
</Properties>
</file>